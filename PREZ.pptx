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8" r:id="rId5"/>
    <p:sldId id="269" r:id="rId6"/>
    <p:sldId id="270" r:id="rId7"/>
    <p:sldId id="271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C6676-6336-48A3-9AFF-BEEF1DC2F04E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FE7AC-06A2-4B22-8A0E-B495546C19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49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258CC-162C-F88A-FBC5-D98FF7FF01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2BA292-0EA3-4DB7-51E1-45E367061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3FE2F-D218-EDE4-FB5C-73ECC149B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DDF75-98F2-46ED-BF41-6841AACD6D7B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E19D3-BB1E-1DDD-812E-7C60FF2A0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F48D6-BB4C-F655-4F6F-7EE418708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877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8DFC1-2CDC-7030-F9C8-E69D6983F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67990-B18E-BDE7-9F61-56863D9E5D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267D94-67A3-B4D2-5BB7-F9AB0FA36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C0A48-F169-4868-950C-C0BF07077612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B2D32-CD62-066D-4E7B-7CFEAA5EF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6F180-E724-DDDA-6B2E-039E6A73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22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6DF51-BEB9-7953-5962-91DD016C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201B8C-DB89-F40D-0387-B0010B4DA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C9CE6-3AB7-5E39-EE48-DABE6279E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A2A41-BF1E-433D-A63D-7B1C861340FC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63077-B025-FA3F-315C-E30735C2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84631-FDE9-6991-4E1B-5480CF145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138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354BF-D811-604F-86C2-F43AB191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89241-02D1-B90E-C12D-03843B14C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66E7A-3201-0FCD-4256-7B0557E4D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1A8CD-CF8C-8955-9C8D-838572F95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2C828-9A8F-478D-A9BD-9DF638EF5087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F45BA-CFA4-ECA5-EE0A-06FDBCD1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05F9E-BD18-236F-28F4-EC63B58C7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A305-F78F-8A01-A8E4-638E1624E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0DCB-5BC1-EE8A-4D33-5FCC4AF65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B775F-321A-D7BC-6F64-A37BBF7C4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A23650-BFFB-DF5E-B863-F4B1C46BD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FA7A4C-1434-B617-5CE0-E7A336621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56E56-1645-2B0E-0DC1-A6FDDB6E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5BE8B-17AA-452E-AF5A-A805E1055FA1}" type="datetime1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BEE350-C97A-E546-8004-074D6B531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E63C69-366E-2EE0-2E61-160E0AD8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98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4F136-B277-6600-FE44-2E470A4AE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8B3A8B-77B5-C37C-32F9-F9DC06F9F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85E3C-251E-4292-87F6-2212204ECA2B}" type="datetime1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CB019-F8F4-4DD1-B57B-66C830FDC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A1398-CA3B-AFA8-5233-2B56FF74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388A72-0574-E776-190E-49E0DC62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E1260-D33D-47AA-B882-BF3928478AF5}" type="datetime1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1C6C8B-3C58-09DE-01A7-750E86803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AAD66-5655-62F8-CB27-732178CF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686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1D65-89E0-43DF-FDD9-6466625D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6B76-41FD-73BE-E9FA-11AC8233E8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E2FF38-F5D8-FBB4-D555-235881FC8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BABB0B-7472-BA9D-C622-842912425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BFB52-2362-45D7-B8C5-B12D0BF071AA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CBCEA-1226-D81D-8D8A-8578AF1F8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1185A0-A488-013D-2A47-6B680B44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496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5063-6A44-1467-AD3B-1856232C3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DB25FF-6E21-75A7-104A-CA5114BA0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BCD75-43BB-85F3-7F90-982B0718B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F0603-C938-E891-0E62-764BD119F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D3117-01EB-4EF8-81B5-FD92832B6B5C}" type="datetime1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2CE2FD-C0F9-CEEC-7FE9-1993A4316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4A775-ACDD-4B24-D6B4-60B64E8C1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66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A70D-F889-DDF6-21BC-A1D8AA5E2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4DD4FA-09DB-81C0-E6D6-4308DA9C2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17270-8668-A940-3FB3-D6D522C20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F622-135A-4D3C-84CD-5A493CC35A1E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B1157-9B88-E5BD-9121-295BCA80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3494B-2E05-7BD6-FFAE-C327CB9B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57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F30F3F-F3E0-BDB7-1C2A-930C1148E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EA2F6E-7E5A-8F97-9980-0A023E72FB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3A034-91D6-F52A-2947-224E33148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BC9CC1-F0A8-4A5B-ACDF-9BD8C810563B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5DFD3-CBEF-4596-7F6C-421F02162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484EA-2E1C-FB8C-1230-259E74228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841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EC572E-BBE3-E69E-50CA-519AE9468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852"/>
            <a:ext cx="10515600" cy="7485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FC5833-CB50-EABA-EDC9-2BA0ECFDB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34101"/>
            <a:ext cx="10515600" cy="46428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5AA17E-D486-A341-206C-1D75F5A3E0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0CE0A7F4-AB13-430E-9DF9-A5874CB1FEEE}" type="datetime1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2B1E9-C1F1-EAAF-FE9D-506022892A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D0027-704C-2270-9BE7-628116D87A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CAE0FC8-C62F-4561-A15C-F1B2365936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3DD05-51D0-6837-808F-7C956874421C}"/>
              </a:ext>
            </a:extLst>
          </p:cNvPr>
          <p:cNvSpPr/>
          <p:nvPr userDrawn="1"/>
        </p:nvSpPr>
        <p:spPr>
          <a:xfrm>
            <a:off x="-1" y="-18838"/>
            <a:ext cx="12192001" cy="615163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FEA719-6F67-2580-D260-7B437824B62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" y="0"/>
            <a:ext cx="1556198" cy="4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34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DED4-43DA-7CBE-8DBB-930975764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Návrh</a:t>
            </a:r>
            <a:r>
              <a:rPr lang="en-US" dirty="0"/>
              <a:t> </a:t>
            </a:r>
            <a:r>
              <a:rPr lang="en-US" dirty="0" err="1"/>
              <a:t>implementácie</a:t>
            </a:r>
            <a:r>
              <a:rPr lang="en-US" dirty="0"/>
              <a:t> </a:t>
            </a:r>
            <a:r>
              <a:rPr lang="en-US" dirty="0" err="1"/>
              <a:t>vybraných</a:t>
            </a:r>
            <a:r>
              <a:rPr lang="en-US" dirty="0"/>
              <a:t> </a:t>
            </a:r>
            <a:r>
              <a:rPr lang="en-US" dirty="0" err="1"/>
              <a:t>algoritmov</a:t>
            </a:r>
            <a:r>
              <a:rPr lang="en-US" dirty="0"/>
              <a:t> </a:t>
            </a:r>
            <a:r>
              <a:rPr lang="en-US" dirty="0" err="1"/>
              <a:t>riadenia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2E7938-B366-D4C5-BB1F-BC0940CB2B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/>
              <a:t>Diplomova</a:t>
            </a:r>
            <a:r>
              <a:rPr lang="en-US" dirty="0"/>
              <a:t> </a:t>
            </a:r>
            <a:r>
              <a:rPr lang="en-US" dirty="0" err="1"/>
              <a:t>praca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pPr algn="r"/>
            <a:r>
              <a:rPr lang="en-US" sz="1800" dirty="0" err="1"/>
              <a:t>Vykonávateľ</a:t>
            </a:r>
            <a:r>
              <a:rPr lang="ru-RU" sz="1800" dirty="0"/>
              <a:t> - </a:t>
            </a:r>
            <a:r>
              <a:rPr lang="en-US" sz="1800" dirty="0" err="1"/>
              <a:t>Bc</a:t>
            </a:r>
            <a:r>
              <a:rPr lang="en-US" sz="1800" dirty="0"/>
              <a:t>. Andrii Stoliar</a:t>
            </a:r>
            <a:endParaRPr lang="ru-RU" sz="1800" dirty="0"/>
          </a:p>
          <a:p>
            <a:pPr algn="r"/>
            <a:r>
              <a:rPr lang="en-US" sz="1800" dirty="0" err="1"/>
              <a:t>Vedúci</a:t>
            </a:r>
            <a:r>
              <a:rPr lang="ru-RU" sz="1800" dirty="0"/>
              <a:t> - </a:t>
            </a:r>
            <a:r>
              <a:rPr lang="en-US" sz="1800" dirty="0"/>
              <a:t>Ing. Marián </a:t>
            </a:r>
            <a:r>
              <a:rPr lang="en-US" sz="1800" dirty="0" err="1"/>
              <a:t>Tárník</a:t>
            </a:r>
            <a:r>
              <a:rPr lang="en-US" sz="1800" dirty="0"/>
              <a:t>, PhD.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66C22-E89E-9B5D-2C6B-00A6ECBA4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050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AECF5-6C36-AF14-D123-FA7DE221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Ciele</a:t>
            </a:r>
            <a:r>
              <a:rPr lang="en-US" dirty="0"/>
              <a:t> </a:t>
            </a:r>
            <a:r>
              <a:rPr lang="en-US" dirty="0" err="1"/>
              <a:t>práce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A704A-C3F9-563D-F783-76DD065FA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Vybrať</a:t>
            </a:r>
            <a:r>
              <a:rPr lang="en-US" dirty="0"/>
              <a:t> </a:t>
            </a:r>
            <a:r>
              <a:rPr lang="en-US" dirty="0" err="1"/>
              <a:t>laboratórny</a:t>
            </a:r>
            <a:r>
              <a:rPr lang="en-US" dirty="0"/>
              <a:t> model z </a:t>
            </a:r>
            <a:r>
              <a:rPr lang="en-US" dirty="0" err="1"/>
              <a:t>dostupných</a:t>
            </a:r>
            <a:r>
              <a:rPr lang="en-US" dirty="0"/>
              <a:t> </a:t>
            </a:r>
            <a:r>
              <a:rPr lang="en-US" dirty="0" err="1"/>
              <a:t>dynamických</a:t>
            </a:r>
            <a:r>
              <a:rPr lang="en-US" dirty="0"/>
              <a:t> </a:t>
            </a:r>
            <a:r>
              <a:rPr lang="en-US" dirty="0" err="1"/>
              <a:t>systémov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Oboznámiť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s </a:t>
            </a:r>
            <a:r>
              <a:rPr lang="en-US" dirty="0" err="1"/>
              <a:t>jeho</a:t>
            </a:r>
            <a:r>
              <a:rPr lang="en-US" dirty="0"/>
              <a:t> </a:t>
            </a:r>
            <a:r>
              <a:rPr lang="en-US" dirty="0" err="1"/>
              <a:t>hardvérom</a:t>
            </a:r>
            <a:r>
              <a:rPr lang="en-US" dirty="0"/>
              <a:t> a </a:t>
            </a:r>
            <a:r>
              <a:rPr lang="en-US" dirty="0" err="1"/>
              <a:t>vypracovať</a:t>
            </a:r>
            <a:r>
              <a:rPr lang="en-US" dirty="0"/>
              <a:t> </a:t>
            </a:r>
            <a:r>
              <a:rPr lang="en-US" dirty="0" err="1"/>
              <a:t>stručnú</a:t>
            </a:r>
            <a:r>
              <a:rPr lang="en-US" dirty="0"/>
              <a:t> </a:t>
            </a:r>
            <a:r>
              <a:rPr lang="en-US" dirty="0" err="1"/>
              <a:t>technickú</a:t>
            </a:r>
            <a:r>
              <a:rPr lang="en-US" dirty="0"/>
              <a:t> </a:t>
            </a:r>
            <a:r>
              <a:rPr lang="en-US" dirty="0" err="1"/>
              <a:t>dokumentáciu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Vybrať</a:t>
            </a:r>
            <a:r>
              <a:rPr lang="en-US" dirty="0"/>
              <a:t> </a:t>
            </a:r>
            <a:r>
              <a:rPr lang="en-US" dirty="0" err="1"/>
              <a:t>riadiace</a:t>
            </a:r>
            <a:r>
              <a:rPr lang="en-US" dirty="0"/>
              <a:t> platformy a </a:t>
            </a:r>
            <a:r>
              <a:rPr lang="en-US" dirty="0" err="1"/>
              <a:t>pripraviť</a:t>
            </a:r>
            <a:r>
              <a:rPr lang="en-US" dirty="0"/>
              <a:t> ich </a:t>
            </a:r>
            <a:r>
              <a:rPr lang="en-US" dirty="0" err="1"/>
              <a:t>komunikačné</a:t>
            </a:r>
            <a:r>
              <a:rPr lang="en-US" dirty="0"/>
              <a:t> </a:t>
            </a:r>
            <a:r>
              <a:rPr lang="en-US" dirty="0" err="1"/>
              <a:t>rozhranie</a:t>
            </a:r>
            <a:r>
              <a:rPr lang="en-US" dirty="0"/>
              <a:t> so </a:t>
            </a:r>
            <a:r>
              <a:rPr lang="en-US" dirty="0" err="1"/>
              <a:t>systémom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Vybrať</a:t>
            </a:r>
            <a:r>
              <a:rPr lang="en-US" dirty="0"/>
              <a:t> a </a:t>
            </a:r>
            <a:r>
              <a:rPr lang="en-US" dirty="0" err="1"/>
              <a:t>opísať</a:t>
            </a:r>
            <a:r>
              <a:rPr lang="en-US" dirty="0"/>
              <a:t> </a:t>
            </a:r>
            <a:r>
              <a:rPr lang="en-US" dirty="0" err="1"/>
              <a:t>riadiace</a:t>
            </a:r>
            <a:r>
              <a:rPr lang="en-US" dirty="0"/>
              <a:t> </a:t>
            </a:r>
            <a:r>
              <a:rPr lang="en-US" dirty="0" err="1"/>
              <a:t>algoritmy</a:t>
            </a:r>
            <a:r>
              <a:rPr lang="en-US" dirty="0"/>
              <a:t> </a:t>
            </a:r>
            <a:r>
              <a:rPr lang="en-US" dirty="0" err="1"/>
              <a:t>určené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implementáciu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Realizovať</a:t>
            </a:r>
            <a:r>
              <a:rPr lang="en-US" dirty="0"/>
              <a:t> </a:t>
            </a:r>
            <a:r>
              <a:rPr lang="en-US" dirty="0" err="1"/>
              <a:t>riadiace</a:t>
            </a:r>
            <a:r>
              <a:rPr lang="en-US" dirty="0"/>
              <a:t> </a:t>
            </a:r>
            <a:r>
              <a:rPr lang="en-US" dirty="0" err="1"/>
              <a:t>algoritmy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vybraných</a:t>
            </a:r>
            <a:r>
              <a:rPr lang="en-US" dirty="0"/>
              <a:t> </a:t>
            </a:r>
            <a:r>
              <a:rPr lang="en-US" dirty="0" err="1"/>
              <a:t>platformách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 err="1"/>
              <a:t>Experimentálne</a:t>
            </a:r>
            <a:r>
              <a:rPr lang="en-US" dirty="0"/>
              <a:t> </a:t>
            </a:r>
            <a:r>
              <a:rPr lang="en-US" dirty="0" err="1"/>
              <a:t>overiť</a:t>
            </a:r>
            <a:r>
              <a:rPr lang="en-US" dirty="0"/>
              <a:t> a </a:t>
            </a:r>
            <a:r>
              <a:rPr lang="en-US" dirty="0" err="1"/>
              <a:t>vyhodnotiť</a:t>
            </a:r>
            <a:r>
              <a:rPr lang="en-US" dirty="0"/>
              <a:t> </a:t>
            </a:r>
            <a:r>
              <a:rPr lang="en-US" dirty="0" err="1"/>
              <a:t>dosiahnuté</a:t>
            </a:r>
            <a:r>
              <a:rPr lang="en-US" dirty="0"/>
              <a:t> </a:t>
            </a:r>
            <a:r>
              <a:rPr lang="en-US" dirty="0" err="1"/>
              <a:t>výsledky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16C15-E17E-CF98-476B-3C01830EB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90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3554B-D04D-D28C-52F3-0CACBCFFF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Laboratórne</a:t>
            </a:r>
            <a:r>
              <a:rPr lang="en-US" dirty="0"/>
              <a:t> </a:t>
            </a:r>
            <a:r>
              <a:rPr lang="en-US" dirty="0" err="1"/>
              <a:t>zariadenie</a:t>
            </a:r>
            <a:r>
              <a:rPr lang="en-US" dirty="0"/>
              <a:t> TS - </a:t>
            </a:r>
            <a:r>
              <a:rPr lang="en-US" dirty="0" err="1"/>
              <a:t>popis</a:t>
            </a:r>
            <a:r>
              <a:rPr lang="en-US" dirty="0"/>
              <a:t> </a:t>
            </a:r>
            <a:r>
              <a:rPr lang="en-US" dirty="0" err="1"/>
              <a:t>systému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5A6F2-F71D-2B36-B0BF-E4B22FE2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Picture 9" descr="A close-up of a light&#10;&#10;AI-generated content may be incorrect.">
            <a:extLst>
              <a:ext uri="{FF2B5EF4-FFF2-40B4-BE49-F238E27FC236}">
                <a16:creationId xmlns:a16="http://schemas.microsoft.com/office/drawing/2014/main" id="{01ACE7EB-1B2E-03AF-425D-B52A0B3A4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95849"/>
            <a:ext cx="5556250" cy="29455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D4C06A5-BFC5-A959-13FD-482CF170A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7249"/>
              </p:ext>
            </p:extLst>
          </p:nvPr>
        </p:nvGraphicFramePr>
        <p:xfrm>
          <a:off x="6788151" y="1595849"/>
          <a:ext cx="456564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1883">
                  <a:extLst>
                    <a:ext uri="{9D8B030D-6E8A-4147-A177-3AD203B41FA5}">
                      <a16:colId xmlns:a16="http://schemas.microsoft.com/office/drawing/2014/main" val="329238846"/>
                    </a:ext>
                  </a:extLst>
                </a:gridCol>
                <a:gridCol w="2103967">
                  <a:extLst>
                    <a:ext uri="{9D8B030D-6E8A-4147-A177-3AD203B41FA5}">
                      <a16:colId xmlns:a16="http://schemas.microsoft.com/office/drawing/2014/main" val="1100591826"/>
                    </a:ext>
                  </a:extLst>
                </a:gridCol>
                <a:gridCol w="939799">
                  <a:extLst>
                    <a:ext uri="{9D8B030D-6E8A-4147-A177-3AD203B41FA5}">
                      <a16:colId xmlns:a16="http://schemas.microsoft.com/office/drawing/2014/main" val="19852918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signálu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Označenie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Rozsah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611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Ventilátor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122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Výkon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špirály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9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teplota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057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Výstup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Senzor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 (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teplota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0–10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220555"/>
                  </a:ext>
                </a:extLst>
              </a:tr>
            </a:tbl>
          </a:graphicData>
        </a:graphic>
      </p:graphicFrame>
      <p:pic>
        <p:nvPicPr>
          <p:cNvPr id="13" name="Picture 12" descr="A diagram of a computer&#10;&#10;AI-generated content may be incorrect.">
            <a:extLst>
              <a:ext uri="{FF2B5EF4-FFF2-40B4-BE49-F238E27FC236}">
                <a16:creationId xmlns:a16="http://schemas.microsoft.com/office/drawing/2014/main" id="{A725C6FF-E0A2-AFFB-556A-7F22E00B3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151" y="4007364"/>
            <a:ext cx="5156200" cy="21748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02F4FC1-C8E3-6437-3B02-8139A2198BB2}"/>
              </a:ext>
            </a:extLst>
          </p:cNvPr>
          <p:cNvSpPr txBox="1"/>
          <p:nvPr/>
        </p:nvSpPr>
        <p:spPr>
          <a:xfrm>
            <a:off x="1963738" y="4541361"/>
            <a:ext cx="621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Laboratórny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TS05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A23EAE-B48A-044B-A176-251E3B6A886E}"/>
              </a:ext>
            </a:extLst>
          </p:cNvPr>
          <p:cNvSpPr txBox="1"/>
          <p:nvPr/>
        </p:nvSpPr>
        <p:spPr>
          <a:xfrm>
            <a:off x="5964238" y="6166804"/>
            <a:ext cx="62134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Simulinková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schéma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komunikáciu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2765478-9885-0D74-7C4F-4C29689C7B2B}"/>
              </a:ext>
            </a:extLst>
          </p:cNvPr>
          <p:cNvSpPr txBox="1"/>
          <p:nvPr/>
        </p:nvSpPr>
        <p:spPr>
          <a:xfrm>
            <a:off x="6922294" y="3429000"/>
            <a:ext cx="42973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Tabuľka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</a:t>
            </a:r>
          </a:p>
        </p:txBody>
      </p:sp>
    </p:spTree>
    <p:extLst>
      <p:ext uri="{BB962C8B-B14F-4D97-AF65-F5344CB8AC3E}">
        <p14:creationId xmlns:p14="http://schemas.microsoft.com/office/powerpoint/2010/main" val="37295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BD46-7204-9E5F-CDED-CAE9E300C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Statické</a:t>
            </a:r>
            <a:r>
              <a:rPr lang="en-US" altLang="en-US" dirty="0"/>
              <a:t> </a:t>
            </a:r>
            <a:r>
              <a:rPr lang="en-US" altLang="en-US" dirty="0" err="1"/>
              <a:t>vlastnosti</a:t>
            </a:r>
            <a:r>
              <a:rPr lang="en-US" altLang="en-US" dirty="0"/>
              <a:t> </a:t>
            </a:r>
            <a:r>
              <a:rPr lang="en-US" altLang="en-US" dirty="0" err="1"/>
              <a:t>systému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F7E1-2B5D-E952-E173-CA606427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EF39B-1E66-AD5D-A96F-983AB03FBE01}"/>
              </a:ext>
            </a:extLst>
          </p:cNvPr>
          <p:cNvSpPr txBox="1"/>
          <p:nvPr/>
        </p:nvSpPr>
        <p:spPr>
          <a:xfrm>
            <a:off x="1019326" y="4385050"/>
            <a:ext cx="57533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Priebeh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napätia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špirále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6A1C06-EB46-8AAA-F22F-80434120E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193" y="1611130"/>
            <a:ext cx="7089662" cy="43190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31BFDE-E187-079D-A77A-1C7F815F1B14}"/>
              </a:ext>
            </a:extLst>
          </p:cNvPr>
          <p:cNvSpPr txBox="1"/>
          <p:nvPr/>
        </p:nvSpPr>
        <p:spPr>
          <a:xfrm>
            <a:off x="5392674" y="5815693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8: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Prevodová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charakteristika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pre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ventilátora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 V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564DEFD-3682-397F-9A77-CFEE1945CE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3" y="1611130"/>
            <a:ext cx="4907290" cy="287731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08814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4DAC7-6A1A-1FB6-08FD-7C2E1DAA4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 err="1"/>
              <a:t>Merania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identifikáciu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systému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pracovnom</a:t>
            </a:r>
            <a:r>
              <a:rPr lang="en-US" altLang="en-US" sz="2800" dirty="0"/>
              <a:t> bode: </a:t>
            </a:r>
            <a:br>
              <a:rPr lang="en-US" altLang="en-US" sz="2800" dirty="0"/>
            </a:br>
            <a:r>
              <a:rPr lang="en-US" altLang="en-US" sz="2800" dirty="0"/>
              <a:t>Detrend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F4D10-DF8E-E6BA-D834-523C94499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46315-BC4D-55BD-F0D8-788CFB73A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1" y="1699043"/>
            <a:ext cx="5533651" cy="3348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4B340C-87E6-3E4C-F870-655D65ADDE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728" y="1699043"/>
            <a:ext cx="5533651" cy="33480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F9D7B9EB-DD7B-EF77-8B71-F329392E78DF}"/>
              </a:ext>
            </a:extLst>
          </p:cNvPr>
          <p:cNvSpPr/>
          <p:nvPr/>
        </p:nvSpPr>
        <p:spPr>
          <a:xfrm>
            <a:off x="5724144" y="3246120"/>
            <a:ext cx="722376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95CF46-626C-F497-3E03-ABCCFCFABED1}"/>
              </a:ext>
            </a:extLst>
          </p:cNvPr>
          <p:cNvSpPr txBox="1"/>
          <p:nvPr/>
        </p:nvSpPr>
        <p:spPr>
          <a:xfrm>
            <a:off x="0" y="5047069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10: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Vstupný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špirály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senzora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zmene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B8F32F-C682-F378-41E1-BF1BDDF58F52}"/>
              </a:ext>
            </a:extLst>
          </p:cNvPr>
          <p:cNvSpPr txBox="1"/>
          <p:nvPr/>
        </p:nvSpPr>
        <p:spPr>
          <a:xfrm>
            <a:off x="6153912" y="5047068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11: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Normalizované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detrendované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priebehy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vstupného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výstupného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signálu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6760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06BC-A289-B761-999E-AFA1E0C78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en-US" sz="2800" dirty="0" err="1"/>
              <a:t>Merania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identifikáciu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systému</a:t>
            </a:r>
            <a:r>
              <a:rPr lang="en-US" altLang="en-US" sz="2800" dirty="0"/>
              <a:t> v </a:t>
            </a:r>
            <a:r>
              <a:rPr lang="en-US" altLang="en-US" sz="2800" dirty="0" err="1"/>
              <a:t>pracovnom</a:t>
            </a:r>
            <a:r>
              <a:rPr lang="en-US" altLang="en-US" sz="2800" dirty="0"/>
              <a:t> bode: </a:t>
            </a:r>
            <a:br>
              <a:rPr lang="en-US" altLang="en-US" sz="2800" dirty="0"/>
            </a:br>
            <a:r>
              <a:rPr lang="en-US" sz="2800" dirty="0" err="1"/>
              <a:t>Prechodová</a:t>
            </a:r>
            <a:r>
              <a:rPr lang="en-US" sz="2800" dirty="0"/>
              <a:t> </a:t>
            </a:r>
            <a:r>
              <a:rPr lang="en-US" sz="2800" dirty="0" err="1"/>
              <a:t>charakteristika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58F01-AC3C-B191-ED81-B6F860BF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CA4CA9-3F29-893F-BAE0-D191A8E7D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084" y="1699043"/>
            <a:ext cx="6211831" cy="441451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988000D-9D23-ABD5-F233-DEB9B50EC853}"/>
              </a:ext>
            </a:extLst>
          </p:cNvPr>
          <p:cNvSpPr txBox="1"/>
          <p:nvPr/>
        </p:nvSpPr>
        <p:spPr>
          <a:xfrm>
            <a:off x="2990084" y="6051509"/>
            <a:ext cx="6213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12: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Priemerná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odozva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v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pracovnom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bode 4 V</a:t>
            </a:r>
          </a:p>
        </p:txBody>
      </p:sp>
    </p:spTree>
    <p:extLst>
      <p:ext uri="{BB962C8B-B14F-4D97-AF65-F5344CB8AC3E}">
        <p14:creationId xmlns:p14="http://schemas.microsoft.com/office/powerpoint/2010/main" val="1419360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FBDE5-827B-1D4B-26B5-A54EFF3B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CB9D532-6FCA-F26E-E102-8EEBC0ABC8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2440" y="621825"/>
                <a:ext cx="10856976" cy="107721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Abadi" panose="020B0604020104020204" pitchFamily="34" charset="0"/>
                    <a:ea typeface="+mj-ea"/>
                    <a:cs typeface="Times New Roman" panose="02020603050405020304" pitchFamily="18" charset="0"/>
                  </a:defRPr>
                </a:lvl1pPr>
              </a:lstStyle>
              <a:p>
                <a:pPr eaLnBrk="0" fontAlgn="base" hangingPunct="0">
                  <a:lnSpc>
                    <a:spcPct val="100000"/>
                  </a:lnSpc>
                  <a:spcAft>
                    <a:spcPct val="0"/>
                  </a:spcAft>
                </a:pPr>
                <a:r>
                  <a:rPr lang="en-US" altLang="en-US" sz="3200" dirty="0" err="1">
                    <a:latin typeface="Times New Roman" panose="02020603050405020304" pitchFamily="18" charset="0"/>
                  </a:rPr>
                  <a:t>Identifikácia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systému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v 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pracovnom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 bode: </a:t>
                </a:r>
                <a:br>
                  <a:rPr lang="en-US" altLang="en-US" sz="3200" dirty="0">
                    <a:latin typeface="Times New Roman" panose="02020603050405020304" pitchFamily="18" charset="0"/>
                  </a:rPr>
                </a:br>
                <a:r>
                  <a:rPr lang="en-US" altLang="en-US" sz="3200" dirty="0">
                    <a:latin typeface="Times New Roman" panose="02020603050405020304" pitchFamily="18" charset="0"/>
                  </a:rPr>
                  <a:t>ventilator – 6V, u (</a:t>
                </a:r>
                <a:r>
                  <a:rPr lang="en-US" altLang="en-US" sz="3200" dirty="0" err="1">
                    <a:latin typeface="Times New Roman" panose="02020603050405020304" pitchFamily="18" charset="0"/>
                  </a:rPr>
                  <a:t>špirála</a:t>
                </a:r>
                <a:r>
                  <a:rPr lang="en-US" altLang="en-US" sz="3200" dirty="0">
                    <a:latin typeface="Times New Roman" panose="02020603050405020304" pitchFamily="18" charset="0"/>
                  </a:rPr>
                  <a:t>) – 4V, </a:t>
                </a:r>
                <a14:m>
                  <m:oMath xmlns:m="http://schemas.openxmlformats.org/officeDocument/2006/math"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  <m:r>
                      <a:rPr lang="en-US" alt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US" altLang="en-US" sz="3200" dirty="0"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Rectangle 1">
                <a:extLst>
                  <a:ext uri="{FF2B5EF4-FFF2-40B4-BE49-F238E27FC236}">
                    <a16:creationId xmlns:a16="http://schemas.microsoft.com/office/drawing/2014/main" id="{1CB9D532-6FCA-F26E-E102-8EEBC0ABC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2440" y="621825"/>
                <a:ext cx="10856976" cy="1077218"/>
              </a:xfrm>
              <a:prstGeom prst="rect">
                <a:avLst/>
              </a:prstGeom>
              <a:blipFill>
                <a:blip r:embed="rId2"/>
                <a:stretch>
                  <a:fillRect l="-1460" t="-7345" b="-175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13B8FB47-372D-1CFF-C81C-5D1DBEBDB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1793744"/>
            <a:ext cx="6544069" cy="35996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D7A589-9EE5-FFB8-5DFB-8DB8422F1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509" y="1793744"/>
            <a:ext cx="2262907" cy="7246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3F21DB-8C4D-0841-4080-BE0056A5B2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6509" y="3076428"/>
            <a:ext cx="5175491" cy="87949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6D4F512F-CAC6-E444-5F74-7BE3D29282DA}"/>
              </a:ext>
            </a:extLst>
          </p:cNvPr>
          <p:cNvSpPr/>
          <p:nvPr/>
        </p:nvSpPr>
        <p:spPr>
          <a:xfrm>
            <a:off x="9279416" y="3982458"/>
            <a:ext cx="438912" cy="5128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2E8497-12AC-ED2B-8783-CA3EE7672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2986" y="4521812"/>
            <a:ext cx="4471771" cy="9288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D31E3A1-B112-B6EB-852B-1F081928D4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9554" y="5707281"/>
            <a:ext cx="3338633" cy="45656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E59E56-85A4-356D-6BE9-6D1012B69C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6506" y="5299160"/>
            <a:ext cx="3323547" cy="5230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77A5324-11BE-2F92-8D4A-A68B4E44ABFD}"/>
              </a:ext>
            </a:extLst>
          </p:cNvPr>
          <p:cNvSpPr txBox="1"/>
          <p:nvPr/>
        </p:nvSpPr>
        <p:spPr>
          <a:xfrm>
            <a:off x="767878" y="5237532"/>
            <a:ext cx="6213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14: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Porovnanie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skokovej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odozvy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reálneho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systému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TS05 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aproximovanýchmodelov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9568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6BBDE-FC23-471C-965C-3949F22132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Ďakujeme</a:t>
            </a:r>
            <a:r>
              <a:rPr lang="en-US" dirty="0"/>
              <a:t> za </a:t>
            </a:r>
            <a:r>
              <a:rPr lang="en-US" dirty="0" err="1"/>
              <a:t>pozornosť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1EBA0-A3B6-09FB-BAE8-3FF64FF566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Máte</a:t>
            </a:r>
            <a:r>
              <a:rPr lang="en-US" dirty="0"/>
              <a:t> </a:t>
            </a:r>
            <a:r>
              <a:rPr lang="en-US" dirty="0" err="1"/>
              <a:t>nejaké</a:t>
            </a:r>
            <a:r>
              <a:rPr lang="en-US" dirty="0"/>
              <a:t> </a:t>
            </a:r>
            <a:r>
              <a:rPr lang="en-US" dirty="0" err="1"/>
              <a:t>otázky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C19B4-25E5-0439-C24E-0B6A42C0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E0FC8-C62F-4561-A15C-F1B23659363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2698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275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Cambria Math</vt:lpstr>
      <vt:lpstr>Times New Roman</vt:lpstr>
      <vt:lpstr>Office Theme</vt:lpstr>
      <vt:lpstr>Návrh implementácie vybraných algoritmov riadenia</vt:lpstr>
      <vt:lpstr>Ciele práce</vt:lpstr>
      <vt:lpstr>Laboratórne zariadenie TS - popis systému</vt:lpstr>
      <vt:lpstr>Statické vlastnosti systému</vt:lpstr>
      <vt:lpstr>Merania na identifikáciu systému v pracovnom bode:  Detrend</vt:lpstr>
      <vt:lpstr>Merania na identifikáciu systému v pracovnom bode:  Prechodová charakteristika</vt:lpstr>
      <vt:lpstr>PowerPoint Presentation</vt:lpstr>
      <vt:lpstr>Ďakujeme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Andrii Stoliar</dc:creator>
  <cp:lastModifiedBy>Andrii Stoliar</cp:lastModifiedBy>
  <cp:revision>7</cp:revision>
  <dcterms:created xsi:type="dcterms:W3CDTF">2026-04-11T17:08:44Z</dcterms:created>
  <dcterms:modified xsi:type="dcterms:W3CDTF">2026-05-24T21:03:02Z</dcterms:modified>
</cp:coreProperties>
</file>