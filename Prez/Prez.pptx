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90" r:id="rId22"/>
    <p:sldId id="291" r:id="rId23"/>
    <p:sldId id="269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</a:t>
            </a:r>
            <a:r>
              <a:rPr lang="sk-SK" dirty="0"/>
              <a:t>á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z="1800" smtClean="0"/>
              <a:t>1</a:t>
            </a:fld>
            <a:r>
              <a:rPr lang="en-US" sz="1800" dirty="0"/>
              <a:t>/20</a:t>
            </a:r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3/20</a:t>
            </a:r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1951038" y="451058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206905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4/20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1045187" y="5062204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320" y="1661887"/>
            <a:ext cx="6032009" cy="353678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5/20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6/20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7/20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94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1896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18761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41402" y="4682874"/>
            <a:ext cx="3194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41402" y="5120737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5120737"/>
                <a:ext cx="2503506" cy="298415"/>
              </a:xfrm>
              <a:prstGeom prst="rect">
                <a:avLst/>
              </a:prstGeom>
              <a:blipFill>
                <a:blip r:embed="rId3"/>
                <a:stretch>
                  <a:fillRect l="-1703" r="-2190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41402" y="5575258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5575258"/>
                <a:ext cx="3194592" cy="5305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41402" y="6315254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02" y="6315254"/>
                <a:ext cx="4445128" cy="276999"/>
              </a:xfrm>
              <a:prstGeom prst="rect">
                <a:avLst/>
              </a:prstGeom>
              <a:blipFill>
                <a:blip r:embed="rId5"/>
                <a:stretch>
                  <a:fillRect l="-412" r="-109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8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8/20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9/20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10/20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22080" y="6328060"/>
            <a:ext cx="2743200" cy="365125"/>
          </a:xfrm>
        </p:spPr>
        <p:txBody>
          <a:bodyPr/>
          <a:lstStyle/>
          <a:p>
            <a:r>
              <a:rPr lang="en-US" sz="1800" dirty="0"/>
              <a:t>11/20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11137900" cy="45202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2000" dirty="0"/>
              <a:t>12/20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=1.83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13/20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14/20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15/20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91" y="1593182"/>
            <a:ext cx="10000445" cy="50776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16/20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199" y="2351676"/>
            <a:ext cx="3225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38912"/>
            <a:ext cx="2743200" cy="365125"/>
          </a:xfrm>
        </p:spPr>
        <p:txBody>
          <a:bodyPr/>
          <a:lstStyle/>
          <a:p>
            <a:r>
              <a:rPr lang="en-US" sz="1800" dirty="0"/>
              <a:t>17/20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94270" y="5892580"/>
            <a:ext cx="6510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Arduino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r>
              <a:rPr lang="en-US" sz="1800" dirty="0"/>
              <a:t>18/20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505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vynechaní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fázy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19/20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536" y="2964996"/>
            <a:ext cx="10515600" cy="748579"/>
          </a:xfrm>
        </p:spPr>
        <p:txBody>
          <a:bodyPr anchor="ctr">
            <a:noAutofit/>
          </a:bodyPr>
          <a:lstStyle/>
          <a:p>
            <a:r>
              <a:rPr lang="en-US" sz="6000" dirty="0" err="1"/>
              <a:t>Ďakujeme</a:t>
            </a:r>
            <a:r>
              <a:rPr lang="en-US" sz="6000" dirty="0"/>
              <a:t> za </a:t>
            </a:r>
            <a:r>
              <a:rPr lang="en-US" sz="6000" dirty="0" err="1"/>
              <a:t>pozornosť</a:t>
            </a:r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/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839D-FA63-545F-3651-566C0DB8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6428"/>
            <a:ext cx="10515600" cy="748579"/>
          </a:xfrm>
        </p:spPr>
        <p:txBody>
          <a:bodyPr>
            <a:noAutofit/>
          </a:bodyPr>
          <a:lstStyle/>
          <a:p>
            <a:r>
              <a:rPr lang="en-US" sz="2400" dirty="0"/>
              <a:t>1. Pri </a:t>
            </a:r>
            <a:r>
              <a:rPr lang="en-US" sz="2400" dirty="0" err="1"/>
              <a:t>logovaní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 v PLC do </a:t>
            </a:r>
            <a:r>
              <a:rPr lang="en-US" sz="2400" dirty="0" err="1"/>
              <a:t>polí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index </a:t>
            </a:r>
            <a:r>
              <a:rPr lang="en-US" sz="2400" dirty="0" err="1"/>
              <a:t>postupne</a:t>
            </a:r>
            <a:r>
              <a:rPr lang="en-US" sz="2400" dirty="0"/>
              <a:t> </a:t>
            </a:r>
            <a:r>
              <a:rPr lang="en-US" sz="2400" dirty="0" err="1"/>
              <a:t>inkrementuje</a:t>
            </a:r>
            <a:r>
              <a:rPr lang="en-US" sz="2400" dirty="0"/>
              <a:t>, </a:t>
            </a:r>
            <a:r>
              <a:rPr lang="en-US" sz="2400" dirty="0" err="1"/>
              <a:t>pričom</a:t>
            </a:r>
            <a:r>
              <a:rPr lang="en-US" sz="2400" dirty="0"/>
              <a:t> </a:t>
            </a:r>
            <a:r>
              <a:rPr lang="en-US" sz="2400" dirty="0" err="1"/>
              <a:t>nie</a:t>
            </a:r>
            <a:r>
              <a:rPr lang="en-US" sz="2400" dirty="0"/>
              <a:t> je </a:t>
            </a:r>
            <a:r>
              <a:rPr lang="en-US" sz="2400" dirty="0" err="1"/>
              <a:t>explicitne</a:t>
            </a:r>
            <a:r>
              <a:rPr lang="en-US" sz="2400" dirty="0"/>
              <a:t> </a:t>
            </a:r>
            <a:r>
              <a:rPr lang="en-US" sz="2400" dirty="0" err="1"/>
              <a:t>riešené</a:t>
            </a:r>
            <a:r>
              <a:rPr lang="en-US" sz="2400" dirty="0"/>
              <a:t> </a:t>
            </a:r>
            <a:r>
              <a:rPr lang="en-US" sz="2400" dirty="0" err="1"/>
              <a:t>nulovanie</a:t>
            </a:r>
            <a:r>
              <a:rPr lang="en-US" sz="2400" dirty="0"/>
              <a:t> </a:t>
            </a:r>
            <a:r>
              <a:rPr lang="en-US" sz="2400" dirty="0" err="1"/>
              <a:t>uložených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. Ako by </a:t>
            </a:r>
            <a:r>
              <a:rPr lang="en-US" sz="2400" dirty="0" err="1"/>
              <a:t>ste</a:t>
            </a:r>
            <a:r>
              <a:rPr lang="en-US" sz="2400" dirty="0"/>
              <a:t> v </a:t>
            </a:r>
            <a:r>
              <a:rPr lang="en-US" sz="2400" dirty="0" err="1"/>
              <a:t>praxi</a:t>
            </a:r>
            <a:r>
              <a:rPr lang="en-US" sz="2400" dirty="0"/>
              <a:t> </a:t>
            </a:r>
            <a:r>
              <a:rPr lang="en-US" sz="2400" dirty="0" err="1"/>
              <a:t>riešili</a:t>
            </a:r>
            <a:r>
              <a:rPr lang="en-US" sz="2400" dirty="0"/>
              <a:t> </a:t>
            </a:r>
            <a:r>
              <a:rPr lang="en-US" sz="2400" dirty="0" err="1"/>
              <a:t>opakované</a:t>
            </a:r>
            <a:r>
              <a:rPr lang="en-US" sz="2400" dirty="0"/>
              <a:t> </a:t>
            </a:r>
            <a:r>
              <a:rPr lang="en-US" sz="2400" dirty="0" err="1"/>
              <a:t>merania</a:t>
            </a:r>
            <a:r>
              <a:rPr lang="en-US" sz="2400" dirty="0"/>
              <a:t> bez </a:t>
            </a:r>
            <a:r>
              <a:rPr lang="en-US" sz="2400" dirty="0" err="1"/>
              <a:t>potreby</a:t>
            </a:r>
            <a:r>
              <a:rPr lang="en-US" sz="2400" dirty="0"/>
              <a:t> </a:t>
            </a:r>
            <a:r>
              <a:rPr lang="en-US" sz="2400" dirty="0" err="1"/>
              <a:t>zmeny</a:t>
            </a:r>
            <a:r>
              <a:rPr lang="en-US" sz="2400" dirty="0"/>
              <a:t> </a:t>
            </a:r>
            <a:r>
              <a:rPr lang="en-US" sz="2400" dirty="0" err="1"/>
              <a:t>režimu</a:t>
            </a:r>
            <a:r>
              <a:rPr lang="en-US" sz="2400" dirty="0"/>
              <a:t> CPU?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C06F3F-E35D-4BD9-1F9E-C0507155E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21/20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19E883-0289-6EB1-0185-358D7B4FF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76" y="2374367"/>
            <a:ext cx="4471447" cy="26396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596B-C736-1573-9E6B-91BD68D9A858}"/>
              </a:ext>
            </a:extLst>
          </p:cNvPr>
          <p:cNvSpPr txBox="1"/>
          <p:nvPr/>
        </p:nvSpPr>
        <p:spPr>
          <a:xfrm>
            <a:off x="179832" y="5060150"/>
            <a:ext cx="4584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A0A2C-8D5D-D642-47F9-C8F2F0BBF0E7}"/>
              </a:ext>
            </a:extLst>
          </p:cNvPr>
          <p:cNvSpPr txBox="1"/>
          <p:nvPr/>
        </p:nvSpPr>
        <p:spPr>
          <a:xfrm>
            <a:off x="5724144" y="2258568"/>
            <a:ext cx="56296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Reset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SampleCount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Full = FALSE, LOGS[all] = 0;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IDLE → RESET → MEASURE → DONE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Kruhový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+ 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buffery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658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326E-5C74-AA57-4C16-C10198AB4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1292"/>
            <a:ext cx="10515600" cy="748579"/>
          </a:xfrm>
        </p:spPr>
        <p:txBody>
          <a:bodyPr>
            <a:noAutofit/>
          </a:bodyPr>
          <a:lstStyle/>
          <a:p>
            <a:r>
              <a:rPr lang="en-US" sz="2000" dirty="0"/>
              <a:t>2. Na </a:t>
            </a:r>
            <a:r>
              <a:rPr lang="en-US" sz="2000" dirty="0" err="1"/>
              <a:t>predmete</a:t>
            </a:r>
            <a:r>
              <a:rPr lang="en-US" sz="2000" dirty="0"/>
              <a:t> </a:t>
            </a:r>
            <a:r>
              <a:rPr lang="en-US" sz="2000" dirty="0" err="1"/>
              <a:t>Riadiace</a:t>
            </a:r>
            <a:r>
              <a:rPr lang="en-US" sz="2000" dirty="0"/>
              <a:t> </a:t>
            </a:r>
            <a:r>
              <a:rPr lang="en-US" sz="2000" dirty="0" err="1"/>
              <a:t>systémy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stretli</a:t>
            </a:r>
            <a:r>
              <a:rPr lang="en-US" sz="2000" dirty="0"/>
              <a:t> s </a:t>
            </a:r>
            <a:r>
              <a:rPr lang="en-US" sz="2000" dirty="0" err="1"/>
              <a:t>inštrukciou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, </a:t>
            </a:r>
            <a:r>
              <a:rPr lang="en-US" sz="2000" dirty="0" err="1"/>
              <a:t>ktorá</a:t>
            </a:r>
            <a:r>
              <a:rPr lang="en-US" sz="2000" dirty="0"/>
              <a:t> je </a:t>
            </a:r>
            <a:r>
              <a:rPr lang="en-US" sz="2000" dirty="0" err="1"/>
              <a:t>dostupná</a:t>
            </a:r>
            <a:r>
              <a:rPr lang="en-US" sz="2000" dirty="0"/>
              <a:t> v </a:t>
            </a:r>
            <a:r>
              <a:rPr lang="en-US" sz="2000" dirty="0" err="1"/>
              <a:t>knižnici</a:t>
            </a:r>
            <a:r>
              <a:rPr lang="en-US" sz="2000" dirty="0"/>
              <a:t> TIA Portal. </a:t>
            </a:r>
            <a:r>
              <a:rPr lang="en-US" sz="2000" dirty="0" err="1"/>
              <a:t>Neuvažovali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o </a:t>
            </a:r>
            <a:r>
              <a:rPr lang="en-US" sz="2000" dirty="0" err="1"/>
              <a:t>porovnaní</a:t>
            </a:r>
            <a:r>
              <a:rPr lang="en-US" sz="2000" dirty="0"/>
              <a:t> </a:t>
            </a:r>
            <a:r>
              <a:rPr lang="en-US" sz="2000" dirty="0" err="1"/>
              <a:t>vlastnej</a:t>
            </a:r>
            <a:r>
              <a:rPr lang="en-US" sz="2000" dirty="0"/>
              <a:t> </a:t>
            </a:r>
            <a:r>
              <a:rPr lang="en-US" sz="2000" dirty="0" err="1"/>
              <a:t>implementácie</a:t>
            </a:r>
            <a:r>
              <a:rPr lang="en-US" sz="2000" dirty="0"/>
              <a:t> </a:t>
            </a:r>
            <a:r>
              <a:rPr lang="en-US" sz="2000" dirty="0" err="1"/>
              <a:t>aspoň</a:t>
            </a:r>
            <a:r>
              <a:rPr lang="en-US" sz="2000" dirty="0"/>
              <a:t> s </a:t>
            </a:r>
            <a:r>
              <a:rPr lang="en-US" sz="2000" dirty="0" err="1"/>
              <a:t>jedným</a:t>
            </a:r>
            <a:r>
              <a:rPr lang="en-US" sz="2000" dirty="0"/>
              <a:t> </a:t>
            </a:r>
            <a:r>
              <a:rPr lang="en-US" sz="2000" dirty="0" err="1"/>
              <a:t>existujúcim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(</a:t>
            </a:r>
            <a:r>
              <a:rPr lang="en-US" sz="2000" dirty="0" err="1"/>
              <a:t>napr</a:t>
            </a:r>
            <a:r>
              <a:rPr lang="en-US" sz="2000" dirty="0"/>
              <a:t>. </a:t>
            </a:r>
            <a:r>
              <a:rPr lang="en-US" sz="2000" dirty="0" err="1"/>
              <a:t>PID_Compact</a:t>
            </a:r>
            <a:r>
              <a:rPr lang="en-US" sz="2000" dirty="0"/>
              <a:t>)? </a:t>
            </a:r>
            <a:r>
              <a:rPr lang="en-US" sz="2000" dirty="0" err="1"/>
              <a:t>Má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 v </a:t>
            </a:r>
            <a:r>
              <a:rPr lang="en-US" sz="2000" dirty="0" err="1"/>
              <a:t>porovnaní</a:t>
            </a:r>
            <a:r>
              <a:rPr lang="en-US" sz="2000" dirty="0"/>
              <a:t> s </a:t>
            </a:r>
            <a:r>
              <a:rPr lang="en-US" sz="2000" dirty="0" err="1"/>
              <a:t>Vaším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</a:t>
            </a:r>
            <a:r>
              <a:rPr lang="en-US" sz="2000" dirty="0" err="1"/>
              <a:t>nejakú</a:t>
            </a:r>
            <a:r>
              <a:rPr lang="en-US" sz="2000" dirty="0"/>
              <a:t> </a:t>
            </a:r>
            <a:r>
              <a:rPr lang="en-US" sz="2000" dirty="0" err="1"/>
              <a:t>nevýhodu</a:t>
            </a:r>
            <a:r>
              <a:rPr lang="en-US" sz="2000" dirty="0"/>
              <a:t>? </a:t>
            </a:r>
            <a:r>
              <a:rPr lang="en-US" sz="2000" dirty="0" err="1"/>
              <a:t>Stručne</a:t>
            </a:r>
            <a:r>
              <a:rPr lang="en-US" sz="2000" dirty="0"/>
              <a:t> </a:t>
            </a:r>
            <a:r>
              <a:rPr lang="en-US" sz="2000" dirty="0" err="1"/>
              <a:t>vysvetlite</a:t>
            </a:r>
            <a:r>
              <a:rPr lang="en-US" sz="2000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A66D2F-A653-108A-7B36-57085C2B2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800" dirty="0"/>
              <a:t>22/20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/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===⇒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blipFill>
                <a:blip r:embed="rId2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4E15ED0-A62A-4AB9-79A3-096130AA89A4}"/>
              </a:ext>
            </a:extLst>
          </p:cNvPr>
          <p:cNvSpPr txBox="1"/>
          <p:nvPr/>
        </p:nvSpPr>
        <p:spPr>
          <a:xfrm>
            <a:off x="838200" y="1715500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/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Teda: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ale: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blipFill>
                <a:blip r:embed="rId3"/>
                <a:stretch>
                  <a:fillRect l="-1108" t="-7813" r="-739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CC02961-7F2E-5010-1A04-2F0E86832111}"/>
              </a:ext>
            </a:extLst>
          </p:cNvPr>
          <p:cNvSpPr txBox="1"/>
          <p:nvPr/>
        </p:nvSpPr>
        <p:spPr>
          <a:xfrm>
            <a:off x="838200" y="3276180"/>
            <a:ext cx="44287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jednoduchšia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štruktúra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výpočtov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ľahká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úprava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čistý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funkcií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komplexného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autotuningu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8827BB-69A9-C1A7-D483-B1587350D420}"/>
              </a:ext>
            </a:extLst>
          </p:cNvPr>
          <p:cNvSpPr txBox="1"/>
          <p:nvPr/>
        </p:nvSpPr>
        <p:spPr>
          <a:xfrm>
            <a:off x="5789555" y="3272608"/>
            <a:ext cx="455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priemyselný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štandard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autotuning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vhodný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bežnú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prax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zložitejší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výpočet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viazané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proprietárnosť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6427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3619</TotalTime>
  <Words>1631</Words>
  <Application>Microsoft Office PowerPoint</Application>
  <PresentationFormat>Widescreen</PresentationFormat>
  <Paragraphs>279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1. Pri logovaní dát v PLC do polí sa index postupne inkrementuje, pričom nie je explicitne riešené nulovanie uložených dát. Ako by ste v praxi riešili opakované merania bez potreby zmeny režimu CPU?</vt:lpstr>
      <vt:lpstr>2. Na predmete Riadiace systémy ste sa stretli s inštrukciou PID_Compact, ktorá je dostupná v knižnici TIA Portal. Neuvažovali ste o porovnaní vlastnej implementácie aspoň s jedným existujúcim riešením (napr. PID_Compact)? Má PID_Compact v porovnaní s Vaším riešením nejakú nevýhodu? Stručne vysvetlite.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22</cp:revision>
  <dcterms:created xsi:type="dcterms:W3CDTF">2026-04-11T17:08:44Z</dcterms:created>
  <dcterms:modified xsi:type="dcterms:W3CDTF">2026-06-07T21:54:16Z</dcterms:modified>
</cp:coreProperties>
</file>