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68" r:id="rId5"/>
    <p:sldId id="271" r:id="rId6"/>
    <p:sldId id="289" r:id="rId7"/>
    <p:sldId id="276" r:id="rId8"/>
    <p:sldId id="277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67" r:id="rId21"/>
    <p:sldId id="290" r:id="rId22"/>
    <p:sldId id="291" r:id="rId23"/>
    <p:sldId id="269" r:id="rId24"/>
    <p:sldId id="270" r:id="rId25"/>
    <p:sldId id="272" r:id="rId26"/>
    <p:sldId id="273" r:id="rId27"/>
    <p:sldId id="274" r:id="rId28"/>
    <p:sldId id="275" r:id="rId29"/>
    <p:sldId id="292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10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2C6676-6336-48A3-9AFF-BEEF1DC2F04E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FE7AC-06A2-4B22-8A0E-B495546C19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449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4FE7AC-06A2-4B22-8A0E-B495546C193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228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4FE7AC-06A2-4B22-8A0E-B495546C193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03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258CC-162C-F88A-FBC5-D98FF7FF01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2BA292-0EA3-4DB7-51E1-45E367061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3FE2F-D218-EDE4-FB5C-73ECC149B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DDF75-98F2-46ED-BF41-6841AACD6D7B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5E19D3-BB1E-1DDD-812E-7C60FF2A0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DF48D6-BB4C-F655-4F6F-7EE418708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779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DFC1-2CDC-7030-F9C8-E69D6983F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67990-B18E-BDE7-9F61-56863D9E5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67D94-67A3-B4D2-5BB7-F9AB0FA36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C0A48-F169-4868-950C-C0BF07077612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B2D32-CD62-066D-4E7B-7CFEAA5EF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F6F180-E724-DDDA-6B2E-039E6A737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227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6DF51-BEB9-7953-5962-91DD016CE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201B8C-DB89-F40D-0387-B0010B4DA6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C9CE6-3AB7-5E39-EE48-DABE6279E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A2A41-BF1E-433D-A63D-7B1C861340FC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63077-B025-FA3F-315C-E30735C2F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84631-FDE9-6991-4E1B-5480CF145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138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354BF-D811-604F-86C2-F43AB1918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89241-02D1-B90E-C12D-03843B14C6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F66E7A-3201-0FCD-4256-7B0557E4D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61A8CD-CF8C-8955-9C8D-838572F9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C828-9A8F-478D-A9BD-9DF638EF5087}" type="datetime1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9F45BA-CFA4-ECA5-EE0A-06FDBCD16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E05F9E-BD18-236F-28F4-EC63B58C7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BA305-F78F-8A01-A8E4-638E1624E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ED0DCB-5BC1-EE8A-4D33-5FCC4AF652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7B775F-321A-D7BC-6F64-A37BBF7C4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A23650-BFFB-DF5E-B863-F4B1C46BD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FA7A4C-1434-B617-5CE0-E7A3366215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856E56-1645-2B0E-0DC1-A6FDDB6E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5BE8B-17AA-452E-AF5A-A805E1055FA1}" type="datetime1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BEE350-C97A-E546-8004-074D6B531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E63C69-366E-2EE0-2E61-160E0AD8E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8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4F136-B277-6600-FE44-2E470A4AE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8B3A8B-77B5-C37C-32F9-F9DC06F9F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85E3C-251E-4292-87F6-2212204ECA2B}" type="datetime1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8CB019-F8F4-4DD1-B57B-66C830FDC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A1398-CA3B-AFA8-5233-2B56FF74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388A72-0574-E776-190E-49E0DC629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E1260-D33D-47AA-B882-BF3928478AF5}" type="datetime1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C6C8B-3C58-09DE-01A7-750E86803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AAD66-5655-62F8-CB27-732178CF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86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01D65-89E0-43DF-FDD9-6466625D4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36B76-41FD-73BE-E9FA-11AC8233E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E2FF38-F5D8-FBB4-D555-235881FC8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BABB0B-7472-BA9D-C622-842912425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BFB52-2362-45D7-B8C5-B12D0BF071AA}" type="datetime1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CBCEA-1226-D81D-8D8A-8578AF1F8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1185A0-A488-013D-2A47-6B680B44F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49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A5063-6A44-1467-AD3B-1856232C3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DB25FF-6E21-75A7-104A-CA5114BA0E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ABCD75-43BB-85F3-7F90-982B0718B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6F0603-C938-E891-0E62-764BD119F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D3117-01EB-4EF8-81B5-FD92832B6B5C}" type="datetime1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2CE2FD-C0F9-CEEC-7FE9-1993A4316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74A775-ACDD-4B24-D6B4-60B64E8C1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662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9A70D-F889-DDF6-21BC-A1D8AA5E2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D4FA-09DB-81C0-E6D6-4308DA9C2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317270-8668-A940-3FB3-D6D522C20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15F622-135A-4D3C-84CD-5A493CC35A1E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6B1157-9B88-E5BD-9121-295BCA80C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B3494B-2E05-7BD6-FFAE-C327CB9B8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57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F30F3F-F3E0-BDB7-1C2A-930C1148EC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EA2F6E-7E5A-8F97-9980-0A023E72F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3A034-91D6-F52A-2947-224E33148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C9CC1-F0A8-4A5B-ACDF-9BD8C810563B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5DFD3-CBEF-4596-7F6C-421F02162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484EA-2E1C-FB8C-1230-259E74228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841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EC572E-BBE3-E69E-50CA-519AE9468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852"/>
            <a:ext cx="10515600" cy="7485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C5833-CB50-EABA-EDC9-2BA0ECFDB4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34101"/>
            <a:ext cx="10515600" cy="46428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5AA17E-D486-A341-206C-1D75F5A3E0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0CE0A7F4-AB13-430E-9DF9-A5874CB1FEEE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2B1E9-C1F1-EAAF-FE9D-506022892A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D0027-704C-2270-9BE7-628116D87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CAE0FC8-C62F-4561-A15C-F1B2365936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03DD05-51D0-6837-808F-7C956874421C}"/>
              </a:ext>
            </a:extLst>
          </p:cNvPr>
          <p:cNvSpPr/>
          <p:nvPr userDrawn="1"/>
        </p:nvSpPr>
        <p:spPr>
          <a:xfrm>
            <a:off x="-1" y="-18838"/>
            <a:ext cx="12192001" cy="61516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FEA719-6F67-2580-D260-7B437824B62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1" y="0"/>
            <a:ext cx="1556198" cy="49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349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FDED4-43DA-7CBE-8DBB-9309757643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Návrh</a:t>
            </a:r>
            <a:r>
              <a:rPr lang="en-US" dirty="0"/>
              <a:t> </a:t>
            </a:r>
            <a:r>
              <a:rPr lang="en-US" dirty="0" err="1"/>
              <a:t>implementácie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</a:t>
            </a:r>
            <a:r>
              <a:rPr lang="en-US" dirty="0" err="1"/>
              <a:t>algoritmov</a:t>
            </a:r>
            <a:r>
              <a:rPr lang="en-US" dirty="0"/>
              <a:t> </a:t>
            </a:r>
            <a:r>
              <a:rPr lang="en-US" dirty="0" err="1"/>
              <a:t>riadenia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2E7938-B366-D4C5-BB1F-BC0940CB2B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Diplomov</a:t>
            </a:r>
            <a:r>
              <a:rPr lang="sk-SK" dirty="0"/>
              <a:t>á</a:t>
            </a:r>
            <a:r>
              <a:rPr lang="en-US" dirty="0"/>
              <a:t> </a:t>
            </a:r>
            <a:r>
              <a:rPr lang="en-US" dirty="0" err="1"/>
              <a:t>praca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algn="r"/>
            <a:r>
              <a:rPr lang="en-US" sz="1800" dirty="0" err="1"/>
              <a:t>Bc</a:t>
            </a:r>
            <a:r>
              <a:rPr lang="en-US" sz="1800" dirty="0"/>
              <a:t>. Andrii Stoliar</a:t>
            </a:r>
            <a:endParaRPr lang="ru-RU" sz="1800" dirty="0"/>
          </a:p>
          <a:p>
            <a:pPr algn="r"/>
            <a:r>
              <a:rPr lang="en-US" sz="1800" dirty="0"/>
              <a:t>Ing. Marián </a:t>
            </a:r>
            <a:r>
              <a:rPr lang="en-US" sz="1800" dirty="0" err="1"/>
              <a:t>Tárník</a:t>
            </a:r>
            <a:r>
              <a:rPr lang="en-US" sz="1800" dirty="0"/>
              <a:t>, PhD.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F66C22-E89E-9B5D-2C6B-00A6ECBA4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z="1800" smtClean="0"/>
              <a:t>1</a:t>
            </a:fld>
            <a:r>
              <a:rPr lang="en-US" sz="1800" dirty="0"/>
              <a:t>/20</a:t>
            </a:r>
          </a:p>
        </p:txBody>
      </p:sp>
    </p:spTree>
    <p:extLst>
      <p:ext uri="{BB962C8B-B14F-4D97-AF65-F5344CB8AC3E}">
        <p14:creationId xmlns:p14="http://schemas.microsoft.com/office/powerpoint/2010/main" val="1535050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AECF5-6C36-AF14-D123-FA7DE2219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Ciele</a:t>
            </a:r>
            <a:r>
              <a:rPr lang="en-US" dirty="0"/>
              <a:t> </a:t>
            </a:r>
            <a:r>
              <a:rPr lang="en-US" dirty="0" err="1"/>
              <a:t>práce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A704A-C3F9-563D-F783-76DD065FA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Oboznámte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 </a:t>
            </a:r>
            <a:r>
              <a:rPr lang="en-US" dirty="0" err="1"/>
              <a:t>dostupným</a:t>
            </a:r>
            <a:r>
              <a:rPr lang="en-US" dirty="0"/>
              <a:t> </a:t>
            </a:r>
            <a:r>
              <a:rPr lang="en-US" dirty="0" err="1"/>
              <a:t>laboratórnym</a:t>
            </a:r>
            <a:r>
              <a:rPr lang="en-US" dirty="0"/>
              <a:t> </a:t>
            </a:r>
            <a:r>
              <a:rPr lang="en-US" dirty="0" err="1"/>
              <a:t>hardvérom</a:t>
            </a:r>
            <a:r>
              <a:rPr lang="en-US" dirty="0"/>
              <a:t> a </a:t>
            </a:r>
            <a:r>
              <a:rPr lang="en-US" dirty="0" err="1"/>
              <a:t>vypracujte</a:t>
            </a:r>
            <a:r>
              <a:rPr lang="en-US" dirty="0"/>
              <a:t> </a:t>
            </a:r>
            <a:r>
              <a:rPr lang="en-US" dirty="0" err="1"/>
              <a:t>stručnú</a:t>
            </a:r>
            <a:r>
              <a:rPr lang="en-US" dirty="0"/>
              <a:t> </a:t>
            </a:r>
            <a:r>
              <a:rPr lang="en-US" dirty="0" err="1"/>
              <a:t>technickú</a:t>
            </a:r>
            <a:r>
              <a:rPr lang="en-US" dirty="0"/>
              <a:t> </a:t>
            </a:r>
            <a:r>
              <a:rPr lang="en-US" dirty="0" err="1"/>
              <a:t>dokumentáciu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</a:t>
            </a:r>
            <a:r>
              <a:rPr lang="en-US" dirty="0" err="1"/>
              <a:t>laboratórnych</a:t>
            </a:r>
            <a:r>
              <a:rPr lang="en-US" dirty="0"/>
              <a:t> </a:t>
            </a:r>
            <a:r>
              <a:rPr lang="en-US" dirty="0" err="1"/>
              <a:t>dynamických</a:t>
            </a:r>
            <a:r>
              <a:rPr lang="en-US" dirty="0"/>
              <a:t> </a:t>
            </a:r>
            <a:r>
              <a:rPr lang="en-US" dirty="0" err="1"/>
              <a:t>systémov</a:t>
            </a:r>
            <a:r>
              <a:rPr lang="en-US" dirty="0"/>
              <a:t>.</a:t>
            </a:r>
          </a:p>
          <a:p>
            <a:r>
              <a:rPr lang="en-US" dirty="0" err="1"/>
              <a:t>Vypracujte</a:t>
            </a:r>
            <a:r>
              <a:rPr lang="en-US" dirty="0"/>
              <a:t> </a:t>
            </a:r>
            <a:r>
              <a:rPr lang="en-US" dirty="0" err="1"/>
              <a:t>krátky</a:t>
            </a:r>
            <a:r>
              <a:rPr lang="en-US" dirty="0"/>
              <a:t> </a:t>
            </a:r>
            <a:r>
              <a:rPr lang="en-US" dirty="0" err="1"/>
              <a:t>prehľad</a:t>
            </a:r>
            <a:r>
              <a:rPr lang="en-US" dirty="0"/>
              <a:t> </a:t>
            </a:r>
            <a:r>
              <a:rPr lang="en-US" dirty="0" err="1"/>
              <a:t>riadiacich</a:t>
            </a:r>
            <a:r>
              <a:rPr lang="en-US" dirty="0"/>
              <a:t> </a:t>
            </a:r>
            <a:r>
              <a:rPr lang="en-US" dirty="0" err="1"/>
              <a:t>algoritmov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pre </a:t>
            </a:r>
            <a:r>
              <a:rPr lang="en-US" dirty="0" err="1"/>
              <a:t>následnú</a:t>
            </a:r>
            <a:r>
              <a:rPr lang="en-US" dirty="0"/>
              <a:t> </a:t>
            </a:r>
            <a:r>
              <a:rPr lang="en-US" dirty="0" err="1"/>
              <a:t>implementáciu</a:t>
            </a:r>
            <a:r>
              <a:rPr lang="en-US" dirty="0"/>
              <a:t>.</a:t>
            </a:r>
          </a:p>
          <a:p>
            <a:r>
              <a:rPr lang="en-US" dirty="0" err="1"/>
              <a:t>Navrhnite</a:t>
            </a:r>
            <a:r>
              <a:rPr lang="en-US" dirty="0"/>
              <a:t> a </a:t>
            </a:r>
            <a:r>
              <a:rPr lang="en-US" dirty="0" err="1"/>
              <a:t>realizujte</a:t>
            </a:r>
            <a:r>
              <a:rPr lang="en-US" dirty="0"/>
              <a:t> </a:t>
            </a:r>
            <a:r>
              <a:rPr lang="en-US" dirty="0" err="1"/>
              <a:t>predmetné</a:t>
            </a:r>
            <a:r>
              <a:rPr lang="en-US" dirty="0"/>
              <a:t> </a:t>
            </a:r>
            <a:r>
              <a:rPr lang="en-US" dirty="0" err="1"/>
              <a:t>riadiace</a:t>
            </a:r>
            <a:r>
              <a:rPr lang="en-US" dirty="0"/>
              <a:t> </a:t>
            </a:r>
            <a:r>
              <a:rPr lang="en-US" dirty="0" err="1"/>
              <a:t>systémy</a:t>
            </a:r>
            <a:r>
              <a:rPr lang="en-US" dirty="0"/>
              <a:t> a </a:t>
            </a:r>
            <a:r>
              <a:rPr lang="en-US" dirty="0" err="1"/>
              <a:t>analyzujte</a:t>
            </a:r>
            <a:r>
              <a:rPr lang="en-US" dirty="0"/>
              <a:t> </a:t>
            </a:r>
            <a:r>
              <a:rPr lang="en-US" dirty="0" err="1"/>
              <a:t>kvalitu</a:t>
            </a:r>
            <a:r>
              <a:rPr lang="en-US" dirty="0"/>
              <a:t> </a:t>
            </a:r>
            <a:r>
              <a:rPr lang="en-US" dirty="0" err="1"/>
              <a:t>riadenia</a:t>
            </a:r>
            <a:r>
              <a:rPr lang="en-US" dirty="0"/>
              <a:t>.</a:t>
            </a:r>
          </a:p>
          <a:p>
            <a:r>
              <a:rPr lang="en-US" dirty="0" err="1"/>
              <a:t>Vyhodnoťte</a:t>
            </a:r>
            <a:r>
              <a:rPr lang="en-US" dirty="0"/>
              <a:t> </a:t>
            </a:r>
            <a:r>
              <a:rPr lang="en-US" dirty="0" err="1"/>
              <a:t>dosiahnuté</a:t>
            </a:r>
            <a:r>
              <a:rPr lang="en-US" dirty="0"/>
              <a:t> </a:t>
            </a:r>
            <a:r>
              <a:rPr lang="en-US" dirty="0" err="1"/>
              <a:t>výsledky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16C15-E17E-CF98-476B-3C01830EB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2592790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3554B-D04D-D28C-52F3-0CACBCFFF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Laboratórne</a:t>
            </a:r>
            <a:r>
              <a:rPr lang="en-US" dirty="0"/>
              <a:t> </a:t>
            </a:r>
            <a:r>
              <a:rPr lang="en-US" dirty="0" err="1"/>
              <a:t>zariadenie</a:t>
            </a:r>
            <a:r>
              <a:rPr lang="en-US" dirty="0"/>
              <a:t> TS - </a:t>
            </a:r>
            <a:r>
              <a:rPr lang="en-US" dirty="0" err="1"/>
              <a:t>popis</a:t>
            </a:r>
            <a:r>
              <a:rPr lang="en-US" dirty="0"/>
              <a:t> </a:t>
            </a:r>
            <a:r>
              <a:rPr lang="en-US" dirty="0" err="1"/>
              <a:t>systému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B5A6F2-F71D-2B36-B0BF-E4B22FE29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3/20</a:t>
            </a:r>
          </a:p>
        </p:txBody>
      </p:sp>
      <p:pic>
        <p:nvPicPr>
          <p:cNvPr id="10" name="Picture 9" descr="A close-up of a light&#10;&#10;AI-generated content may be incorrect.">
            <a:extLst>
              <a:ext uri="{FF2B5EF4-FFF2-40B4-BE49-F238E27FC236}">
                <a16:creationId xmlns:a16="http://schemas.microsoft.com/office/drawing/2014/main" id="{01ACE7EB-1B2E-03AF-425D-B52A0B3A4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95849"/>
            <a:ext cx="5556250" cy="2945512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D4C06A5-BFC5-A959-13FD-482CF170AB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6460604"/>
              </p:ext>
            </p:extLst>
          </p:nvPr>
        </p:nvGraphicFramePr>
        <p:xfrm>
          <a:off x="6920126" y="2576237"/>
          <a:ext cx="456564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1883">
                  <a:extLst>
                    <a:ext uri="{9D8B030D-6E8A-4147-A177-3AD203B41FA5}">
                      <a16:colId xmlns:a16="http://schemas.microsoft.com/office/drawing/2014/main" val="329238846"/>
                    </a:ext>
                  </a:extLst>
                </a:gridCol>
                <a:gridCol w="2103967">
                  <a:extLst>
                    <a:ext uri="{9D8B030D-6E8A-4147-A177-3AD203B41FA5}">
                      <a16:colId xmlns:a16="http://schemas.microsoft.com/office/drawing/2014/main" val="1100591826"/>
                    </a:ext>
                  </a:extLst>
                </a:gridCol>
                <a:gridCol w="939799">
                  <a:extLst>
                    <a:ext uri="{9D8B030D-6E8A-4147-A177-3AD203B41FA5}">
                      <a16:colId xmlns:a16="http://schemas.microsoft.com/office/drawing/2014/main" val="1985291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signálu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Označenie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611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3122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Výkon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špirály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99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6057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0220555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02F4FC1-C8E3-6437-3B02-8139A2198BB2}"/>
              </a:ext>
            </a:extLst>
          </p:cNvPr>
          <p:cNvSpPr txBox="1"/>
          <p:nvPr/>
        </p:nvSpPr>
        <p:spPr>
          <a:xfrm>
            <a:off x="1951038" y="4510584"/>
            <a:ext cx="6213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 TS05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765478-9885-0D74-7C4F-4C29689C7B2B}"/>
              </a:ext>
            </a:extLst>
          </p:cNvPr>
          <p:cNvSpPr txBox="1"/>
          <p:nvPr/>
        </p:nvSpPr>
        <p:spPr>
          <a:xfrm>
            <a:off x="6825669" y="2206905"/>
            <a:ext cx="42973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</p:spTree>
    <p:extLst>
      <p:ext uri="{BB962C8B-B14F-4D97-AF65-F5344CB8AC3E}">
        <p14:creationId xmlns:p14="http://schemas.microsoft.com/office/powerpoint/2010/main" val="372958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1BD46-7204-9E5F-CDED-CAE9E300C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Statické</a:t>
            </a:r>
            <a:r>
              <a:rPr lang="en-US" altLang="en-US" dirty="0"/>
              <a:t> </a:t>
            </a:r>
            <a:r>
              <a:rPr lang="en-US" altLang="en-US" dirty="0" err="1"/>
              <a:t>vlastnosti</a:t>
            </a:r>
            <a:r>
              <a:rPr lang="en-US" altLang="en-US" dirty="0"/>
              <a:t> </a:t>
            </a:r>
            <a:r>
              <a:rPr lang="en-US" altLang="en-US" dirty="0" err="1"/>
              <a:t>systému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DF7E1-2B5D-E952-E173-CA6064276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4/20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4EF39B-1E66-AD5D-A96F-983AB03FBE01}"/>
              </a:ext>
            </a:extLst>
          </p:cNvPr>
          <p:cNvSpPr txBox="1"/>
          <p:nvPr/>
        </p:nvSpPr>
        <p:spPr>
          <a:xfrm>
            <a:off x="1045187" y="5062204"/>
            <a:ext cx="5753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napätia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6A1C06-EB46-8AAA-F22F-80434120EA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193" y="1611130"/>
            <a:ext cx="7089662" cy="43190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A31BFDE-E187-079D-A77A-1C7F815F1B14}"/>
              </a:ext>
            </a:extLst>
          </p:cNvPr>
          <p:cNvSpPr txBox="1"/>
          <p:nvPr/>
        </p:nvSpPr>
        <p:spPr>
          <a:xfrm>
            <a:off x="6096000" y="5653156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Prevodová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charakteristika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ventilátora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 V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64DEFD-3682-397F-9A77-CFEE1945CE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4320" y="1661887"/>
            <a:ext cx="6032009" cy="353678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08814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1FBDE5-827B-1D4B-26B5-A54EFF3B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5/20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1CB9D532-6FCA-F26E-E102-8EEBC0ABC81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Abadi" panose="020B0604020104020204" pitchFamily="34" charset="0"/>
                    <a:ea typeface="+mj-ea"/>
                    <a:cs typeface="Times New Roman" panose="02020603050405020304" pitchFamily="18" charset="0"/>
                  </a:defRPr>
                </a:lvl1pPr>
              </a:lstStyle>
              <a:p>
                <a:pPr eaLnBrk="0" fontAlgn="base" hangingPunct="0">
                  <a:lnSpc>
                    <a:spcPct val="100000"/>
                  </a:lnSpc>
                  <a:spcAft>
                    <a:spcPct val="0"/>
                  </a:spcAft>
                </a:pPr>
                <a:r>
                  <a:rPr lang="en-US" altLang="en-US" sz="3200" dirty="0" err="1">
                    <a:latin typeface="Times New Roman" panose="02020603050405020304" pitchFamily="18" charset="0"/>
                  </a:rPr>
                  <a:t>Identifikácia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systému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v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pracovnom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bode: </a:t>
                </a:r>
                <a:br>
                  <a:rPr lang="en-US" altLang="en-US" sz="3200" dirty="0">
                    <a:latin typeface="Times New Roman" panose="02020603050405020304" pitchFamily="18" charset="0"/>
                  </a:rPr>
                </a:br>
                <a:r>
                  <a:rPr lang="en-US" altLang="en-US" sz="3200" dirty="0">
                    <a:latin typeface="Times New Roman" panose="02020603050405020304" pitchFamily="18" charset="0"/>
                  </a:rPr>
                  <a:t>ventilator – 6V, u (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špirála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) – 4V, </a:t>
                </a:r>
                <a14:m>
                  <m:oMath xmlns:m="http://schemas.openxmlformats.org/officeDocument/2006/math"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endParaRPr lang="en-US" altLang="en-US" sz="32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1CB9D532-6FCA-F26E-E102-8EEBC0ABC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blipFill>
                <a:blip r:embed="rId2"/>
                <a:stretch>
                  <a:fillRect l="-1460" t="-7345" b="-175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3B8FB47-372D-1CFF-C81C-5D1DBEBDB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" y="1793744"/>
            <a:ext cx="6544069" cy="3599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Arrow: Down 6">
            <a:extLst>
              <a:ext uri="{FF2B5EF4-FFF2-40B4-BE49-F238E27FC236}">
                <a16:creationId xmlns:a16="http://schemas.microsoft.com/office/drawing/2014/main" id="{6D4F512F-CAC6-E444-5F74-7BE3D29282DA}"/>
              </a:ext>
            </a:extLst>
          </p:cNvPr>
          <p:cNvSpPr/>
          <p:nvPr/>
        </p:nvSpPr>
        <p:spPr>
          <a:xfrm>
            <a:off x="9279416" y="3982458"/>
            <a:ext cx="438912" cy="5128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7A5324-11BE-2F92-8D4A-A68B4E44ABFD}"/>
              </a:ext>
            </a:extLst>
          </p:cNvPr>
          <p:cNvSpPr txBox="1"/>
          <p:nvPr/>
        </p:nvSpPr>
        <p:spPr>
          <a:xfrm>
            <a:off x="943760" y="5299160"/>
            <a:ext cx="57345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14: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Porovnanie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reálneho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aproximovaných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modelov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BF56CA-3553-9474-958C-A4BDE8B12F01}"/>
                  </a:ext>
                </a:extLst>
              </p:cNvPr>
              <p:cNvSpPr txBox="1"/>
              <p:nvPr/>
            </p:nvSpPr>
            <p:spPr>
              <a:xfrm>
                <a:off x="7016509" y="2188267"/>
                <a:ext cx="2316916" cy="5762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=0.036792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𝑓𝑚𝑖𝑛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=0.026996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BF56CA-3553-9474-958C-A4BDE8B12F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6509" y="2188267"/>
                <a:ext cx="2316916" cy="576248"/>
              </a:xfrm>
              <a:prstGeom prst="rect">
                <a:avLst/>
              </a:prstGeom>
              <a:blipFill>
                <a:blip r:embed="rId4"/>
                <a:stretch>
                  <a:fillRect l="-1842" r="-2368"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954A95-C2A3-FEFA-E2E8-4E6FC298411C}"/>
                  </a:ext>
                </a:extLst>
              </p:cNvPr>
              <p:cNvSpPr txBox="1"/>
              <p:nvPr/>
            </p:nvSpPr>
            <p:spPr>
              <a:xfrm>
                <a:off x="7464543" y="3307230"/>
                <a:ext cx="4065537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0.00171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−0.3379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+6.074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954A95-C2A3-FEFA-E2E8-4E6FC29841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543" y="3307230"/>
                <a:ext cx="4065537" cy="5727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F0DC05-97A2-52EB-FEFD-30917C3A45E4}"/>
                  </a:ext>
                </a:extLst>
              </p:cNvPr>
              <p:cNvSpPr txBox="1"/>
              <p:nvPr/>
            </p:nvSpPr>
            <p:spPr>
              <a:xfrm>
                <a:off x="6449311" y="4538410"/>
                <a:ext cx="6096000" cy="6173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6.074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F0DC05-97A2-52EB-FEFD-30917C3A4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9311" y="4538410"/>
                <a:ext cx="6096000" cy="6173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C72BFBC-7E9F-9757-110D-55EA37CE3445}"/>
                  </a:ext>
                </a:extLst>
              </p:cNvPr>
              <p:cNvSpPr txBox="1"/>
              <p:nvPr/>
            </p:nvSpPr>
            <p:spPr>
              <a:xfrm>
                <a:off x="7746384" y="5494131"/>
                <a:ext cx="3501856" cy="5754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𝑎𝑝𝑝𝑟𝑜𝑥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=0.036951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=−58.855,  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=−0.1521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C72BFBC-7E9F-9757-110D-55EA37CE3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6384" y="5494131"/>
                <a:ext cx="3501856" cy="575414"/>
              </a:xfrm>
              <a:prstGeom prst="rect">
                <a:avLst/>
              </a:prstGeom>
              <a:blipFill>
                <a:blip r:embed="rId7"/>
                <a:stretch>
                  <a:fillRect l="-697" r="-156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9568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0607C-7F9F-2EF3-C9CE-16A851EA8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Komunikačné</a:t>
            </a:r>
            <a:r>
              <a:rPr lang="en-US" sz="2800" dirty="0"/>
              <a:t> </a:t>
            </a:r>
            <a:r>
              <a:rPr lang="en-US" sz="2800" dirty="0" err="1"/>
              <a:t>rozhranie</a:t>
            </a:r>
            <a:r>
              <a:rPr lang="en-US" sz="2800" dirty="0"/>
              <a:t> </a:t>
            </a:r>
            <a:r>
              <a:rPr lang="en-US" sz="2800" dirty="0" err="1"/>
              <a:t>systému</a:t>
            </a:r>
            <a:r>
              <a:rPr lang="en-US" sz="2800" dirty="0"/>
              <a:t> TS05 pre </a:t>
            </a:r>
            <a:r>
              <a:rPr lang="en-US" sz="2800" dirty="0" err="1"/>
              <a:t>jednotlivé</a:t>
            </a:r>
            <a:r>
              <a:rPr lang="en-US" sz="2800" dirty="0"/>
              <a:t> platformy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B07960-D8CE-836A-2177-436498B1B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6/20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0CF13D-D640-4785-EB1D-4C00C2FB719B}"/>
              </a:ext>
            </a:extLst>
          </p:cNvPr>
          <p:cNvSpPr txBox="1"/>
          <p:nvPr/>
        </p:nvSpPr>
        <p:spPr>
          <a:xfrm>
            <a:off x="0" y="1797627"/>
            <a:ext cx="381692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MATLAB/Simulink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 cez meraciu kartu Advantech PCI-1711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231CD2-0D74-483D-35E5-8F9CE24D6FD6}"/>
              </a:ext>
            </a:extLst>
          </p:cNvPr>
          <p:cNvSpPr txBox="1"/>
          <p:nvPr/>
        </p:nvSpPr>
        <p:spPr>
          <a:xfrm>
            <a:off x="4184072" y="1797627"/>
            <a:ext cx="381692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Arduino UNO, C++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Vytvorená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vlastná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hardvérová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 piny 8-pinového konektora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PWM to 0–10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prevodník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Snímače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0–10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upravené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napäťovým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deličom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0–5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kalibrácia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signálových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ciest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kubickými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polynómami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9EB621-41C3-9FF6-8740-C6BC6FF99475}"/>
              </a:ext>
            </a:extLst>
          </p:cNvPr>
          <p:cNvSpPr txBox="1"/>
          <p:nvPr/>
        </p:nvSpPr>
        <p:spPr>
          <a:xfrm>
            <a:off x="8368144" y="1797627"/>
            <a:ext cx="381692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PLC Siemens S7-1200 G2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Priame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SM 1233 AI/AQ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spracované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rozsahu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0–10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rozsah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PLC: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0–27648 ↔ 0–10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Riadiaca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Cyclic Interrupt, Ts = 0,1 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Logovanie realizované do interných polí PLC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256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4B6EA-3D41-00F3-BEC2-6171B1060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PI </a:t>
            </a:r>
            <a:r>
              <a:rPr lang="en-US" sz="2800" dirty="0" err="1"/>
              <a:t>regulátor</a:t>
            </a:r>
            <a:r>
              <a:rPr lang="en-US" sz="2800" dirty="0"/>
              <a:t> pre </a:t>
            </a:r>
            <a:r>
              <a:rPr lang="en-US" sz="2800" dirty="0" err="1"/>
              <a:t>riadenie</a:t>
            </a:r>
            <a:r>
              <a:rPr lang="en-US" sz="2800" dirty="0"/>
              <a:t> v </a:t>
            </a:r>
            <a:r>
              <a:rPr lang="en-US" sz="2800" dirty="0" err="1"/>
              <a:t>okolí</a:t>
            </a:r>
            <a:r>
              <a:rPr lang="en-US" sz="2800" dirty="0"/>
              <a:t> </a:t>
            </a:r>
            <a:r>
              <a:rPr lang="en-US" sz="2800" dirty="0" err="1"/>
              <a:t>jedného</a:t>
            </a:r>
            <a:r>
              <a:rPr lang="en-US" sz="2800" dirty="0"/>
              <a:t> </a:t>
            </a:r>
            <a:r>
              <a:rPr lang="en-US" sz="2800" dirty="0" err="1"/>
              <a:t>pracovného</a:t>
            </a:r>
            <a:r>
              <a:rPr lang="en-US" sz="2800" dirty="0"/>
              <a:t> </a:t>
            </a:r>
            <a:r>
              <a:rPr lang="en-US" sz="2800" dirty="0" err="1"/>
              <a:t>bodu</a:t>
            </a:r>
            <a:endParaRPr lang="en-US"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869B33-64E6-FC9F-2250-F95919184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7/20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0B20DF-962F-A7E9-232A-41E4E1D60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02" y="1340440"/>
            <a:ext cx="6872140" cy="22907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A9B581-5277-9B41-E1B3-1620F07C8D16}"/>
              </a:ext>
            </a:extLst>
          </p:cNvPr>
          <p:cNvSpPr txBox="1"/>
          <p:nvPr/>
        </p:nvSpPr>
        <p:spPr>
          <a:xfrm>
            <a:off x="919114" y="3631153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19: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uzavretého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regulačného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obvodu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B45034-A592-0BD2-39F7-839ECA53E3A5}"/>
              </a:ext>
            </a:extLst>
          </p:cNvPr>
          <p:cNvSpPr txBox="1"/>
          <p:nvPr/>
        </p:nvSpPr>
        <p:spPr>
          <a:xfrm>
            <a:off x="8116297" y="167946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Paralelná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forma PI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AFD266-E30B-5435-AA88-02F807263085}"/>
              </a:ext>
            </a:extLst>
          </p:cNvPr>
          <p:cNvSpPr txBox="1"/>
          <p:nvPr/>
        </p:nvSpPr>
        <p:spPr>
          <a:xfrm>
            <a:off x="8096032" y="2807663"/>
            <a:ext cx="1896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D29596-5898-EF00-89FE-262E74D7E14D}"/>
              </a:ext>
            </a:extLst>
          </p:cNvPr>
          <p:cNvSpPr txBox="1"/>
          <p:nvPr/>
        </p:nvSpPr>
        <p:spPr>
          <a:xfrm>
            <a:off x="8116297" y="3858218"/>
            <a:ext cx="18761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Diskretizácia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D688F4-4323-2FB8-07EF-44093C48D7B8}"/>
              </a:ext>
            </a:extLst>
          </p:cNvPr>
          <p:cNvSpPr txBox="1"/>
          <p:nvPr/>
        </p:nvSpPr>
        <p:spPr>
          <a:xfrm>
            <a:off x="141402" y="4682874"/>
            <a:ext cx="3194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pidtune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67FE68-671C-0CF3-2C37-FCFAA7011ECE}"/>
                  </a:ext>
                </a:extLst>
              </p:cNvPr>
              <p:cNvSpPr txBox="1"/>
              <p:nvPr/>
            </p:nvSpPr>
            <p:spPr>
              <a:xfrm>
                <a:off x="141402" y="5120737"/>
                <a:ext cx="250350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=3.58,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=1.84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67FE68-671C-0CF3-2C37-FCFAA7011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402" y="5120737"/>
                <a:ext cx="2503506" cy="298415"/>
              </a:xfrm>
              <a:prstGeom prst="rect">
                <a:avLst/>
              </a:prstGeom>
              <a:blipFill>
                <a:blip r:embed="rId4"/>
                <a:stretch>
                  <a:fillRect l="-1703" r="-2190" b="-20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9B8203-27C9-35B7-68B4-2421C114EB94}"/>
                  </a:ext>
                </a:extLst>
              </p:cNvPr>
              <p:cNvSpPr txBox="1"/>
              <p:nvPr/>
            </p:nvSpPr>
            <p:spPr>
              <a:xfrm>
                <a:off x="141402" y="5575258"/>
                <a:ext cx="3194592" cy="5305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𝑜𝑟𝑜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21.21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+11.15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9B8203-27C9-35B7-68B4-2421C114EB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402" y="5575258"/>
                <a:ext cx="3194592" cy="5305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AC3054-EA48-BA7A-75A2-A893F4D99D3D}"/>
                  </a:ext>
                </a:extLst>
              </p:cNvPr>
              <p:cNvSpPr txBox="1"/>
              <p:nvPr/>
            </p:nvSpPr>
            <p:spPr>
              <a:xfrm>
                <a:off x="141402" y="6315254"/>
                <a:ext cx="44451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=−58.855,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=−0.1521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AC3054-EA48-BA7A-75A2-A893F4D99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402" y="6315254"/>
                <a:ext cx="4445128" cy="276999"/>
              </a:xfrm>
              <a:prstGeom prst="rect">
                <a:avLst/>
              </a:prstGeom>
              <a:blipFill>
                <a:blip r:embed="rId6"/>
                <a:stretch>
                  <a:fillRect l="-412" r="-1097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6F1B42-C81C-7F8D-2687-2C7D13FDA089}"/>
                  </a:ext>
                </a:extLst>
              </p:cNvPr>
              <p:cNvSpPr txBox="1"/>
              <p:nvPr/>
            </p:nvSpPr>
            <p:spPr>
              <a:xfrm>
                <a:off x="8124516" y="2060746"/>
                <a:ext cx="1554208" cy="5167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6F1B42-C81C-7F8D-2687-2C7D13FDA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2060746"/>
                <a:ext cx="1554208" cy="51674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F53361-4E93-6D5A-69F9-392A8584FBDC}"/>
                  </a:ext>
                </a:extLst>
              </p:cNvPr>
              <p:cNvSpPr txBox="1"/>
              <p:nvPr/>
            </p:nvSpPr>
            <p:spPr>
              <a:xfrm>
                <a:off x="8124516" y="3061878"/>
                <a:ext cx="2905347" cy="619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F53361-4E93-6D5A-69F9-392A8584FB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3061878"/>
                <a:ext cx="2905347" cy="6194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7AD437-2B38-F04A-116E-E3FEA61EAB66}"/>
                  </a:ext>
                </a:extLst>
              </p:cNvPr>
              <p:cNvSpPr txBox="1"/>
              <p:nvPr/>
            </p:nvSpPr>
            <p:spPr>
              <a:xfrm>
                <a:off x="8124516" y="4319471"/>
                <a:ext cx="2503506" cy="8524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b="0" dirty="0"/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7AD437-2B38-F04A-116E-E3FEA61EA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4319471"/>
                <a:ext cx="2503506" cy="852413"/>
              </a:xfrm>
              <a:prstGeom prst="rect">
                <a:avLst/>
              </a:prstGeom>
              <a:blipFill>
                <a:blip r:embed="rId9"/>
                <a:stretch>
                  <a:fillRect l="-3415" t="-8633" r="-1220" b="-6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725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4798C-C002-31FF-1485-33BD064FF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Pseudokód</a:t>
            </a:r>
            <a:r>
              <a:rPr lang="en-US" dirty="0"/>
              <a:t> a </a:t>
            </a:r>
            <a:r>
              <a:rPr lang="en-US" dirty="0" err="1"/>
              <a:t>Implementácia</a:t>
            </a:r>
            <a:r>
              <a:rPr lang="en-US" dirty="0"/>
              <a:t> MATLAB/Simulink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573BCC-A6A9-D21B-9496-A833FA2BD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8/20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40E21E-03E5-6BD9-4DDF-4E7714484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62" y="1749196"/>
            <a:ext cx="4344006" cy="30579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8C9EDB-EB97-7786-AD82-C63C6A6C6F71}"/>
              </a:ext>
            </a:extLst>
          </p:cNvPr>
          <p:cNvSpPr txBox="1"/>
          <p:nvPr/>
        </p:nvSpPr>
        <p:spPr>
          <a:xfrm>
            <a:off x="838200" y="4934088"/>
            <a:ext cx="41674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Pseudokód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diskrétnej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realizácie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saturáciou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8E2483-4757-0D4D-CF6E-601724C1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6973" y="1743328"/>
            <a:ext cx="6400800" cy="315896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7C7B54-A36E-340F-540B-C484E6CDFC66}"/>
              </a:ext>
            </a:extLst>
          </p:cNvPr>
          <p:cNvSpPr txBox="1"/>
          <p:nvPr/>
        </p:nvSpPr>
        <p:spPr>
          <a:xfrm>
            <a:off x="6770803" y="4902291"/>
            <a:ext cx="403231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MATLAB Function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spätnou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väzbou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5770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DF67-0C0A-F4DB-9C2F-197117E26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Implementácia: mikrokontrolér a jazyk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E14542-3FDE-8F27-A730-46AD469F3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9/20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0351A0-ABF3-FB45-2A60-1F7811AC9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98529"/>
            <a:ext cx="12192000" cy="7399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856B3B-D222-A185-F26C-6AFA599E9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308" y="1504682"/>
            <a:ext cx="4307343" cy="32696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155848-5E78-3F42-BB1A-595D55A35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2349" y="1504682"/>
            <a:ext cx="2747563" cy="263661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D4CCD34-6EF3-B055-B45B-1F1CF5E665C2}"/>
              </a:ext>
            </a:extLst>
          </p:cNvPr>
          <p:cNvSpPr txBox="1"/>
          <p:nvPr/>
        </p:nvSpPr>
        <p:spPr>
          <a:xfrm>
            <a:off x="700418" y="4141298"/>
            <a:ext cx="4211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Výpis kódu 11: Inicializácia parametrov PI regulátora v jazyku C++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CC7A49-0F16-6D7C-2C41-9367DF790B1C}"/>
              </a:ext>
            </a:extLst>
          </p:cNvPr>
          <p:cNvSpPr txBox="1"/>
          <p:nvPr/>
        </p:nvSpPr>
        <p:spPr>
          <a:xfrm>
            <a:off x="6452308" y="4787629"/>
            <a:ext cx="4211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Hlavná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regulačná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</a:t>
            </a:r>
          </a:p>
        </p:txBody>
      </p:sp>
    </p:spTree>
    <p:extLst>
      <p:ext uri="{BB962C8B-B14F-4D97-AF65-F5344CB8AC3E}">
        <p14:creationId xmlns:p14="http://schemas.microsoft.com/office/powerpoint/2010/main" val="208826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36DD6-449E-E649-66A7-5274E6217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BR" sz="3200" dirty="0"/>
              <a:t>Implementácia: programovateľný logický automat (PLC)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6B8A35-1A2F-A23D-8D24-21C84E32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10/20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EA2184-A236-60FC-4A0B-2BF851028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06393"/>
            <a:ext cx="3846607" cy="37234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AF7ABE-33A1-46AB-AEDF-4B9B8B1475FE}"/>
              </a:ext>
            </a:extLst>
          </p:cNvPr>
          <p:cNvSpPr txBox="1"/>
          <p:nvPr/>
        </p:nvSpPr>
        <p:spPr>
          <a:xfrm>
            <a:off x="520517" y="5329799"/>
            <a:ext cx="46544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FB_PI_TS05 v PLC Siemens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2D409D-E980-F306-B78E-68AFC0B8D6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1947" y="1606393"/>
            <a:ext cx="6012975" cy="32422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8B6E18A-4212-FE91-1329-C7BB84E31172}"/>
              </a:ext>
            </a:extLst>
          </p:cNvPr>
          <p:cNvSpPr txBox="1"/>
          <p:nvPr/>
        </p:nvSpPr>
        <p:spPr>
          <a:xfrm>
            <a:off x="6096000" y="4848683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časovača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prostredí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TIA Portal</a:t>
            </a:r>
          </a:p>
        </p:txBody>
      </p:sp>
    </p:spTree>
    <p:extLst>
      <p:ext uri="{BB962C8B-B14F-4D97-AF65-F5344CB8AC3E}">
        <p14:creationId xmlns:p14="http://schemas.microsoft.com/office/powerpoint/2010/main" val="1919210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1921A-D79E-C5BE-AF09-638783BFD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Porovnanie</a:t>
            </a:r>
            <a:r>
              <a:rPr lang="en-US" dirty="0"/>
              <a:t> </a:t>
            </a:r>
            <a:r>
              <a:rPr lang="en-US" dirty="0" err="1"/>
              <a:t>výsledkov</a:t>
            </a:r>
            <a:r>
              <a:rPr lang="en-US" dirty="0"/>
              <a:t> z </a:t>
            </a:r>
            <a:r>
              <a:rPr lang="en-US" dirty="0" err="1"/>
              <a:t>jednotlivých</a:t>
            </a:r>
            <a:r>
              <a:rPr lang="en-US" dirty="0"/>
              <a:t> </a:t>
            </a:r>
            <a:r>
              <a:rPr lang="en-US" dirty="0" err="1"/>
              <a:t>implementácií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284954-0396-317D-BF87-67EFE1F48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22080" y="6328060"/>
            <a:ext cx="2743200" cy="365125"/>
          </a:xfrm>
        </p:spPr>
        <p:txBody>
          <a:bodyPr/>
          <a:lstStyle/>
          <a:p>
            <a:r>
              <a:rPr lang="en-US" sz="1800" dirty="0"/>
              <a:t>11/20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CA6C95-DEF2-FCA9-6AC3-F1BFB41BD1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90340"/>
            <a:ext cx="11137900" cy="45202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E46643-6403-C7FF-CF32-56968E19B010}"/>
                  </a:ext>
                </a:extLst>
              </p:cNvPr>
              <p:cNvSpPr txBox="1"/>
              <p:nvPr/>
            </p:nvSpPr>
            <p:spPr>
              <a:xfrm>
                <a:off x="9296400" y="587434"/>
                <a:ext cx="2838277" cy="8309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=0.092899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=0.085426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=0.08576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E46643-6403-C7FF-CF32-56968E19B0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0" y="587434"/>
                <a:ext cx="2838277" cy="830997"/>
              </a:xfrm>
              <a:prstGeom prst="rect">
                <a:avLst/>
              </a:prstGeom>
              <a:blipFill>
                <a:blip r:embed="rId3"/>
                <a:stretch>
                  <a:fillRect l="-2790" b="-3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3775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9A76F-E20D-BD33-353C-11B79950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Riadiaci</a:t>
            </a:r>
            <a:r>
              <a:rPr lang="en-US" sz="2400" dirty="0"/>
              <a:t> </a:t>
            </a:r>
            <a:r>
              <a:rPr lang="en-US" sz="2400" dirty="0" err="1"/>
              <a:t>systém</a:t>
            </a:r>
            <a:r>
              <a:rPr lang="en-US" sz="2400" dirty="0"/>
              <a:t> s </a:t>
            </a:r>
            <a:r>
              <a:rPr lang="en-US" sz="2400" dirty="0" err="1"/>
              <a:t>prepínaním</a:t>
            </a:r>
            <a:r>
              <a:rPr lang="en-US" sz="2400" dirty="0"/>
              <a:t> pre </a:t>
            </a:r>
            <a:r>
              <a:rPr lang="en-US" sz="2400" dirty="0" err="1"/>
              <a:t>celý</a:t>
            </a:r>
            <a:r>
              <a:rPr lang="en-US" sz="2400" dirty="0"/>
              <a:t> </a:t>
            </a:r>
            <a:r>
              <a:rPr lang="en-US" sz="2400" dirty="0" err="1"/>
              <a:t>rozsah</a:t>
            </a:r>
            <a:r>
              <a:rPr lang="en-US" sz="2400" dirty="0"/>
              <a:t> </a:t>
            </a:r>
            <a:r>
              <a:rPr lang="en-US" sz="2400" dirty="0" err="1"/>
              <a:t>výstupnej</a:t>
            </a:r>
            <a:r>
              <a:rPr lang="en-US" sz="2400" dirty="0"/>
              <a:t> </a:t>
            </a:r>
            <a:r>
              <a:rPr lang="en-US" sz="2400" dirty="0" err="1"/>
              <a:t>veličiny</a:t>
            </a:r>
            <a:r>
              <a:rPr lang="en-US" sz="2400" dirty="0"/>
              <a:t> </a:t>
            </a:r>
            <a:r>
              <a:rPr lang="en-US" sz="2400" dirty="0" err="1"/>
              <a:t>riadeného</a:t>
            </a:r>
            <a:r>
              <a:rPr lang="en-US" sz="2400" dirty="0"/>
              <a:t> </a:t>
            </a:r>
            <a:r>
              <a:rPr lang="en-US" sz="2400" dirty="0" err="1"/>
              <a:t>systému</a:t>
            </a: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D343F3-DD25-EDB8-4D43-A8FC2DE8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2000" dirty="0"/>
              <a:t>12/20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310743-F032-DFAF-41FF-6276C0354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8431"/>
            <a:ext cx="5731497" cy="3166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293816-B3D7-A2EA-1F6A-80934694E860}"/>
              </a:ext>
            </a:extLst>
          </p:cNvPr>
          <p:cNvSpPr txBox="1"/>
          <p:nvPr/>
        </p:nvSpPr>
        <p:spPr>
          <a:xfrm>
            <a:off x="238027" y="4584958"/>
            <a:ext cx="47110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globálnym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lokálnym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18F91FF-ABDF-64C0-F74F-7D70D36C35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2750865"/>
                  </p:ext>
                </p:extLst>
              </p:nvPr>
            </p:nvGraphicFramePr>
            <p:xfrm>
              <a:off x="5812148" y="2101571"/>
              <a:ext cx="6096699" cy="209994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0804">
                      <a:extLst>
                        <a:ext uri="{9D8B030D-6E8A-4147-A177-3AD203B41FA5}">
                          <a16:colId xmlns:a16="http://schemas.microsoft.com/office/drawing/2014/main" val="3881826309"/>
                        </a:ext>
                      </a:extLst>
                    </a:gridCol>
                    <a:gridCol w="905193">
                      <a:extLst>
                        <a:ext uri="{9D8B030D-6E8A-4147-A177-3AD203B41FA5}">
                          <a16:colId xmlns:a16="http://schemas.microsoft.com/office/drawing/2014/main" val="806106367"/>
                        </a:ext>
                      </a:extLst>
                    </a:gridCol>
                    <a:gridCol w="2357628">
                      <a:extLst>
                        <a:ext uri="{9D8B030D-6E8A-4147-A177-3AD203B41FA5}">
                          <a16:colId xmlns:a16="http://schemas.microsoft.com/office/drawing/2014/main" val="3788249744"/>
                        </a:ext>
                      </a:extLst>
                    </a:gridCol>
                    <a:gridCol w="2243074">
                      <a:extLst>
                        <a:ext uri="{9D8B030D-6E8A-4147-A177-3AD203B41FA5}">
                          <a16:colId xmlns:a16="http://schemas.microsoft.com/office/drawing/2014/main" val="38076266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𝒑𝒓𝒊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𝑽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PI parameter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18679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4.4884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0.41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=2.77,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=1.48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451226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6.3412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=3.58,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=1.84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12359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7.7441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0.18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=1.83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=2.2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9000102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18F91FF-ABDF-64C0-F74F-7D70D36C35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2750865"/>
                  </p:ext>
                </p:extLst>
              </p:nvPr>
            </p:nvGraphicFramePr>
            <p:xfrm>
              <a:off x="5812148" y="2101571"/>
              <a:ext cx="6096699" cy="209994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0804">
                      <a:extLst>
                        <a:ext uri="{9D8B030D-6E8A-4147-A177-3AD203B41FA5}">
                          <a16:colId xmlns:a16="http://schemas.microsoft.com/office/drawing/2014/main" val="3881826309"/>
                        </a:ext>
                      </a:extLst>
                    </a:gridCol>
                    <a:gridCol w="905193">
                      <a:extLst>
                        <a:ext uri="{9D8B030D-6E8A-4147-A177-3AD203B41FA5}">
                          <a16:colId xmlns:a16="http://schemas.microsoft.com/office/drawing/2014/main" val="806106367"/>
                        </a:ext>
                      </a:extLst>
                    </a:gridCol>
                    <a:gridCol w="2357628">
                      <a:extLst>
                        <a:ext uri="{9D8B030D-6E8A-4147-A177-3AD203B41FA5}">
                          <a16:colId xmlns:a16="http://schemas.microsoft.com/office/drawing/2014/main" val="3788249744"/>
                        </a:ext>
                      </a:extLst>
                    </a:gridCol>
                    <a:gridCol w="2243074">
                      <a:extLst>
                        <a:ext uri="{9D8B030D-6E8A-4147-A177-3AD203B41FA5}">
                          <a16:colId xmlns:a16="http://schemas.microsoft.com/office/drawing/2014/main" val="3807626669"/>
                        </a:ext>
                      </a:extLst>
                    </a:gridCol>
                  </a:tblGrid>
                  <a:tr h="39039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31" t="-7813" r="-936082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5772" t="-7813" r="-509396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7813" r="-96124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PI parameter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1867932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4.4884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107813" r="-96124" b="-3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107813" r="-1087" b="-343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5122668"/>
                      </a:ext>
                    </a:extLst>
                  </a:tr>
                  <a:tr h="66128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6.3412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122018" r="-96124" b="-10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122018" r="-1087" b="-1018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2359022"/>
                      </a:ext>
                    </a:extLst>
                  </a:tr>
                  <a:tr h="66128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7.7441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222018" r="-96124" b="-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222018" r="-1087" b="-18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000102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CBE0576-2DB0-0A1E-7034-2A89F7E12E4C}"/>
              </a:ext>
            </a:extLst>
          </p:cNvPr>
          <p:cNvSpPr txBox="1"/>
          <p:nvPr/>
        </p:nvSpPr>
        <p:spPr>
          <a:xfrm>
            <a:off x="6161987" y="4201516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prenosové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8262261-8EF0-B0C6-BFEF-113342F7B195}"/>
                  </a:ext>
                </a:extLst>
              </p:cNvPr>
              <p:cNvSpPr txBox="1"/>
              <p:nvPr/>
            </p:nvSpPr>
            <p:spPr>
              <a:xfrm>
                <a:off x="5731497" y="5143258"/>
                <a:ext cx="1357808" cy="3919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Filter pre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8262261-8EF0-B0C6-BFEF-113342F7B1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497" y="5143258"/>
                <a:ext cx="1357808" cy="391902"/>
              </a:xfrm>
              <a:prstGeom prst="rect">
                <a:avLst/>
              </a:prstGeom>
              <a:blipFill>
                <a:blip r:embed="rId4"/>
                <a:stretch>
                  <a:fillRect l="-3587" t="-9375" r="-1345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FBF4DB-0142-3314-3593-C7CFE4B4361F}"/>
                  </a:ext>
                </a:extLst>
              </p:cNvPr>
              <p:cNvSpPr txBox="1"/>
              <p:nvPr/>
            </p:nvSpPr>
            <p:spPr>
              <a:xfrm>
                <a:off x="5812148" y="1481493"/>
                <a:ext cx="323550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FBF4DB-0142-3314-3593-C7CFE4B436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2148" y="1481493"/>
                <a:ext cx="3235501" cy="298415"/>
              </a:xfrm>
              <a:prstGeom prst="rect">
                <a:avLst/>
              </a:prstGeom>
              <a:blipFill>
                <a:blip r:embed="rId5"/>
                <a:stretch>
                  <a:fillRect l="-1130" r="-377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1EBB7A-3D36-6FE3-A7FC-4FCC2782BFCE}"/>
                  </a:ext>
                </a:extLst>
              </p:cNvPr>
              <p:cNvSpPr txBox="1"/>
              <p:nvPr/>
            </p:nvSpPr>
            <p:spPr>
              <a:xfrm>
                <a:off x="5731497" y="5601705"/>
                <a:ext cx="2021836" cy="586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(10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1EBB7A-3D36-6FE3-A7FC-4FCC2782B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497" y="5601705"/>
                <a:ext cx="2021836" cy="586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4330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4100E-C7CE-0419-504C-89CF757F4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Zákon</a:t>
            </a:r>
            <a:r>
              <a:rPr lang="en-US" dirty="0"/>
              <a:t> </a:t>
            </a:r>
            <a:r>
              <a:rPr lang="en-US" dirty="0" err="1"/>
              <a:t>riadenia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C947CC-5F02-79FA-D46E-330C4333A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13/20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775FA1-D590-C495-5148-8085B2AFE86C}"/>
              </a:ext>
            </a:extLst>
          </p:cNvPr>
          <p:cNvSpPr txBox="1"/>
          <p:nvPr/>
        </p:nvSpPr>
        <p:spPr>
          <a:xfrm>
            <a:off x="838200" y="156871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Binárne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aktivačné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0199E7-C890-0C01-73D1-6219DB569658}"/>
              </a:ext>
            </a:extLst>
          </p:cNvPr>
          <p:cNvSpPr txBox="1"/>
          <p:nvPr/>
        </p:nvSpPr>
        <p:spPr>
          <a:xfrm>
            <a:off x="838200" y="2681082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Chyby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E4B54F-4D45-1650-AB47-7DC5BEECC137}"/>
              </a:ext>
            </a:extLst>
          </p:cNvPr>
          <p:cNvSpPr txBox="1"/>
          <p:nvPr/>
        </p:nvSpPr>
        <p:spPr>
          <a:xfrm>
            <a:off x="838200" y="4178625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50997B-4482-68CE-389C-5DE89B2C1211}"/>
              </a:ext>
            </a:extLst>
          </p:cNvPr>
          <p:cNvSpPr txBox="1"/>
          <p:nvPr/>
        </p:nvSpPr>
        <p:spPr>
          <a:xfrm>
            <a:off x="7564127" y="64793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381689-46B9-8817-5A9E-E758194649B7}"/>
              </a:ext>
            </a:extLst>
          </p:cNvPr>
          <p:cNvSpPr txBox="1"/>
          <p:nvPr/>
        </p:nvSpPr>
        <p:spPr>
          <a:xfrm>
            <a:off x="7189493" y="2023241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Počiatočné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integrátorov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CCC3CB-AB73-8A87-90B0-17F00F6695AE}"/>
              </a:ext>
            </a:extLst>
          </p:cNvPr>
          <p:cNvSpPr txBox="1"/>
          <p:nvPr/>
        </p:nvSpPr>
        <p:spPr>
          <a:xfrm>
            <a:off x="5718330" y="3993200"/>
            <a:ext cx="6829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Prepnutie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A02091-C95D-72AE-1F92-41966E361534}"/>
              </a:ext>
            </a:extLst>
          </p:cNvPr>
          <p:cNvSpPr txBox="1"/>
          <p:nvPr/>
        </p:nvSpPr>
        <p:spPr>
          <a:xfrm>
            <a:off x="5718330" y="450699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ustálený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aspoň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25 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posledných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30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hodnôt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nachádza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intervale: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0A3890-3E22-582B-96AC-F48683441C92}"/>
                  </a:ext>
                </a:extLst>
              </p:cNvPr>
              <p:cNvSpPr txBox="1"/>
              <p:nvPr/>
            </p:nvSpPr>
            <p:spPr>
              <a:xfrm>
                <a:off x="904875" y="1912342"/>
                <a:ext cx="1372427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∈{0, 1}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0A3890-3E22-582B-96AC-F48683441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1912342"/>
                <a:ext cx="1372427" cy="299569"/>
              </a:xfrm>
              <a:prstGeom prst="rect">
                <a:avLst/>
              </a:prstGeom>
              <a:blipFill>
                <a:blip r:embed="rId2"/>
                <a:stretch>
                  <a:fillRect l="-4425" t="-2041" r="-3982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A341BD-DA96-1623-7FBE-CA95B69172D5}"/>
                  </a:ext>
                </a:extLst>
              </p:cNvPr>
              <p:cNvSpPr txBox="1"/>
              <p:nvPr/>
            </p:nvSpPr>
            <p:spPr>
              <a:xfrm>
                <a:off x="897228" y="3013168"/>
                <a:ext cx="2931123" cy="3181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𝑝𝑏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A341BD-DA96-1623-7FBE-CA95B69172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28" y="3013168"/>
                <a:ext cx="2931123" cy="318164"/>
              </a:xfrm>
              <a:prstGeom prst="rect">
                <a:avLst/>
              </a:prstGeom>
              <a:blipFill>
                <a:blip r:embed="rId3"/>
                <a:stretch>
                  <a:fillRect l="-2079" r="-208"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F12AC4-DF11-FC43-ADA2-37CD3BA823A0}"/>
                  </a:ext>
                </a:extLst>
              </p:cNvPr>
              <p:cNvSpPr txBox="1"/>
              <p:nvPr/>
            </p:nvSpPr>
            <p:spPr>
              <a:xfrm>
                <a:off x="904875" y="3436120"/>
                <a:ext cx="3098349" cy="5317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(10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+1)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F12AC4-DF11-FC43-ADA2-37CD3BA82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3436120"/>
                <a:ext cx="3098349" cy="5317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78F072-0504-D1D4-3939-DC8CF8333F11}"/>
                  </a:ext>
                </a:extLst>
              </p:cNvPr>
              <p:cNvSpPr txBox="1"/>
              <p:nvPr/>
            </p:nvSpPr>
            <p:spPr>
              <a:xfrm>
                <a:off x="897228" y="4552226"/>
                <a:ext cx="247144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78F072-0504-D1D4-3939-DC8CF8333F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28" y="4552226"/>
                <a:ext cx="2471446" cy="298415"/>
              </a:xfrm>
              <a:prstGeom prst="rect">
                <a:avLst/>
              </a:prstGeom>
              <a:blipFill>
                <a:blip r:embed="rId5"/>
                <a:stretch>
                  <a:fillRect l="-246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FAC0E5-FE1D-9443-6EDF-6CEE8F22B4C1}"/>
                  </a:ext>
                </a:extLst>
              </p:cNvPr>
              <p:cNvSpPr txBox="1"/>
              <p:nvPr/>
            </p:nvSpPr>
            <p:spPr>
              <a:xfrm>
                <a:off x="904875" y="4946295"/>
                <a:ext cx="2119683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FAC0E5-FE1D-9443-6EDF-6CEE8F22B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4946295"/>
                <a:ext cx="2119683" cy="299569"/>
              </a:xfrm>
              <a:prstGeom prst="rect">
                <a:avLst/>
              </a:prstGeom>
              <a:blipFill>
                <a:blip r:embed="rId6"/>
                <a:stretch>
                  <a:fillRect l="-287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D42ECF6-0CCE-32EF-759E-41A7AA5D3F14}"/>
                  </a:ext>
                </a:extLst>
              </p:cNvPr>
              <p:cNvSpPr txBox="1"/>
              <p:nvPr/>
            </p:nvSpPr>
            <p:spPr>
              <a:xfrm>
                <a:off x="5870199" y="1013105"/>
                <a:ext cx="4806252" cy="7194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𝑝𝑏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  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D42ECF6-0CCE-32EF-759E-41A7AA5D3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0199" y="1013105"/>
                <a:ext cx="4806252" cy="7194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D615AC7-257E-B6E4-29D4-5E7D76E4615F}"/>
                  </a:ext>
                </a:extLst>
              </p:cNvPr>
              <p:cNvSpPr txBox="1"/>
              <p:nvPr/>
            </p:nvSpPr>
            <p:spPr>
              <a:xfrm>
                <a:off x="6797507" y="2495960"/>
                <a:ext cx="3626185" cy="6451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𝑝𝑏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,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D615AC7-257E-B6E4-29D4-5E7D76E46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07" y="2495960"/>
                <a:ext cx="3626185" cy="64511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4DD588-7858-255D-7BA6-42E857748DE1}"/>
                  </a:ext>
                </a:extLst>
              </p:cNvPr>
              <p:cNvSpPr txBox="1"/>
              <p:nvPr/>
            </p:nvSpPr>
            <p:spPr>
              <a:xfrm>
                <a:off x="6797507" y="3165708"/>
                <a:ext cx="6829424" cy="6974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,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4DD588-7858-255D-7BA6-42E857748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07" y="3165708"/>
                <a:ext cx="6829424" cy="6974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4A8E75-0411-8E49-6E2D-750593A1C1A1}"/>
                  </a:ext>
                </a:extLst>
              </p:cNvPr>
              <p:cNvSpPr txBox="1"/>
              <p:nvPr/>
            </p:nvSpPr>
            <p:spPr>
              <a:xfrm>
                <a:off x="5770653" y="5209825"/>
                <a:ext cx="2502672" cy="3180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−0.03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+0.03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4A8E75-0411-8E49-6E2D-750593A1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0653" y="5209825"/>
                <a:ext cx="2502672" cy="318036"/>
              </a:xfrm>
              <a:prstGeom prst="rect">
                <a:avLst/>
              </a:prstGeom>
              <a:blipFill>
                <a:blip r:embed="rId10"/>
                <a:stretch>
                  <a:fillRect b="-21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606B22-9F7D-AFC1-0454-2F4FA026A9F2}"/>
                  </a:ext>
                </a:extLst>
              </p:cNvPr>
              <p:cNvSpPr txBox="1"/>
              <p:nvPr/>
            </p:nvSpPr>
            <p:spPr>
              <a:xfrm>
                <a:off x="5768218" y="5631718"/>
                <a:ext cx="3591817" cy="7788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𝑝𝑏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𝑝𝑏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606B22-9F7D-AFC1-0454-2F4FA026A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8218" y="5631718"/>
                <a:ext cx="3591817" cy="77880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6222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F2D9E1-F788-783D-B5C1-2D44DF21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14/20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777DD8-4242-F846-6677-50F0BC3CC0C8}"/>
              </a:ext>
            </a:extLst>
          </p:cNvPr>
          <p:cNvSpPr/>
          <p:nvPr/>
        </p:nvSpPr>
        <p:spPr>
          <a:xfrm>
            <a:off x="0" y="0"/>
            <a:ext cx="12192000" cy="141843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64EA77C-592D-4EC3-DAAB-0456FB812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95" y="0"/>
            <a:ext cx="6139995" cy="685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473C0E0-94E0-E725-CA7B-EC92C1551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9169" y="0"/>
            <a:ext cx="7089662" cy="431902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747371C-D745-F32B-A257-66E6719E4C39}"/>
              </a:ext>
            </a:extLst>
          </p:cNvPr>
          <p:cNvSpPr txBox="1"/>
          <p:nvPr/>
        </p:nvSpPr>
        <p:spPr>
          <a:xfrm>
            <a:off x="5599169" y="5894685"/>
            <a:ext cx="48080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PLC Siemens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0FF7A9-C914-D1EA-3D99-218B444E25D9}"/>
              </a:ext>
            </a:extLst>
          </p:cNvPr>
          <p:cNvSpPr txBox="1"/>
          <p:nvPr/>
        </p:nvSpPr>
        <p:spPr>
          <a:xfrm>
            <a:off x="7139666" y="4319025"/>
            <a:ext cx="45555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Obr. 37: Detail regulácie v okolí pracovného bodu pri implementácii algoritmu v PLC Siemens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1535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3F564-7A28-E09E-CD57-32CA08636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Porovnanie</a:t>
            </a:r>
            <a:r>
              <a:rPr lang="en-US" dirty="0"/>
              <a:t> </a:t>
            </a:r>
            <a:r>
              <a:rPr lang="en-US" dirty="0" err="1"/>
              <a:t>výsledkov</a:t>
            </a:r>
            <a:r>
              <a:rPr lang="en-US" dirty="0"/>
              <a:t> z </a:t>
            </a:r>
            <a:r>
              <a:rPr lang="en-US" dirty="0" err="1"/>
              <a:t>jednotlivých</a:t>
            </a:r>
            <a:r>
              <a:rPr lang="en-US" dirty="0"/>
              <a:t> </a:t>
            </a:r>
            <a:r>
              <a:rPr lang="en-US" dirty="0" err="1"/>
              <a:t>implementácií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AD273D-6AAE-9F22-D3A2-E9C5E0DB2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15/20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8AAE30-79A6-2E87-EB95-82BB3C23DB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791" y="1593182"/>
            <a:ext cx="10000445" cy="50776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F0285D-C785-BAAC-902E-7F56B9E51AC7}"/>
                  </a:ext>
                </a:extLst>
              </p:cNvPr>
              <p:cNvSpPr txBox="1"/>
              <p:nvPr/>
            </p:nvSpPr>
            <p:spPr>
              <a:xfrm>
                <a:off x="9218948" y="286298"/>
                <a:ext cx="60960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=0.497536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=0.405534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=0.456926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F0285D-C785-BAAC-902E-7F56B9E51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8948" y="286298"/>
                <a:ext cx="609600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062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80B6E-2570-4097-0195-161CE0A70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/>
              <a:t>Adaptívne</a:t>
            </a:r>
            <a:r>
              <a:rPr lang="en-US" sz="3200" dirty="0"/>
              <a:t> </a:t>
            </a:r>
            <a:r>
              <a:rPr lang="en-US" sz="3200" dirty="0" err="1"/>
              <a:t>riadenie</a:t>
            </a:r>
            <a:r>
              <a:rPr lang="en-US" sz="3200" dirty="0"/>
              <a:t> s </a:t>
            </a:r>
            <a:r>
              <a:rPr lang="en-US" sz="3200" dirty="0" err="1"/>
              <a:t>referenčným</a:t>
            </a:r>
            <a:r>
              <a:rPr lang="en-US" sz="3200" dirty="0"/>
              <a:t> </a:t>
            </a:r>
            <a:r>
              <a:rPr lang="en-US" sz="3200" dirty="0" err="1"/>
              <a:t>modelom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4CE24D-CA76-DE71-BB9E-AE286A520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16/20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2A177C-588B-8A09-71B3-5BA79A0C01FC}"/>
              </a:ext>
            </a:extLst>
          </p:cNvPr>
          <p:cNvSpPr txBox="1"/>
          <p:nvPr/>
        </p:nvSpPr>
        <p:spPr>
          <a:xfrm>
            <a:off x="838200" y="1418431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Referenčný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3F6F46-00B3-8B12-BCF1-F2900A0C98A2}"/>
              </a:ext>
            </a:extLst>
          </p:cNvPr>
          <p:cNvSpPr txBox="1"/>
          <p:nvPr/>
        </p:nvSpPr>
        <p:spPr>
          <a:xfrm>
            <a:off x="838199" y="2351676"/>
            <a:ext cx="32250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E2FA96-8C5D-6C5A-0BE7-AC97CB887FAB}"/>
              </a:ext>
            </a:extLst>
          </p:cNvPr>
          <p:cNvSpPr txBox="1"/>
          <p:nvPr/>
        </p:nvSpPr>
        <p:spPr>
          <a:xfrm>
            <a:off x="838200" y="4561035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Chyba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sledovania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C3E7A3-FC3C-49DD-1780-0FF243D7E923}"/>
              </a:ext>
            </a:extLst>
          </p:cNvPr>
          <p:cNvSpPr txBox="1"/>
          <p:nvPr/>
        </p:nvSpPr>
        <p:spPr>
          <a:xfrm>
            <a:off x="838200" y="5458083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vector: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CE2E2C-67E9-8F9F-D9B7-2F5B59E2EDE3}"/>
              </a:ext>
            </a:extLst>
          </p:cNvPr>
          <p:cNvSpPr txBox="1"/>
          <p:nvPr/>
        </p:nvSpPr>
        <p:spPr>
          <a:xfrm>
            <a:off x="7267372" y="133067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CBA84B-0B1D-D9CF-D0C3-B5CDC5FE8672}"/>
              </a:ext>
            </a:extLst>
          </p:cNvPr>
          <p:cNvSpPr txBox="1"/>
          <p:nvPr/>
        </p:nvSpPr>
        <p:spPr>
          <a:xfrm>
            <a:off x="7267372" y="2323178"/>
            <a:ext cx="6780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Adaptačný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E1F70F-44E0-1467-CEE2-C85FE65CEC7F}"/>
              </a:ext>
            </a:extLst>
          </p:cNvPr>
          <p:cNvSpPr txBox="1"/>
          <p:nvPr/>
        </p:nvSpPr>
        <p:spPr>
          <a:xfrm>
            <a:off x="7267372" y="4386540"/>
            <a:ext cx="7022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Diskrétna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aktualizácia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5FC40D-1CB9-F5C8-6C7F-C4533D2BF9E8}"/>
              </a:ext>
            </a:extLst>
          </p:cNvPr>
          <p:cNvSpPr txBox="1"/>
          <p:nvPr/>
        </p:nvSpPr>
        <p:spPr>
          <a:xfrm>
            <a:off x="838200" y="3553774"/>
            <a:ext cx="7082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Numerická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derivácia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3B30E-2AA7-1F5B-A895-045FFFF6D261}"/>
                  </a:ext>
                </a:extLst>
              </p:cNvPr>
              <p:cNvSpPr txBox="1"/>
              <p:nvPr/>
            </p:nvSpPr>
            <p:spPr>
              <a:xfrm>
                <a:off x="923609" y="1783423"/>
                <a:ext cx="2205476" cy="576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+20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3B30E-2AA7-1F5B-A895-045FFFF6D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1783423"/>
                <a:ext cx="2205476" cy="576761"/>
              </a:xfrm>
              <a:prstGeom prst="rect">
                <a:avLst/>
              </a:prstGeom>
              <a:blipFill>
                <a:blip r:embed="rId2"/>
                <a:stretch>
                  <a:fillRect l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6F9244-5ABB-D134-FCC5-18590E729D8E}"/>
                  </a:ext>
                </a:extLst>
              </p:cNvPr>
              <p:cNvSpPr txBox="1"/>
              <p:nvPr/>
            </p:nvSpPr>
            <p:spPr>
              <a:xfrm>
                <a:off x="923609" y="2736819"/>
                <a:ext cx="2126864" cy="8952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𝑝𝑏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6F9244-5ABB-D134-FCC5-18590E729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2736819"/>
                <a:ext cx="2126864" cy="895245"/>
              </a:xfrm>
              <a:prstGeom prst="rect">
                <a:avLst/>
              </a:prstGeom>
              <a:blipFill>
                <a:blip r:embed="rId3"/>
                <a:stretch>
                  <a:fillRect l="-4023" r="-2874" b="-13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67DD0-FA1F-E1E4-0497-C0EB3059BB92}"/>
                  </a:ext>
                </a:extLst>
              </p:cNvPr>
              <p:cNvSpPr txBox="1"/>
              <p:nvPr/>
            </p:nvSpPr>
            <p:spPr>
              <a:xfrm>
                <a:off x="923609" y="3978183"/>
                <a:ext cx="2818207" cy="5828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−1)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67DD0-FA1F-E1E4-0497-C0EB3059B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3978183"/>
                <a:ext cx="2818207" cy="5828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6F7783-2114-F913-2FF8-C12E75201AAD}"/>
                  </a:ext>
                </a:extLst>
              </p:cNvPr>
              <p:cNvSpPr txBox="1"/>
              <p:nvPr/>
            </p:nvSpPr>
            <p:spPr>
              <a:xfrm>
                <a:off x="923609" y="5060161"/>
                <a:ext cx="226889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6F7783-2114-F913-2FF8-C12E75201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5060161"/>
                <a:ext cx="2268891" cy="276999"/>
              </a:xfrm>
              <a:prstGeom prst="rect">
                <a:avLst/>
              </a:prstGeom>
              <a:blipFill>
                <a:blip r:embed="rId5"/>
                <a:stretch>
                  <a:fillRect l="-2688" t="-2174" r="-1882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22F74C-05E6-265E-02E4-1E04149214F7}"/>
                  </a:ext>
                </a:extLst>
              </p:cNvPr>
              <p:cNvSpPr txBox="1"/>
              <p:nvPr/>
            </p:nvSpPr>
            <p:spPr>
              <a:xfrm>
                <a:off x="923609" y="5841106"/>
                <a:ext cx="1635383" cy="8803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22F74C-05E6-265E-02E4-1E0414921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5841106"/>
                <a:ext cx="1635383" cy="8803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083F84-612B-56D0-9103-9BF1A6FDFD09}"/>
                  </a:ext>
                </a:extLst>
              </p:cNvPr>
              <p:cNvSpPr txBox="1"/>
              <p:nvPr/>
            </p:nvSpPr>
            <p:spPr>
              <a:xfrm>
                <a:off x="7345984" y="1694307"/>
                <a:ext cx="2093586" cy="852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083F84-612B-56D0-9103-9BF1A6FDF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984" y="1694307"/>
                <a:ext cx="2093586" cy="852413"/>
              </a:xfrm>
              <a:prstGeom prst="rect">
                <a:avLst/>
              </a:prstGeom>
              <a:blipFill>
                <a:blip r:embed="rId7"/>
                <a:stretch>
                  <a:fillRect l="-3790" t="-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99F5B1-76A8-8A79-1253-8017A83FFB72}"/>
                  </a:ext>
                </a:extLst>
              </p:cNvPr>
              <p:cNvSpPr txBox="1"/>
              <p:nvPr/>
            </p:nvSpPr>
            <p:spPr>
              <a:xfrm>
                <a:off x="7349831" y="2607108"/>
                <a:ext cx="4179477" cy="22102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99F5B1-76A8-8A79-1253-8017A83FF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9831" y="2607108"/>
                <a:ext cx="4179477" cy="221028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8A6676-10FA-C390-2008-1E5843FFA32F}"/>
                  </a:ext>
                </a:extLst>
              </p:cNvPr>
              <p:cNvSpPr txBox="1"/>
              <p:nvPr/>
            </p:nvSpPr>
            <p:spPr>
              <a:xfrm>
                <a:off x="7345984" y="4858024"/>
                <a:ext cx="2613985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8A6676-10FA-C390-2008-1E5843FFA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984" y="4858024"/>
                <a:ext cx="2613985" cy="289823"/>
              </a:xfrm>
              <a:prstGeom prst="rect">
                <a:avLst/>
              </a:prstGeom>
              <a:blipFill>
                <a:blip r:embed="rId9"/>
                <a:stretch>
                  <a:fillRect l="-1632" t="-14894" r="-2797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34412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CB17D-5E91-C82A-545C-8E70A95F3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Výsledky</a:t>
            </a:r>
            <a:r>
              <a:rPr lang="en-US" dirty="0"/>
              <a:t> MATLAB/Simulink a PLC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DB8294-7F49-02B4-02F2-F40FDD49A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38912"/>
            <a:ext cx="2743200" cy="365125"/>
          </a:xfrm>
        </p:spPr>
        <p:txBody>
          <a:bodyPr/>
          <a:lstStyle/>
          <a:p>
            <a:r>
              <a:rPr lang="en-US" sz="1800" dirty="0"/>
              <a:t>17/20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CA78B-E3C9-BB58-9916-30D49490DC36}"/>
              </a:ext>
            </a:extLst>
          </p:cNvPr>
          <p:cNvSpPr txBox="1"/>
          <p:nvPr/>
        </p:nvSpPr>
        <p:spPr>
          <a:xfrm>
            <a:off x="378715" y="5892581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MATLAB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559529-4E73-DDAB-2D68-428651BF8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2927" y="1418430"/>
            <a:ext cx="6293846" cy="44741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A001B3-1F36-296F-414D-6A63ADAF3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7346" y="1418430"/>
            <a:ext cx="6293845" cy="44741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BCD7F6F-2B2B-04B4-F6A2-7BECCFC7696A}"/>
              </a:ext>
            </a:extLst>
          </p:cNvPr>
          <p:cNvSpPr txBox="1"/>
          <p:nvPr/>
        </p:nvSpPr>
        <p:spPr>
          <a:xfrm>
            <a:off x="5894270" y="5892580"/>
            <a:ext cx="65105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Siemens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D9431BD-D660-94B7-137B-53CCD8E0875B}"/>
                  </a:ext>
                </a:extLst>
              </p:cNvPr>
              <p:cNvSpPr txBox="1"/>
              <p:nvPr/>
            </p:nvSpPr>
            <p:spPr>
              <a:xfrm>
                <a:off x="9655261" y="854001"/>
                <a:ext cx="2581797" cy="8309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0.0621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0742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D9431BD-D660-94B7-137B-53CCD8E08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5261" y="854001"/>
                <a:ext cx="2581797" cy="830997"/>
              </a:xfrm>
              <a:prstGeom prst="rect">
                <a:avLst/>
              </a:prstGeom>
              <a:blipFill>
                <a:blip r:embed="rId4"/>
                <a:stretch>
                  <a:fillRect l="-3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1465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BF73-DEC8-122A-92AD-C8F94C976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Výsledky Arduino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B70931-B896-80E5-AEF7-F4C40223B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r>
              <a:rPr lang="en-US" sz="1800" dirty="0"/>
              <a:t>18/20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52CEE6-B550-68E9-6114-09AFE27022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1550" y="1418430"/>
            <a:ext cx="6387550" cy="45407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84C341-8F37-D0BE-91C8-2C6A8F5DE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18430"/>
            <a:ext cx="6387550" cy="45407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8E4AADC-90CB-97A8-B077-311DC1061576}"/>
              </a:ext>
            </a:extLst>
          </p:cNvPr>
          <p:cNvSpPr txBox="1"/>
          <p:nvPr/>
        </p:nvSpPr>
        <p:spPr>
          <a:xfrm>
            <a:off x="6329934" y="5959193"/>
            <a:ext cx="63870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44: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heuristicky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upravenej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C++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E94CE-E7EC-D091-0AB9-08DF3AE04424}"/>
              </a:ext>
            </a:extLst>
          </p:cNvPr>
          <p:cNvSpPr txBox="1"/>
          <p:nvPr/>
        </p:nvSpPr>
        <p:spPr>
          <a:xfrm>
            <a:off x="0" y="5959193"/>
            <a:ext cx="65059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C++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1EA6F46-AD39-8D47-A4D5-6C0A9BD6B3A6}"/>
                  </a:ext>
                </a:extLst>
              </p:cNvPr>
              <p:cNvSpPr txBox="1"/>
              <p:nvPr/>
            </p:nvSpPr>
            <p:spPr>
              <a:xfrm>
                <a:off x="9623806" y="720975"/>
                <a:ext cx="650557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1763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1274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1EA6F46-AD39-8D47-A4D5-6C0A9BD6B3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3806" y="720975"/>
                <a:ext cx="6505574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6047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B77C-9ABA-FCA8-54F3-A8B2B0A5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Zaver…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4A5B5-38C3-EB90-F31C-EF3A4DB3B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19/20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8383A3-4C25-8685-CC8D-716AA0869BA2}"/>
              </a:ext>
            </a:extLst>
          </p:cNvPr>
          <p:cNvSpPr txBox="1"/>
          <p:nvPr/>
        </p:nvSpPr>
        <p:spPr>
          <a:xfrm>
            <a:off x="762001" y="1809750"/>
            <a:ext cx="1059179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Zdokumentovaný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Pripravená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MATLAB/Simulink, Arduino C++ a PLC Siemens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PI, PI s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prepínaním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MRAC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boli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overené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reálnom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 MRAC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ukázalo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že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rôzne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platformy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môžu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dať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rozdielne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aj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rovnakej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1227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6BBDE-FC23-471C-965C-3949F2213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3536" y="2964996"/>
            <a:ext cx="10515600" cy="748579"/>
          </a:xfrm>
        </p:spPr>
        <p:txBody>
          <a:bodyPr anchor="ctr">
            <a:noAutofit/>
          </a:bodyPr>
          <a:lstStyle/>
          <a:p>
            <a:r>
              <a:rPr lang="en-US" sz="6000" dirty="0" err="1"/>
              <a:t>Ďakujeme</a:t>
            </a:r>
            <a:r>
              <a:rPr lang="en-US" sz="6000" dirty="0"/>
              <a:t> za </a:t>
            </a:r>
            <a:r>
              <a:rPr lang="en-US" sz="6000" dirty="0" err="1"/>
              <a:t>pozornosť</a:t>
            </a:r>
            <a:endParaRPr lang="en-US" sz="6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C19B4-25E5-0439-C24E-0B6A42C0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Autofit/>
          </a:bodyPr>
          <a:lstStyle/>
          <a:p>
            <a:pPr>
              <a:spcAft>
                <a:spcPts val="600"/>
              </a:spcAft>
            </a:pPr>
            <a:r>
              <a:rPr lang="en-US" sz="1800" dirty="0"/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2122698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E839D-FA63-545F-3651-566C0DB88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6428"/>
            <a:ext cx="10515600" cy="748579"/>
          </a:xfrm>
        </p:spPr>
        <p:txBody>
          <a:bodyPr>
            <a:noAutofit/>
          </a:bodyPr>
          <a:lstStyle/>
          <a:p>
            <a:r>
              <a:rPr lang="en-US" sz="2400" dirty="0"/>
              <a:t>1. Pri </a:t>
            </a:r>
            <a:r>
              <a:rPr lang="en-US" sz="2400" dirty="0" err="1"/>
              <a:t>logovaní</a:t>
            </a:r>
            <a:r>
              <a:rPr lang="en-US" sz="2400" dirty="0"/>
              <a:t> </a:t>
            </a:r>
            <a:r>
              <a:rPr lang="en-US" sz="2400" dirty="0" err="1"/>
              <a:t>dát</a:t>
            </a:r>
            <a:r>
              <a:rPr lang="en-US" sz="2400" dirty="0"/>
              <a:t> v PLC do </a:t>
            </a:r>
            <a:r>
              <a:rPr lang="en-US" sz="2400" dirty="0" err="1"/>
              <a:t>polí</a:t>
            </a:r>
            <a:r>
              <a:rPr lang="en-US" sz="2400" dirty="0"/>
              <a:t> </a:t>
            </a:r>
            <a:r>
              <a:rPr lang="en-US" sz="2400" dirty="0" err="1"/>
              <a:t>sa</a:t>
            </a:r>
            <a:r>
              <a:rPr lang="en-US" sz="2400" dirty="0"/>
              <a:t> index </a:t>
            </a:r>
            <a:r>
              <a:rPr lang="en-US" sz="2400" dirty="0" err="1"/>
              <a:t>postupne</a:t>
            </a:r>
            <a:r>
              <a:rPr lang="en-US" sz="2400" dirty="0"/>
              <a:t> </a:t>
            </a:r>
            <a:r>
              <a:rPr lang="en-US" sz="2400" dirty="0" err="1"/>
              <a:t>inkrementuje</a:t>
            </a:r>
            <a:r>
              <a:rPr lang="en-US" sz="2400" dirty="0"/>
              <a:t>, </a:t>
            </a:r>
            <a:r>
              <a:rPr lang="en-US" sz="2400" dirty="0" err="1"/>
              <a:t>pričom</a:t>
            </a:r>
            <a:r>
              <a:rPr lang="en-US" sz="2400" dirty="0"/>
              <a:t> </a:t>
            </a:r>
            <a:r>
              <a:rPr lang="en-US" sz="2400" dirty="0" err="1"/>
              <a:t>nie</a:t>
            </a:r>
            <a:r>
              <a:rPr lang="en-US" sz="2400" dirty="0"/>
              <a:t> je </a:t>
            </a:r>
            <a:r>
              <a:rPr lang="en-US" sz="2400" dirty="0" err="1"/>
              <a:t>explicitne</a:t>
            </a:r>
            <a:r>
              <a:rPr lang="en-US" sz="2400" dirty="0"/>
              <a:t> </a:t>
            </a:r>
            <a:r>
              <a:rPr lang="en-US" sz="2400" dirty="0" err="1"/>
              <a:t>riešené</a:t>
            </a:r>
            <a:r>
              <a:rPr lang="en-US" sz="2400" dirty="0"/>
              <a:t> </a:t>
            </a:r>
            <a:r>
              <a:rPr lang="en-US" sz="2400" dirty="0" err="1"/>
              <a:t>nulovanie</a:t>
            </a:r>
            <a:r>
              <a:rPr lang="en-US" sz="2400" dirty="0"/>
              <a:t> </a:t>
            </a:r>
            <a:r>
              <a:rPr lang="en-US" sz="2400" dirty="0" err="1"/>
              <a:t>uložených</a:t>
            </a:r>
            <a:r>
              <a:rPr lang="en-US" sz="2400" dirty="0"/>
              <a:t> </a:t>
            </a:r>
            <a:r>
              <a:rPr lang="en-US" sz="2400" dirty="0" err="1"/>
              <a:t>dát</a:t>
            </a:r>
            <a:r>
              <a:rPr lang="en-US" sz="2400" dirty="0"/>
              <a:t>. Ako by </a:t>
            </a:r>
            <a:r>
              <a:rPr lang="en-US" sz="2400" dirty="0" err="1"/>
              <a:t>ste</a:t>
            </a:r>
            <a:r>
              <a:rPr lang="en-US" sz="2400" dirty="0"/>
              <a:t> v </a:t>
            </a:r>
            <a:r>
              <a:rPr lang="en-US" sz="2400" dirty="0" err="1"/>
              <a:t>praxi</a:t>
            </a:r>
            <a:r>
              <a:rPr lang="en-US" sz="2400" dirty="0"/>
              <a:t> </a:t>
            </a:r>
            <a:r>
              <a:rPr lang="en-US" sz="2400" dirty="0" err="1"/>
              <a:t>riešili</a:t>
            </a:r>
            <a:r>
              <a:rPr lang="en-US" sz="2400" dirty="0"/>
              <a:t> </a:t>
            </a:r>
            <a:r>
              <a:rPr lang="en-US" sz="2400" dirty="0" err="1"/>
              <a:t>opakované</a:t>
            </a:r>
            <a:r>
              <a:rPr lang="en-US" sz="2400" dirty="0"/>
              <a:t> </a:t>
            </a:r>
            <a:r>
              <a:rPr lang="en-US" sz="2400" dirty="0" err="1"/>
              <a:t>merania</a:t>
            </a:r>
            <a:r>
              <a:rPr lang="en-US" sz="2400" dirty="0"/>
              <a:t> bez </a:t>
            </a:r>
            <a:r>
              <a:rPr lang="en-US" sz="2400" dirty="0" err="1"/>
              <a:t>potreby</a:t>
            </a:r>
            <a:r>
              <a:rPr lang="en-US" sz="2400" dirty="0"/>
              <a:t> </a:t>
            </a:r>
            <a:r>
              <a:rPr lang="en-US" sz="2400" dirty="0" err="1"/>
              <a:t>zmeny</a:t>
            </a:r>
            <a:r>
              <a:rPr lang="en-US" sz="2400" dirty="0"/>
              <a:t> </a:t>
            </a:r>
            <a:r>
              <a:rPr lang="en-US" sz="2400" dirty="0" err="1"/>
              <a:t>režimu</a:t>
            </a:r>
            <a:r>
              <a:rPr lang="en-US" sz="2400" dirty="0"/>
              <a:t> CPU?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C06F3F-E35D-4BD9-1F9E-C0507155E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21/20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19E883-0289-6EB1-0185-358D7B4FF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76" y="2374367"/>
            <a:ext cx="4471447" cy="263961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34596B-C736-1573-9E6B-91BD68D9A858}"/>
              </a:ext>
            </a:extLst>
          </p:cNvPr>
          <p:cNvSpPr txBox="1"/>
          <p:nvPr/>
        </p:nvSpPr>
        <p:spPr>
          <a:xfrm>
            <a:off x="179832" y="5060150"/>
            <a:ext cx="45849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FB_PI_LOGGER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CA0A2C-8D5D-D642-47F9-C8F2F0BBF0E7}"/>
              </a:ext>
            </a:extLst>
          </p:cNvPr>
          <p:cNvSpPr txBox="1"/>
          <p:nvPr/>
        </p:nvSpPr>
        <p:spPr>
          <a:xfrm>
            <a:off x="5724144" y="2258568"/>
            <a:ext cx="56296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Reset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SampleCount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 Full = FALSE, LOGS[all] = 0;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automat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IDLE → RESET → MEASURE → DONE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Kruhový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buffer + snapshot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buffery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86588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4326E-5C74-AA57-4C16-C10198AB4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1292"/>
            <a:ext cx="10515600" cy="748579"/>
          </a:xfrm>
        </p:spPr>
        <p:txBody>
          <a:bodyPr>
            <a:noAutofit/>
          </a:bodyPr>
          <a:lstStyle/>
          <a:p>
            <a:r>
              <a:rPr lang="en-US" sz="2000" dirty="0"/>
              <a:t>2. Na </a:t>
            </a:r>
            <a:r>
              <a:rPr lang="en-US" sz="2000" dirty="0" err="1"/>
              <a:t>predmete</a:t>
            </a:r>
            <a:r>
              <a:rPr lang="en-US" sz="2000" dirty="0"/>
              <a:t> </a:t>
            </a:r>
            <a:r>
              <a:rPr lang="en-US" sz="2000" dirty="0" err="1"/>
              <a:t>Riadiace</a:t>
            </a:r>
            <a:r>
              <a:rPr lang="en-US" sz="2000" dirty="0"/>
              <a:t> </a:t>
            </a:r>
            <a:r>
              <a:rPr lang="en-US" sz="2000" dirty="0" err="1"/>
              <a:t>systémy</a:t>
            </a:r>
            <a:r>
              <a:rPr lang="en-US" sz="2000" dirty="0"/>
              <a:t> </a:t>
            </a:r>
            <a:r>
              <a:rPr lang="en-US" sz="2000" dirty="0" err="1"/>
              <a:t>ste</a:t>
            </a:r>
            <a:r>
              <a:rPr lang="en-US" sz="2000" dirty="0"/>
              <a:t> </a:t>
            </a:r>
            <a:r>
              <a:rPr lang="en-US" sz="2000" dirty="0" err="1"/>
              <a:t>sa</a:t>
            </a:r>
            <a:r>
              <a:rPr lang="en-US" sz="2000" dirty="0"/>
              <a:t> </a:t>
            </a:r>
            <a:r>
              <a:rPr lang="en-US" sz="2000" dirty="0" err="1"/>
              <a:t>stretli</a:t>
            </a:r>
            <a:r>
              <a:rPr lang="en-US" sz="2000" dirty="0"/>
              <a:t> s </a:t>
            </a:r>
            <a:r>
              <a:rPr lang="en-US" sz="2000" dirty="0" err="1"/>
              <a:t>inštrukciou</a:t>
            </a:r>
            <a:r>
              <a:rPr lang="en-US" sz="2000" dirty="0"/>
              <a:t> </a:t>
            </a:r>
            <a:r>
              <a:rPr lang="en-US" sz="2000" dirty="0" err="1"/>
              <a:t>PID_Compact</a:t>
            </a:r>
            <a:r>
              <a:rPr lang="en-US" sz="2000" dirty="0"/>
              <a:t>, </a:t>
            </a:r>
            <a:r>
              <a:rPr lang="en-US" sz="2000" dirty="0" err="1"/>
              <a:t>ktorá</a:t>
            </a:r>
            <a:r>
              <a:rPr lang="en-US" sz="2000" dirty="0"/>
              <a:t> je </a:t>
            </a:r>
            <a:r>
              <a:rPr lang="en-US" sz="2000" dirty="0" err="1"/>
              <a:t>dostupná</a:t>
            </a:r>
            <a:r>
              <a:rPr lang="en-US" sz="2000" dirty="0"/>
              <a:t> v </a:t>
            </a:r>
            <a:r>
              <a:rPr lang="en-US" sz="2000" dirty="0" err="1"/>
              <a:t>knižnici</a:t>
            </a:r>
            <a:r>
              <a:rPr lang="en-US" sz="2000" dirty="0"/>
              <a:t> TIA Portal. </a:t>
            </a:r>
            <a:r>
              <a:rPr lang="en-US" sz="2000" dirty="0" err="1"/>
              <a:t>Neuvažovali</a:t>
            </a:r>
            <a:r>
              <a:rPr lang="en-US" sz="2000" dirty="0"/>
              <a:t> </a:t>
            </a:r>
            <a:r>
              <a:rPr lang="en-US" sz="2000" dirty="0" err="1"/>
              <a:t>ste</a:t>
            </a:r>
            <a:r>
              <a:rPr lang="en-US" sz="2000" dirty="0"/>
              <a:t> o </a:t>
            </a:r>
            <a:r>
              <a:rPr lang="en-US" sz="2000" dirty="0" err="1"/>
              <a:t>porovnaní</a:t>
            </a:r>
            <a:r>
              <a:rPr lang="en-US" sz="2000" dirty="0"/>
              <a:t> </a:t>
            </a:r>
            <a:r>
              <a:rPr lang="en-US" sz="2000" dirty="0" err="1"/>
              <a:t>vlastnej</a:t>
            </a:r>
            <a:r>
              <a:rPr lang="en-US" sz="2000" dirty="0"/>
              <a:t> </a:t>
            </a:r>
            <a:r>
              <a:rPr lang="en-US" sz="2000" dirty="0" err="1"/>
              <a:t>implementácie</a:t>
            </a:r>
            <a:r>
              <a:rPr lang="en-US" sz="2000" dirty="0"/>
              <a:t> </a:t>
            </a:r>
            <a:r>
              <a:rPr lang="en-US" sz="2000" dirty="0" err="1"/>
              <a:t>aspoň</a:t>
            </a:r>
            <a:r>
              <a:rPr lang="en-US" sz="2000" dirty="0"/>
              <a:t> s </a:t>
            </a:r>
            <a:r>
              <a:rPr lang="en-US" sz="2000" dirty="0" err="1"/>
              <a:t>jedným</a:t>
            </a:r>
            <a:r>
              <a:rPr lang="en-US" sz="2000" dirty="0"/>
              <a:t> </a:t>
            </a:r>
            <a:r>
              <a:rPr lang="en-US" sz="2000" dirty="0" err="1"/>
              <a:t>existujúcim</a:t>
            </a:r>
            <a:r>
              <a:rPr lang="en-US" sz="2000" dirty="0"/>
              <a:t> </a:t>
            </a:r>
            <a:r>
              <a:rPr lang="en-US" sz="2000" dirty="0" err="1"/>
              <a:t>riešením</a:t>
            </a:r>
            <a:r>
              <a:rPr lang="en-US" sz="2000" dirty="0"/>
              <a:t> (</a:t>
            </a:r>
            <a:r>
              <a:rPr lang="en-US" sz="2000" dirty="0" err="1"/>
              <a:t>napr</a:t>
            </a:r>
            <a:r>
              <a:rPr lang="en-US" sz="2000" dirty="0"/>
              <a:t>. </a:t>
            </a:r>
            <a:r>
              <a:rPr lang="en-US" sz="2000" dirty="0" err="1"/>
              <a:t>PID_Compact</a:t>
            </a:r>
            <a:r>
              <a:rPr lang="en-US" sz="2000" dirty="0"/>
              <a:t>)? </a:t>
            </a:r>
            <a:r>
              <a:rPr lang="en-US" sz="2000" dirty="0" err="1"/>
              <a:t>Má</a:t>
            </a:r>
            <a:r>
              <a:rPr lang="en-US" sz="2000" dirty="0"/>
              <a:t> </a:t>
            </a:r>
            <a:r>
              <a:rPr lang="en-US" sz="2000" dirty="0" err="1"/>
              <a:t>PID_Compact</a:t>
            </a:r>
            <a:r>
              <a:rPr lang="en-US" sz="2000" dirty="0"/>
              <a:t> v </a:t>
            </a:r>
            <a:r>
              <a:rPr lang="en-US" sz="2000" dirty="0" err="1"/>
              <a:t>porovnaní</a:t>
            </a:r>
            <a:r>
              <a:rPr lang="en-US" sz="2000" dirty="0"/>
              <a:t> s </a:t>
            </a:r>
            <a:r>
              <a:rPr lang="en-US" sz="2000" dirty="0" err="1"/>
              <a:t>Vaším</a:t>
            </a:r>
            <a:r>
              <a:rPr lang="en-US" sz="2000" dirty="0"/>
              <a:t> </a:t>
            </a:r>
            <a:r>
              <a:rPr lang="en-US" sz="2000" dirty="0" err="1"/>
              <a:t>riešením</a:t>
            </a:r>
            <a:r>
              <a:rPr lang="en-US" sz="2000" dirty="0"/>
              <a:t> </a:t>
            </a:r>
            <a:r>
              <a:rPr lang="en-US" sz="2000" dirty="0" err="1"/>
              <a:t>nejakú</a:t>
            </a:r>
            <a:r>
              <a:rPr lang="en-US" sz="2000" dirty="0"/>
              <a:t> </a:t>
            </a:r>
            <a:r>
              <a:rPr lang="en-US" sz="2000" dirty="0" err="1"/>
              <a:t>nevýhodu</a:t>
            </a:r>
            <a:r>
              <a:rPr lang="en-US" sz="2000" dirty="0"/>
              <a:t>? </a:t>
            </a:r>
            <a:r>
              <a:rPr lang="en-US" sz="2000" dirty="0" err="1"/>
              <a:t>Stručne</a:t>
            </a:r>
            <a:r>
              <a:rPr lang="en-US" sz="2000" dirty="0"/>
              <a:t> </a:t>
            </a:r>
            <a:r>
              <a:rPr lang="en-US" sz="2000" dirty="0" err="1"/>
              <a:t>vysvetlite</a:t>
            </a:r>
            <a:r>
              <a:rPr lang="en-US" sz="2000" dirty="0"/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A66D2F-A653-108A-7B36-57085C2B2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22/20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DC3822-211D-E595-2DB3-B13DE8D8CB47}"/>
                  </a:ext>
                </a:extLst>
              </p:cNvPr>
              <p:cNvSpPr txBox="1"/>
              <p:nvPr/>
            </p:nvSpPr>
            <p:spPr>
              <a:xfrm>
                <a:off x="838200" y="2084832"/>
                <a:ext cx="9504205" cy="6163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===⇒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DC3822-211D-E595-2DB3-B13DE8D8C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84832"/>
                <a:ext cx="9504205" cy="616387"/>
              </a:xfrm>
              <a:prstGeom prst="rect">
                <a:avLst/>
              </a:prstGeom>
              <a:blipFill>
                <a:blip r:embed="rId2"/>
                <a:stretch>
                  <a:fillRect b="-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4E15ED0-A62A-4AB9-79A3-096130AA89A4}"/>
              </a:ext>
            </a:extLst>
          </p:cNvPr>
          <p:cNvSpPr txBox="1"/>
          <p:nvPr/>
        </p:nvSpPr>
        <p:spPr>
          <a:xfrm>
            <a:off x="838200" y="1715500"/>
            <a:ext cx="1672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PID_Compact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5DF9C-7500-4258-3801-3730039DCDFA}"/>
                  </a:ext>
                </a:extLst>
              </p:cNvPr>
              <p:cNvSpPr txBox="1"/>
              <p:nvPr/>
            </p:nvSpPr>
            <p:spPr>
              <a:xfrm>
                <a:off x="838200" y="2779776"/>
                <a:ext cx="4951355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Teda: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_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𝑐𝑜𝑚𝑝𝑎𝑐𝑡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 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_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𝑐𝑜𝑚𝑝𝑎𝑐𝑡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sub>
                    </m:sSub>
                  </m:oMath>
                </a14:m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ale: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5DF9C-7500-4258-3801-3730039DC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779776"/>
                <a:ext cx="4951355" cy="390748"/>
              </a:xfrm>
              <a:prstGeom prst="rect">
                <a:avLst/>
              </a:prstGeom>
              <a:blipFill>
                <a:blip r:embed="rId3"/>
                <a:stretch>
                  <a:fillRect l="-1108" t="-7813" r="-739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CC02961-7F2E-5010-1A04-2F0E86832111}"/>
              </a:ext>
            </a:extLst>
          </p:cNvPr>
          <p:cNvSpPr txBox="1"/>
          <p:nvPr/>
        </p:nvSpPr>
        <p:spPr>
          <a:xfrm>
            <a:off x="838200" y="3276180"/>
            <a:ext cx="442874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Vlastná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jednoduchšia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štruktúra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výpočtov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transparentný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ľahká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úprava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možný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čistý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funkcií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bez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komplexného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anti-windup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bez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diagnostiky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autotuningu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8827BB-69A9-C1A7-D483-B1587350D420}"/>
              </a:ext>
            </a:extLst>
          </p:cNvPr>
          <p:cNvSpPr txBox="1"/>
          <p:nvPr/>
        </p:nvSpPr>
        <p:spPr>
          <a:xfrm>
            <a:off x="5789555" y="3272608"/>
            <a:ext cx="45528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PID_Compact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priemyselný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štandard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diagnostika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autotuning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anti-windup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vhodný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bežnú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prax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zložitejší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transparentný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vnútorný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výpočet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sú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viazané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proprietárnosť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364272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4DAC7-6A1A-1FB6-08FD-7C2E1DAA4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en-US" sz="2800" dirty="0" err="1"/>
              <a:t>Merania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na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identifikáciu</a:t>
            </a:r>
            <a:r>
              <a:rPr lang="en-US" altLang="en-US" sz="2800" dirty="0"/>
              <a:t> </a:t>
            </a:r>
            <a:r>
              <a:rPr lang="en-US" altLang="en-US" sz="2800" dirty="0" err="1"/>
              <a:t>systému</a:t>
            </a:r>
            <a:r>
              <a:rPr lang="en-US" altLang="en-US" sz="2800" dirty="0"/>
              <a:t> v </a:t>
            </a:r>
            <a:r>
              <a:rPr lang="en-US" altLang="en-US" sz="2800" dirty="0" err="1"/>
              <a:t>pracovnom</a:t>
            </a:r>
            <a:r>
              <a:rPr lang="en-US" altLang="en-US" sz="2800" dirty="0"/>
              <a:t> bode: </a:t>
            </a:r>
            <a:br>
              <a:rPr lang="en-US" altLang="en-US" sz="2800" dirty="0"/>
            </a:br>
            <a:r>
              <a:rPr lang="en-US" altLang="en-US" sz="2800" dirty="0"/>
              <a:t>Detrend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F4D10-DF8E-E6BA-D834-523C94499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146315-BC4D-55BD-F0D8-788CFB73A2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1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4B340C-87E6-3E4C-F870-655D65ADDE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728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F9D7B9EB-DD7B-EF77-8B71-F329392E78DF}"/>
              </a:ext>
            </a:extLst>
          </p:cNvPr>
          <p:cNvSpPr/>
          <p:nvPr/>
        </p:nvSpPr>
        <p:spPr>
          <a:xfrm>
            <a:off x="5724144" y="3246120"/>
            <a:ext cx="722376" cy="4572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95CF46-626C-F497-3E03-ABCCFCFABED1}"/>
              </a:ext>
            </a:extLst>
          </p:cNvPr>
          <p:cNvSpPr txBox="1"/>
          <p:nvPr/>
        </p:nvSpPr>
        <p:spPr>
          <a:xfrm>
            <a:off x="0" y="5047069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10: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senzora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zmene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B8F32F-C682-F378-41E1-BF1BDDF58F52}"/>
              </a:ext>
            </a:extLst>
          </p:cNvPr>
          <p:cNvSpPr txBox="1"/>
          <p:nvPr/>
        </p:nvSpPr>
        <p:spPr>
          <a:xfrm>
            <a:off x="6153912" y="5047068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Normalizované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detrendované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67608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C06BC-A289-B761-999E-AFA1E0C78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en-US" sz="2800" dirty="0" err="1"/>
              <a:t>Merania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na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identifikáciu</a:t>
            </a:r>
            <a:r>
              <a:rPr lang="en-US" altLang="en-US" sz="2800" dirty="0"/>
              <a:t> </a:t>
            </a:r>
            <a:r>
              <a:rPr lang="en-US" altLang="en-US" sz="2800" dirty="0" err="1"/>
              <a:t>systému</a:t>
            </a:r>
            <a:r>
              <a:rPr lang="en-US" altLang="en-US" sz="2800" dirty="0"/>
              <a:t> v </a:t>
            </a:r>
            <a:r>
              <a:rPr lang="en-US" altLang="en-US" sz="2800" dirty="0" err="1"/>
              <a:t>pracovnom</a:t>
            </a:r>
            <a:r>
              <a:rPr lang="en-US" altLang="en-US" sz="2800" dirty="0"/>
              <a:t> bode: </a:t>
            </a:r>
            <a:br>
              <a:rPr lang="en-US" altLang="en-US" sz="2800" dirty="0"/>
            </a:br>
            <a:r>
              <a:rPr lang="en-US" sz="2800" dirty="0" err="1"/>
              <a:t>Prechodová</a:t>
            </a:r>
            <a:r>
              <a:rPr lang="en-US" sz="2800" dirty="0"/>
              <a:t> </a:t>
            </a:r>
            <a:r>
              <a:rPr lang="en-US" sz="2800" dirty="0" err="1"/>
              <a:t>charakteristika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58F01-AC3C-B191-ED81-B6F860BF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CA4CA9-3F29-893F-BAE0-D191A8E7DA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0084" y="1699043"/>
            <a:ext cx="6211831" cy="44145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988000D-9D23-ABD5-F233-DEB9B50EC853}"/>
              </a:ext>
            </a:extLst>
          </p:cNvPr>
          <p:cNvSpPr txBox="1"/>
          <p:nvPr/>
        </p:nvSpPr>
        <p:spPr>
          <a:xfrm>
            <a:off x="2990084" y="6051509"/>
            <a:ext cx="6213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Priemerná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bode 4 V</a:t>
            </a:r>
          </a:p>
        </p:txBody>
      </p:sp>
    </p:spTree>
    <p:extLst>
      <p:ext uri="{BB962C8B-B14F-4D97-AF65-F5344CB8AC3E}">
        <p14:creationId xmlns:p14="http://schemas.microsoft.com/office/powerpoint/2010/main" val="14193605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5C5D4-A40C-B751-C0B2-FE468D4D1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Pôvodná</a:t>
            </a:r>
            <a:r>
              <a:rPr lang="en-US" sz="2800" dirty="0"/>
              <a:t> </a:t>
            </a:r>
            <a:r>
              <a:rPr lang="en-US" sz="2800" dirty="0" err="1"/>
              <a:t>komunikácia</a:t>
            </a:r>
            <a:r>
              <a:rPr lang="en-US" sz="2800" dirty="0"/>
              <a:t> v </a:t>
            </a:r>
            <a:r>
              <a:rPr lang="en-US" sz="2800" dirty="0" err="1"/>
              <a:t>prostredí</a:t>
            </a:r>
            <a:r>
              <a:rPr lang="en-US" sz="2800" dirty="0"/>
              <a:t> MATLAB/Simulink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9ABA-5F67-2DBF-3CA4-0901D10B4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926A60-5272-1EA2-15FD-2B9285D55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19" y="1885984"/>
            <a:ext cx="5523883" cy="29121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563827-7FC5-719B-AC36-1D3F0FC8B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732" y="1885984"/>
            <a:ext cx="5918713" cy="27537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A2936BB-F907-E436-E0CF-22E5853618AD}"/>
              </a:ext>
            </a:extLst>
          </p:cNvPr>
          <p:cNvSpPr txBox="1"/>
          <p:nvPr/>
        </p:nvSpPr>
        <p:spPr>
          <a:xfrm>
            <a:off x="302136" y="4639733"/>
            <a:ext cx="5099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15: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Základná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spustenie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906FC-EAD0-C534-4F79-F7D5BEE472C5}"/>
              </a:ext>
            </a:extLst>
          </p:cNvPr>
          <p:cNvSpPr txBox="1"/>
          <p:nvPr/>
        </p:nvSpPr>
        <p:spPr>
          <a:xfrm>
            <a:off x="5826019" y="4639732"/>
            <a:ext cx="59187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Vnútorná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Simulinkového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</p:spTree>
    <p:extLst>
      <p:ext uri="{BB962C8B-B14F-4D97-AF65-F5344CB8AC3E}">
        <p14:creationId xmlns:p14="http://schemas.microsoft.com/office/powerpoint/2010/main" val="1688686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29146-F8BB-234B-124C-1950F166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Vlastná komunikácia v jazyku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63E2D2-4DDE-9361-1E87-63F6066B3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93053"/>
            <a:ext cx="2743200" cy="365125"/>
          </a:xfrm>
        </p:spPr>
        <p:txBody>
          <a:bodyPr/>
          <a:lstStyle/>
          <a:p>
            <a:fld id="{6CAE0FC8-C62F-4561-A15C-F1B236593633}" type="slidenum">
              <a:rPr lang="en-US" smtClean="0"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769F1F-A68D-D5C0-1D8C-DBB103DD9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44" y="1373973"/>
            <a:ext cx="6377522" cy="26780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D6E53A-7D45-1A21-8F3C-37F1B928B69A}"/>
              </a:ext>
            </a:extLst>
          </p:cNvPr>
          <p:cNvSpPr txBox="1"/>
          <p:nvPr/>
        </p:nvSpPr>
        <p:spPr>
          <a:xfrm>
            <a:off x="109701" y="4052054"/>
            <a:ext cx="673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prepojenia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platformou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Arduino UNO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8F1144F-C4DE-64DE-562B-6D77F92244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0668432"/>
              </p:ext>
            </p:extLst>
          </p:nvPr>
        </p:nvGraphicFramePr>
        <p:xfrm>
          <a:off x="8516448" y="1600493"/>
          <a:ext cx="1790977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3444544181"/>
                    </a:ext>
                  </a:extLst>
                </a:gridCol>
                <a:gridCol w="1230272">
                  <a:extLst>
                    <a:ext uri="{9D8B030D-6E8A-4147-A177-3AD203B41FA5}">
                      <a16:colId xmlns:a16="http://schemas.microsoft.com/office/drawing/2014/main" val="890059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Funkcia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6639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840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8042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620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468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6637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E7D6E12-0221-3EDA-5C9C-AA81A1A99F16}"/>
              </a:ext>
            </a:extLst>
          </p:cNvPr>
          <p:cNvSpPr txBox="1"/>
          <p:nvPr/>
        </p:nvSpPr>
        <p:spPr>
          <a:xfrm>
            <a:off x="7169612" y="3825533"/>
            <a:ext cx="50223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kontakty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1D82525-E9ED-94B7-D134-CAF9368C8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587176"/>
              </p:ext>
            </p:extLst>
          </p:nvPr>
        </p:nvGraphicFramePr>
        <p:xfrm>
          <a:off x="109701" y="4556927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99571928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16178484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61038242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371311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Port Arduino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Reálny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Digitálny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3016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5869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0709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PWM5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547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PWM6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016010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7B192B73-728C-659E-9CA8-35D645F3FEB8}"/>
              </a:ext>
            </a:extLst>
          </p:cNvPr>
          <p:cNvSpPr txBox="1"/>
          <p:nvPr/>
        </p:nvSpPr>
        <p:spPr>
          <a:xfrm>
            <a:off x="765928" y="6360803"/>
            <a:ext cx="7114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medzi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a Arduino UNO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1BAC41E-B216-4C50-8FA5-D59DA74B9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4051" y="4794084"/>
            <a:ext cx="2419749" cy="72953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BF7DDAA-EB96-ED99-B9FB-52FAA3F70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1936" y="5626072"/>
            <a:ext cx="1538527" cy="664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2486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2A741-7CE0-6D51-F06F-758F28DFC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800" dirty="0" err="1"/>
              <a:t>Komunikácia</a:t>
            </a:r>
            <a:r>
              <a:rPr lang="en-US" sz="2800" dirty="0"/>
              <a:t> s </a:t>
            </a:r>
            <a:r>
              <a:rPr lang="en-US" sz="2800" dirty="0" err="1"/>
              <a:t>programovateľným</a:t>
            </a:r>
            <a:r>
              <a:rPr lang="en-US" sz="2800" dirty="0"/>
              <a:t> </a:t>
            </a:r>
            <a:r>
              <a:rPr lang="en-US" sz="2800" dirty="0" err="1"/>
              <a:t>logickým</a:t>
            </a:r>
            <a:r>
              <a:rPr lang="en-US" sz="2800" dirty="0"/>
              <a:t> </a:t>
            </a:r>
            <a:r>
              <a:rPr lang="en-US" sz="2800" dirty="0" err="1"/>
              <a:t>automatom</a:t>
            </a:r>
            <a:r>
              <a:rPr lang="ru-RU" sz="2800" dirty="0"/>
              <a:t> </a:t>
            </a:r>
            <a:r>
              <a:rPr lang="en-US" sz="2800" dirty="0"/>
              <a:t>SIMATIC S7-1200 G2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6B242C-E66A-C379-83DD-582E0805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27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E27981D-1F93-8A95-C9F0-98F9C310CF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599735"/>
              </p:ext>
            </p:extLst>
          </p:nvPr>
        </p:nvGraphicFramePr>
        <p:xfrm>
          <a:off x="838200" y="1418431"/>
          <a:ext cx="286321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355">
                  <a:extLst>
                    <a:ext uri="{9D8B030D-6E8A-4147-A177-3AD203B41FA5}">
                      <a16:colId xmlns:a16="http://schemas.microsoft.com/office/drawing/2014/main" val="3195908937"/>
                    </a:ext>
                  </a:extLst>
                </a:gridCol>
                <a:gridCol w="582803">
                  <a:extLst>
                    <a:ext uri="{9D8B030D-6E8A-4147-A177-3AD203B41FA5}">
                      <a16:colId xmlns:a16="http://schemas.microsoft.com/office/drawing/2014/main" val="3904301344"/>
                    </a:ext>
                  </a:extLst>
                </a:gridCol>
                <a:gridCol w="1091056">
                  <a:extLst>
                    <a:ext uri="{9D8B030D-6E8A-4147-A177-3AD203B41FA5}">
                      <a16:colId xmlns:a16="http://schemas.microsoft.com/office/drawing/2014/main" val="5145928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Adresa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1665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%QW80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5161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%QW8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284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%IW80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513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%IW82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622802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DF87A1E-60A1-D609-5544-12C122FCD8EB}"/>
              </a:ext>
            </a:extLst>
          </p:cNvPr>
          <p:cNvSpPr txBox="1"/>
          <p:nvPr/>
        </p:nvSpPr>
        <p:spPr>
          <a:xfrm>
            <a:off x="671660" y="3343861"/>
            <a:ext cx="35044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Adresovanie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7E4892-F6A3-AD98-941A-B87ACD868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34" y="4267191"/>
            <a:ext cx="1550604" cy="7014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8D71CA-D64F-29DA-9B32-AC02474E1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64" y="4922797"/>
            <a:ext cx="2172956" cy="4904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13A7680-8FA3-9C0C-B4CD-E95ED7F7FF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5626" y="1418431"/>
            <a:ext cx="3421054" cy="455410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6D2CDB-282D-00BC-08AF-07FD45136B2D}"/>
              </a:ext>
            </a:extLst>
          </p:cNvPr>
          <p:cNvSpPr txBox="1"/>
          <p:nvPr/>
        </p:nvSpPr>
        <p:spPr>
          <a:xfrm>
            <a:off x="6799083" y="6033184"/>
            <a:ext cx="40930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Servisná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hlavného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organizačného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6716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59B29-ADE7-2514-59D1-B255A4012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500" dirty="0" err="1"/>
              <a:t>Komunikácia</a:t>
            </a:r>
            <a:r>
              <a:rPr lang="en-US" sz="2500" dirty="0"/>
              <a:t> s </a:t>
            </a:r>
            <a:r>
              <a:rPr lang="en-US" sz="2500" dirty="0" err="1"/>
              <a:t>programovateľným</a:t>
            </a:r>
            <a:r>
              <a:rPr lang="en-US" sz="2500" dirty="0"/>
              <a:t> </a:t>
            </a:r>
            <a:r>
              <a:rPr lang="en-US" sz="2500" dirty="0" err="1"/>
              <a:t>logickým</a:t>
            </a:r>
            <a:r>
              <a:rPr lang="en-US" sz="2500" dirty="0"/>
              <a:t> </a:t>
            </a:r>
            <a:r>
              <a:rPr lang="en-US" sz="2500" dirty="0" err="1"/>
              <a:t>automatom</a:t>
            </a:r>
            <a:r>
              <a:rPr lang="ru-RU" sz="2500" dirty="0"/>
              <a:t> </a:t>
            </a:r>
            <a:r>
              <a:rPr lang="en-US" sz="2500" dirty="0"/>
              <a:t>SIMATIC S7-1200 G2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B98926-430C-A811-86AD-409985D1B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28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F22C2B-662F-E7D4-9468-910F17F63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774" y="1738124"/>
            <a:ext cx="4471447" cy="26396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92D633-62CC-B2E8-5E96-D608E54A6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39" y="1750845"/>
            <a:ext cx="7460891" cy="261417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4B3F7A4-E612-9F67-44CC-6D0CE4BED9DE}"/>
              </a:ext>
            </a:extLst>
          </p:cNvPr>
          <p:cNvSpPr txBox="1"/>
          <p:nvPr/>
        </p:nvSpPr>
        <p:spPr>
          <a:xfrm>
            <a:off x="784570" y="4423907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Current_time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6B1D9D-4EDA-D3E6-E154-3BF5056527BD}"/>
              </a:ext>
            </a:extLst>
          </p:cNvPr>
          <p:cNvSpPr txBox="1"/>
          <p:nvPr/>
        </p:nvSpPr>
        <p:spPr>
          <a:xfrm>
            <a:off x="7562230" y="4423907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FB_PI_LOGGER</a:t>
            </a:r>
          </a:p>
        </p:txBody>
      </p:sp>
    </p:spTree>
    <p:extLst>
      <p:ext uri="{BB962C8B-B14F-4D97-AF65-F5344CB8AC3E}">
        <p14:creationId xmlns:p14="http://schemas.microsoft.com/office/powerpoint/2010/main" val="34669331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3504C-DA6E-5185-7F34-C953B31B0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MRAC RMSE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0DB4D0-A795-121D-B4F6-ECD0A637D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C111C1-E27E-7A42-F8A5-5AC825F8F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259" y="2382172"/>
            <a:ext cx="5764981" cy="257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192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3718</TotalTime>
  <Words>1636</Words>
  <Application>Microsoft Office PowerPoint</Application>
  <PresentationFormat>Widescreen</PresentationFormat>
  <Paragraphs>287</Paragraphs>
  <Slides>29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Arial</vt:lpstr>
      <vt:lpstr>Cambria Math</vt:lpstr>
      <vt:lpstr>Times New Roman</vt:lpstr>
      <vt:lpstr>Office Theme</vt:lpstr>
      <vt:lpstr>Návrh implementácie vybraných algoritmov riadenia</vt:lpstr>
      <vt:lpstr>Ciele práce</vt:lpstr>
      <vt:lpstr>Laboratórne zariadenie TS - popis systému</vt:lpstr>
      <vt:lpstr>Statické vlastnosti systému</vt:lpstr>
      <vt:lpstr>PowerPoint Presentation</vt:lpstr>
      <vt:lpstr>Komunikačné rozhranie systému TS05 pre jednotlivé platformy</vt:lpstr>
      <vt:lpstr>PI regulátor pre riadenie v okolí jedného pracovného bodu</vt:lpstr>
      <vt:lpstr>Pseudokód a Implementácia MATLAB/Simulink</vt:lpstr>
      <vt:lpstr>Implementácia: mikrokontrolér a jazyk C++</vt:lpstr>
      <vt:lpstr>Implementácia: programovateľný logický automat (PLC)</vt:lpstr>
      <vt:lpstr>Porovnanie výsledkov z jednotlivých implementácií</vt:lpstr>
      <vt:lpstr>Riadiaci systém s prepínaním pre celý rozsah výstupnej veličiny riadeného systému</vt:lpstr>
      <vt:lpstr>Zákon riadenia</vt:lpstr>
      <vt:lpstr>PowerPoint Presentation</vt:lpstr>
      <vt:lpstr>Porovnanie výsledkov z jednotlivých implementácií</vt:lpstr>
      <vt:lpstr>Adaptívne riadenie s referenčným modelom</vt:lpstr>
      <vt:lpstr>Výsledky MATLAB/Simulink a PLC</vt:lpstr>
      <vt:lpstr>Výsledky Arduino C++</vt:lpstr>
      <vt:lpstr>Zaver…</vt:lpstr>
      <vt:lpstr>Ďakujeme za pozornosť</vt:lpstr>
      <vt:lpstr>1. Pri logovaní dát v PLC do polí sa index postupne inkrementuje, pričom nie je explicitne riešené nulovanie uložených dát. Ako by ste v praxi riešili opakované merania bez potreby zmeny režimu CPU?</vt:lpstr>
      <vt:lpstr>2. Na predmete Riadiace systémy ste sa stretli s inštrukciou PID_Compact, ktorá je dostupná v knižnici TIA Portal. Neuvažovali ste o porovnaní vlastnej implementácie aspoň s jedným existujúcim riešením (napr. PID_Compact)? Má PID_Compact v porovnaní s Vaším riešením nejakú nevýhodu? Stručne vysvetlite.</vt:lpstr>
      <vt:lpstr>Merania na identifikáciu systému v pracovnom bode:  Detrend</vt:lpstr>
      <vt:lpstr>Merania na identifikáciu systému v pracovnom bode:  Prechodová charakteristika</vt:lpstr>
      <vt:lpstr>Pôvodná komunikácia v prostredí MATLAB/Simulink </vt:lpstr>
      <vt:lpstr>Vlastná komunikácia v jazyku C++</vt:lpstr>
      <vt:lpstr>Komunikácia s programovateľným logickým automatom SIMATIC S7-1200 G2</vt:lpstr>
      <vt:lpstr>Komunikácia s programovateľným logickým automatom SIMATIC S7-1200 G2</vt:lpstr>
      <vt:lpstr>MRAC RMSE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Andrii Stoliar</dc:creator>
  <cp:lastModifiedBy>Andrii Stoliar</cp:lastModifiedBy>
  <cp:revision>23</cp:revision>
  <dcterms:created xsi:type="dcterms:W3CDTF">2026-04-11T17:08:44Z</dcterms:created>
  <dcterms:modified xsi:type="dcterms:W3CDTF">2026-06-08T10:26:34Z</dcterms:modified>
</cp:coreProperties>
</file>