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8" r:id="rId5"/>
    <p:sldId id="271" r:id="rId6"/>
    <p:sldId id="289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67" r:id="rId21"/>
    <p:sldId id="290" r:id="rId22"/>
    <p:sldId id="291" r:id="rId23"/>
    <p:sldId id="269" r:id="rId24"/>
    <p:sldId id="270" r:id="rId25"/>
    <p:sldId id="272" r:id="rId26"/>
    <p:sldId id="273" r:id="rId27"/>
    <p:sldId id="274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C6676-6336-48A3-9AFF-BEEF1DC2F0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FE7AC-06A2-4B22-8A0E-B495546C1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4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58CC-162C-F88A-FBC5-D98FF7FF0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BA292-0EA3-4DB7-51E1-45E367061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3FE2F-D218-EDE4-FB5C-73ECC149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DDF75-98F2-46ED-BF41-6841AACD6D7B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E19D3-BB1E-1DDD-812E-7C60FF2A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F48D6-BB4C-F655-4F6F-7EE41870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7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DFC1-2CDC-7030-F9C8-E69D6983F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7990-B18E-BDE7-9F61-56863D9E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7D94-67A3-B4D2-5BB7-F9AB0FA3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C0A48-F169-4868-950C-C0BF07077612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B2D32-CD62-066D-4E7B-7CFEAA5EF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6F180-E724-DDDA-6B2E-039E6A73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2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DF51-BEB9-7953-5962-91DD016C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01B8C-DB89-F40D-0387-B0010B4DA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C9CE6-3AB7-5E39-EE48-DABE6279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2A41-BF1E-433D-A63D-7B1C861340FC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63077-B025-FA3F-315C-E30735C2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84631-FDE9-6991-4E1B-5480CF14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3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354BF-D811-604F-86C2-F43AB191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89241-02D1-B90E-C12D-03843B14C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66E7A-3201-0FCD-4256-7B0557E4D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1A8CD-CF8C-8955-9C8D-838572F95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C828-9A8F-478D-A9BD-9DF638EF5087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F45BA-CFA4-ECA5-EE0A-06FDBCD1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05F9E-BD18-236F-28F4-EC63B58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BA305-F78F-8A01-A8E4-638E1624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D0DCB-5BC1-EE8A-4D33-5FCC4AF65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B775F-321A-D7BC-6F64-A37BBF7C4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23650-BFFB-DF5E-B863-F4B1C46BD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A7A4C-1434-B617-5CE0-E7A336621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56E56-1645-2B0E-0DC1-A6FDDB6E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BE8B-17AA-452E-AF5A-A805E1055FA1}" type="datetime1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BEE350-C97A-E546-8004-074D6B531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E63C69-366E-2EE0-2E61-160E0AD8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8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F136-B277-6600-FE44-2E470A4AE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B3A8B-77B5-C37C-32F9-F9DC06F9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E3C-251E-4292-87F6-2212204ECA2B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CB019-F8F4-4DD1-B57B-66C830FD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A1398-CA3B-AFA8-5233-2B56FF74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388A72-0574-E776-190E-49E0DC62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1260-D33D-47AA-B882-BF3928478AF5}" type="datetime1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C6C8B-3C58-09DE-01A7-750E8680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AAD66-5655-62F8-CB27-732178CF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8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1D65-89E0-43DF-FDD9-6466625D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6B76-41FD-73BE-E9FA-11AC8233E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2FF38-F5D8-FBB4-D555-235881FC8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ABB0B-7472-BA9D-C622-842912425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FB52-2362-45D7-B8C5-B12D0BF071AA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CBCEA-1226-D81D-8D8A-8578AF1F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185A0-A488-013D-2A47-6B680B44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9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5063-6A44-1467-AD3B-1856232C3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B25FF-6E21-75A7-104A-CA5114BA0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BCD75-43BB-85F3-7F90-982B0718B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F0603-C938-E891-0E62-764BD119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3117-01EB-4EF8-81B5-FD92832B6B5C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CE2FD-C0F9-CEEC-7FE9-1993A431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A775-ACDD-4B24-D6B4-60B64E8C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6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A70D-F889-DDF6-21BC-A1D8AA5E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DD4FA-09DB-81C0-E6D6-4308DA9C2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17270-8668-A940-3FB3-D6D522C2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F622-135A-4D3C-84CD-5A493CC35A1E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B1157-9B88-E5BD-9121-295BCA80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3494B-2E05-7BD6-FFAE-C327CB9B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7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30F3F-F3E0-BDB7-1C2A-930C1148E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A2F6E-7E5A-8F97-9980-0A023E72F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3A034-91D6-F52A-2947-224E3314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9CC1-F0A8-4A5B-ACDF-9BD8C810563B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5DFD3-CBEF-4596-7F6C-421F0216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484EA-2E1C-FB8C-1230-259E7422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4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EC572E-BBE3-E69E-50CA-519AE946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852"/>
            <a:ext cx="10515600" cy="748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C5833-CB50-EABA-EDC9-2BA0ECFDB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4101"/>
            <a:ext cx="10515600" cy="4642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AA17E-D486-A341-206C-1D75F5A3E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CE0A7F4-AB13-430E-9DF9-A5874CB1FEEE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2B1E9-C1F1-EAAF-FE9D-506022892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D0027-704C-2270-9BE7-628116D87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CAE0FC8-C62F-4561-A15C-F1B2365936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03DD05-51D0-6837-808F-7C956874421C}"/>
              </a:ext>
            </a:extLst>
          </p:cNvPr>
          <p:cNvSpPr/>
          <p:nvPr userDrawn="1"/>
        </p:nvSpPr>
        <p:spPr>
          <a:xfrm>
            <a:off x="-1" y="-18838"/>
            <a:ext cx="12192001" cy="61516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FEA719-6F67-2580-D260-7B437824B62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1" y="0"/>
            <a:ext cx="1556198" cy="4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4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DED4-43DA-7CBE-8DBB-930975764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Návrh</a:t>
            </a:r>
            <a:r>
              <a:rPr lang="en-US" dirty="0"/>
              <a:t> </a:t>
            </a:r>
            <a:r>
              <a:rPr lang="en-US" dirty="0" err="1"/>
              <a:t>implementácie</a:t>
            </a:r>
            <a:r>
              <a:rPr lang="en-US" dirty="0"/>
              <a:t> </a:t>
            </a:r>
            <a:r>
              <a:rPr lang="en-US" dirty="0" err="1"/>
              <a:t>vybraných</a:t>
            </a:r>
            <a:r>
              <a:rPr lang="en-US" dirty="0"/>
              <a:t> </a:t>
            </a:r>
            <a:r>
              <a:rPr lang="en-US" dirty="0" err="1"/>
              <a:t>algoritmov</a:t>
            </a:r>
            <a:r>
              <a:rPr lang="en-US" dirty="0"/>
              <a:t> </a:t>
            </a:r>
            <a:r>
              <a:rPr lang="en-US" dirty="0" err="1"/>
              <a:t>riadenia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E7938-B366-D4C5-BB1F-BC0940CB2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Diplomov</a:t>
            </a:r>
            <a:r>
              <a:rPr lang="sk-SK" dirty="0"/>
              <a:t>á</a:t>
            </a:r>
            <a:r>
              <a:rPr lang="en-US" dirty="0"/>
              <a:t> </a:t>
            </a:r>
            <a:r>
              <a:rPr lang="en-US" dirty="0" err="1"/>
              <a:t>praca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algn="r"/>
            <a:r>
              <a:rPr lang="en-US" sz="1800" dirty="0" err="1"/>
              <a:t>Bc</a:t>
            </a:r>
            <a:r>
              <a:rPr lang="en-US" sz="1800" dirty="0"/>
              <a:t>. Andrii Stoliar</a:t>
            </a:r>
            <a:endParaRPr lang="ru-RU" sz="1800" dirty="0"/>
          </a:p>
          <a:p>
            <a:pPr algn="r"/>
            <a:r>
              <a:rPr lang="en-US" sz="1800" dirty="0"/>
              <a:t>Ing. Marián </a:t>
            </a:r>
            <a:r>
              <a:rPr lang="en-US" sz="1800" dirty="0" err="1"/>
              <a:t>Tárník</a:t>
            </a:r>
            <a:r>
              <a:rPr lang="en-US" sz="1800" dirty="0"/>
              <a:t>, PhD.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66C22-E89E-9B5D-2C6B-00A6ECBA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z="1800" smtClean="0"/>
              <a:t>1</a:t>
            </a:fld>
            <a:r>
              <a:rPr lang="en-US" sz="18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153505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ECF5-6C36-AF14-D123-FA7DE221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Ciele</a:t>
            </a:r>
            <a:r>
              <a:rPr lang="en-US" dirty="0"/>
              <a:t> </a:t>
            </a:r>
            <a:r>
              <a:rPr lang="en-US" dirty="0" err="1"/>
              <a:t>práce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704A-C3F9-563D-F783-76DD065FA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Oboznámte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 </a:t>
            </a:r>
            <a:r>
              <a:rPr lang="en-US" dirty="0" err="1"/>
              <a:t>dostupným</a:t>
            </a:r>
            <a:r>
              <a:rPr lang="en-US" dirty="0"/>
              <a:t> </a:t>
            </a:r>
            <a:r>
              <a:rPr lang="en-US" dirty="0" err="1"/>
              <a:t>laboratórnym</a:t>
            </a:r>
            <a:r>
              <a:rPr lang="en-US" dirty="0"/>
              <a:t> </a:t>
            </a:r>
            <a:r>
              <a:rPr lang="en-US" dirty="0" err="1"/>
              <a:t>hardvérom</a:t>
            </a:r>
            <a:r>
              <a:rPr lang="en-US" dirty="0"/>
              <a:t> a </a:t>
            </a:r>
            <a:r>
              <a:rPr lang="en-US" dirty="0" err="1"/>
              <a:t>vypracujte</a:t>
            </a:r>
            <a:r>
              <a:rPr lang="en-US" dirty="0"/>
              <a:t> </a:t>
            </a:r>
            <a:r>
              <a:rPr lang="en-US" dirty="0" err="1"/>
              <a:t>stručnú</a:t>
            </a:r>
            <a:r>
              <a:rPr lang="en-US" dirty="0"/>
              <a:t> </a:t>
            </a:r>
            <a:r>
              <a:rPr lang="en-US" dirty="0" err="1"/>
              <a:t>technickú</a:t>
            </a:r>
            <a:r>
              <a:rPr lang="en-US" dirty="0"/>
              <a:t> </a:t>
            </a:r>
            <a:r>
              <a:rPr lang="en-US" dirty="0" err="1"/>
              <a:t>dokumentáciu</a:t>
            </a:r>
            <a:r>
              <a:rPr lang="en-US" dirty="0"/>
              <a:t> </a:t>
            </a:r>
            <a:r>
              <a:rPr lang="en-US" dirty="0" err="1"/>
              <a:t>vybraných</a:t>
            </a:r>
            <a:r>
              <a:rPr lang="en-US" dirty="0"/>
              <a:t> </a:t>
            </a:r>
            <a:r>
              <a:rPr lang="en-US" dirty="0" err="1"/>
              <a:t>laboratórnych</a:t>
            </a:r>
            <a:r>
              <a:rPr lang="en-US" dirty="0"/>
              <a:t> </a:t>
            </a:r>
            <a:r>
              <a:rPr lang="en-US" dirty="0" err="1"/>
              <a:t>dynamických</a:t>
            </a:r>
            <a:r>
              <a:rPr lang="en-US" dirty="0"/>
              <a:t> </a:t>
            </a:r>
            <a:r>
              <a:rPr lang="en-US" dirty="0" err="1"/>
              <a:t>systémov</a:t>
            </a:r>
            <a:r>
              <a:rPr lang="en-US" dirty="0"/>
              <a:t>.</a:t>
            </a:r>
          </a:p>
          <a:p>
            <a:r>
              <a:rPr lang="en-US" dirty="0" err="1"/>
              <a:t>Vypracujte</a:t>
            </a:r>
            <a:r>
              <a:rPr lang="en-US" dirty="0"/>
              <a:t> </a:t>
            </a:r>
            <a:r>
              <a:rPr lang="en-US" dirty="0" err="1"/>
              <a:t>krátky</a:t>
            </a:r>
            <a:r>
              <a:rPr lang="en-US" dirty="0"/>
              <a:t> </a:t>
            </a:r>
            <a:r>
              <a:rPr lang="en-US" dirty="0" err="1"/>
              <a:t>prehľad</a:t>
            </a:r>
            <a:r>
              <a:rPr lang="en-US" dirty="0"/>
              <a:t> </a:t>
            </a:r>
            <a:r>
              <a:rPr lang="en-US" dirty="0" err="1"/>
              <a:t>riadiacich</a:t>
            </a:r>
            <a:r>
              <a:rPr lang="en-US" dirty="0"/>
              <a:t> </a:t>
            </a:r>
            <a:r>
              <a:rPr lang="en-US" dirty="0" err="1"/>
              <a:t>algoritmov</a:t>
            </a:r>
            <a:r>
              <a:rPr lang="en-US" dirty="0"/>
              <a:t> </a:t>
            </a:r>
            <a:r>
              <a:rPr lang="en-US" dirty="0" err="1"/>
              <a:t>vybraných</a:t>
            </a:r>
            <a:r>
              <a:rPr lang="en-US" dirty="0"/>
              <a:t> pre </a:t>
            </a:r>
            <a:r>
              <a:rPr lang="en-US" dirty="0" err="1"/>
              <a:t>následnú</a:t>
            </a:r>
            <a:r>
              <a:rPr lang="en-US" dirty="0"/>
              <a:t> </a:t>
            </a:r>
            <a:r>
              <a:rPr lang="en-US" dirty="0" err="1"/>
              <a:t>implementáciu</a:t>
            </a:r>
            <a:r>
              <a:rPr lang="en-US" dirty="0"/>
              <a:t>.</a:t>
            </a:r>
          </a:p>
          <a:p>
            <a:r>
              <a:rPr lang="en-US" dirty="0" err="1"/>
              <a:t>Navrhnite</a:t>
            </a:r>
            <a:r>
              <a:rPr lang="en-US" dirty="0"/>
              <a:t> a </a:t>
            </a:r>
            <a:r>
              <a:rPr lang="en-US" dirty="0" err="1"/>
              <a:t>realizujte</a:t>
            </a:r>
            <a:r>
              <a:rPr lang="en-US" dirty="0"/>
              <a:t> </a:t>
            </a:r>
            <a:r>
              <a:rPr lang="en-US" dirty="0" err="1"/>
              <a:t>predmetné</a:t>
            </a:r>
            <a:r>
              <a:rPr lang="en-US" dirty="0"/>
              <a:t> </a:t>
            </a:r>
            <a:r>
              <a:rPr lang="en-US" dirty="0" err="1"/>
              <a:t>riadiace</a:t>
            </a:r>
            <a:r>
              <a:rPr lang="en-US" dirty="0"/>
              <a:t> </a:t>
            </a:r>
            <a:r>
              <a:rPr lang="en-US" dirty="0" err="1"/>
              <a:t>systémy</a:t>
            </a:r>
            <a:r>
              <a:rPr lang="en-US" dirty="0"/>
              <a:t> a </a:t>
            </a:r>
            <a:r>
              <a:rPr lang="en-US" dirty="0" err="1"/>
              <a:t>analyzujte</a:t>
            </a:r>
            <a:r>
              <a:rPr lang="en-US" dirty="0"/>
              <a:t> </a:t>
            </a:r>
            <a:r>
              <a:rPr lang="en-US" dirty="0" err="1"/>
              <a:t>kvalitu</a:t>
            </a:r>
            <a:r>
              <a:rPr lang="en-US" dirty="0"/>
              <a:t> </a:t>
            </a:r>
            <a:r>
              <a:rPr lang="en-US" dirty="0" err="1"/>
              <a:t>riadenia</a:t>
            </a:r>
            <a:r>
              <a:rPr lang="en-US" dirty="0"/>
              <a:t>.</a:t>
            </a:r>
          </a:p>
          <a:p>
            <a:r>
              <a:rPr lang="en-US" dirty="0" err="1"/>
              <a:t>Vyhodnoťte</a:t>
            </a:r>
            <a:r>
              <a:rPr lang="en-US" dirty="0"/>
              <a:t> </a:t>
            </a:r>
            <a:r>
              <a:rPr lang="en-US" dirty="0" err="1"/>
              <a:t>dosiahnuté</a:t>
            </a:r>
            <a:r>
              <a:rPr lang="en-US" dirty="0"/>
              <a:t> </a:t>
            </a:r>
            <a:r>
              <a:rPr lang="en-US" dirty="0" err="1"/>
              <a:t>výsledky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6C15-E17E-CF98-476B-3C01830E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259279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554B-D04D-D28C-52F3-0CACBCFF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Laboratórne</a:t>
            </a:r>
            <a:r>
              <a:rPr lang="en-US" dirty="0"/>
              <a:t> </a:t>
            </a:r>
            <a:r>
              <a:rPr lang="en-US" dirty="0" err="1"/>
              <a:t>zariadenie</a:t>
            </a:r>
            <a:r>
              <a:rPr lang="en-US" dirty="0"/>
              <a:t> TS - </a:t>
            </a:r>
            <a:r>
              <a:rPr lang="en-US" dirty="0" err="1"/>
              <a:t>popis</a:t>
            </a:r>
            <a:r>
              <a:rPr lang="en-US" dirty="0"/>
              <a:t> </a:t>
            </a:r>
            <a:r>
              <a:rPr lang="en-US" dirty="0" err="1"/>
              <a:t>systému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5A6F2-F71D-2B36-B0BF-E4B22FE2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3/20</a:t>
            </a:r>
          </a:p>
        </p:txBody>
      </p:sp>
      <p:pic>
        <p:nvPicPr>
          <p:cNvPr id="10" name="Picture 9" descr="A close-up of a light&#10;&#10;AI-generated content may be incorrect.">
            <a:extLst>
              <a:ext uri="{FF2B5EF4-FFF2-40B4-BE49-F238E27FC236}">
                <a16:creationId xmlns:a16="http://schemas.microsoft.com/office/drawing/2014/main" id="{01ACE7EB-1B2E-03AF-425D-B52A0B3A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5849"/>
            <a:ext cx="5556250" cy="29455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D4C06A5-BFC5-A959-13FD-482CF170A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460604"/>
              </p:ext>
            </p:extLst>
          </p:nvPr>
        </p:nvGraphicFramePr>
        <p:xfrm>
          <a:off x="6920126" y="2576237"/>
          <a:ext cx="456564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883">
                  <a:extLst>
                    <a:ext uri="{9D8B030D-6E8A-4147-A177-3AD203B41FA5}">
                      <a16:colId xmlns:a16="http://schemas.microsoft.com/office/drawing/2014/main" val="329238846"/>
                    </a:ext>
                  </a:extLst>
                </a:gridCol>
                <a:gridCol w="2103967">
                  <a:extLst>
                    <a:ext uri="{9D8B030D-6E8A-4147-A177-3AD203B41FA5}">
                      <a16:colId xmlns:a16="http://schemas.microsoft.com/office/drawing/2014/main" val="1100591826"/>
                    </a:ext>
                  </a:extLst>
                </a:gridCol>
                <a:gridCol w="939799">
                  <a:extLst>
                    <a:ext uri="{9D8B030D-6E8A-4147-A177-3AD203B41FA5}">
                      <a16:colId xmlns:a16="http://schemas.microsoft.com/office/drawing/2014/main" val="1985291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signálu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Označenie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Rozsah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611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Vstup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Ventilátor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22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Vstup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Výkon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špirály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9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Výstup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Senzor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teplota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05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Výstup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Senzor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teplota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2055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02F4FC1-C8E3-6437-3B02-8139A2198BB2}"/>
              </a:ext>
            </a:extLst>
          </p:cNvPr>
          <p:cNvSpPr txBox="1"/>
          <p:nvPr/>
        </p:nvSpPr>
        <p:spPr>
          <a:xfrm>
            <a:off x="1951038" y="4510584"/>
            <a:ext cx="621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Laboratórny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TS05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65478-9885-0D74-7C4F-4C29689C7B2B}"/>
              </a:ext>
            </a:extLst>
          </p:cNvPr>
          <p:cNvSpPr txBox="1"/>
          <p:nvPr/>
        </p:nvSpPr>
        <p:spPr>
          <a:xfrm>
            <a:off x="6825669" y="2206905"/>
            <a:ext cx="4297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Tabuľka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Vstupy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</a:t>
            </a:r>
          </a:p>
        </p:txBody>
      </p:sp>
    </p:spTree>
    <p:extLst>
      <p:ext uri="{BB962C8B-B14F-4D97-AF65-F5344CB8AC3E}">
        <p14:creationId xmlns:p14="http://schemas.microsoft.com/office/powerpoint/2010/main" val="37295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BD46-7204-9E5F-CDED-CAE9E300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Statické</a:t>
            </a:r>
            <a:r>
              <a:rPr lang="en-US" altLang="en-US" dirty="0"/>
              <a:t> </a:t>
            </a:r>
            <a:r>
              <a:rPr lang="en-US" altLang="en-US" dirty="0" err="1"/>
              <a:t>vlastnosti</a:t>
            </a:r>
            <a:r>
              <a:rPr lang="en-US" altLang="en-US" dirty="0"/>
              <a:t> </a:t>
            </a:r>
            <a:r>
              <a:rPr lang="en-US" altLang="en-US" dirty="0" err="1"/>
              <a:t>systému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DF7E1-2B5D-E952-E173-CA606427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4/20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EF39B-1E66-AD5D-A96F-983AB03FBE01}"/>
              </a:ext>
            </a:extLst>
          </p:cNvPr>
          <p:cNvSpPr txBox="1"/>
          <p:nvPr/>
        </p:nvSpPr>
        <p:spPr>
          <a:xfrm>
            <a:off x="1045187" y="5062204"/>
            <a:ext cx="5753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Priebeh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napätia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špirále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6A1C06-EB46-8AAA-F22F-80434120E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3" y="1611130"/>
            <a:ext cx="7089662" cy="4319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31BFDE-E187-079D-A77A-1C7F815F1B14}"/>
              </a:ext>
            </a:extLst>
          </p:cNvPr>
          <p:cNvSpPr txBox="1"/>
          <p:nvPr/>
        </p:nvSpPr>
        <p:spPr>
          <a:xfrm>
            <a:off x="6096000" y="5653156"/>
            <a:ext cx="6213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8: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Prevodová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charakteristika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pre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ventilátora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64DEFD-3682-397F-9A77-CFEE1945C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20" y="1661887"/>
            <a:ext cx="6032009" cy="35367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8814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FBDE5-827B-1D4B-26B5-A54EFF3B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5/20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1CB9D532-6FCA-F26E-E102-8EEBC0ABC8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440" y="621825"/>
                <a:ext cx="10856976" cy="1077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Abadi" panose="020B0604020104020204" pitchFamily="34" charset="0"/>
                    <a:ea typeface="+mj-ea"/>
                    <a:cs typeface="Times New Roman" panose="02020603050405020304" pitchFamily="18" charset="0"/>
                  </a:defRPr>
                </a:lvl1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</a:pPr>
                <a:r>
                  <a:rPr lang="en-US" altLang="en-US" sz="3200" dirty="0" err="1">
                    <a:latin typeface="Times New Roman" panose="02020603050405020304" pitchFamily="18" charset="0"/>
                  </a:rPr>
                  <a:t>Identifikácia</a:t>
                </a:r>
                <a:r>
                  <a:rPr lang="en-US" altLang="en-US" sz="32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</a:rPr>
                  <a:t>systému</a:t>
                </a:r>
                <a:r>
                  <a:rPr lang="en-US" altLang="en-US" sz="3200" dirty="0">
                    <a:latin typeface="Times New Roman" panose="02020603050405020304" pitchFamily="18" charset="0"/>
                  </a:rPr>
                  <a:t> v </a:t>
                </a:r>
                <a:r>
                  <a:rPr lang="en-US" altLang="en-US" sz="3200" dirty="0" err="1">
                    <a:latin typeface="Times New Roman" panose="02020603050405020304" pitchFamily="18" charset="0"/>
                  </a:rPr>
                  <a:t>pracovnom</a:t>
                </a:r>
                <a:r>
                  <a:rPr lang="en-US" altLang="en-US" sz="3200" dirty="0">
                    <a:latin typeface="Times New Roman" panose="02020603050405020304" pitchFamily="18" charset="0"/>
                  </a:rPr>
                  <a:t> bode: </a:t>
                </a:r>
                <a:br>
                  <a:rPr lang="en-US" altLang="en-US" sz="3200" dirty="0">
                    <a:latin typeface="Times New Roman" panose="02020603050405020304" pitchFamily="18" charset="0"/>
                  </a:rPr>
                </a:br>
                <a:r>
                  <a:rPr lang="en-US" altLang="en-US" sz="3200" dirty="0">
                    <a:latin typeface="Times New Roman" panose="02020603050405020304" pitchFamily="18" charset="0"/>
                  </a:rPr>
                  <a:t>ventilator – 6V, u (</a:t>
                </a:r>
                <a:r>
                  <a:rPr lang="en-US" altLang="en-US" sz="3200" dirty="0" err="1">
                    <a:latin typeface="Times New Roman" panose="02020603050405020304" pitchFamily="18" charset="0"/>
                  </a:rPr>
                  <a:t>špirála</a:t>
                </a:r>
                <a:r>
                  <a:rPr lang="en-US" altLang="en-US" sz="3200" dirty="0">
                    <a:latin typeface="Times New Roman" panose="02020603050405020304" pitchFamily="18" charset="0"/>
                  </a:rPr>
                  <a:t>) – 4V, </a:t>
                </a:r>
                <a14:m>
                  <m:oMath xmlns:m="http://schemas.openxmlformats.org/officeDocument/2006/math"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en-US" altLang="en-US" sz="32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1CB9D532-6FCA-F26E-E102-8EEBC0ABC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" y="621825"/>
                <a:ext cx="10856976" cy="1077218"/>
              </a:xfrm>
              <a:prstGeom prst="rect">
                <a:avLst/>
              </a:prstGeom>
              <a:blipFill>
                <a:blip r:embed="rId2"/>
                <a:stretch>
                  <a:fillRect l="-1460" t="-7345" b="-175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3B8FB47-372D-1CFF-C81C-5D1DBEBDB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" y="1793744"/>
            <a:ext cx="6544069" cy="35996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6D4F512F-CAC6-E444-5F74-7BE3D29282DA}"/>
              </a:ext>
            </a:extLst>
          </p:cNvPr>
          <p:cNvSpPr/>
          <p:nvPr/>
        </p:nvSpPr>
        <p:spPr>
          <a:xfrm>
            <a:off x="9279416" y="3982458"/>
            <a:ext cx="438912" cy="5128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7A5324-11BE-2F92-8D4A-A68B4E44ABFD}"/>
              </a:ext>
            </a:extLst>
          </p:cNvPr>
          <p:cNvSpPr txBox="1"/>
          <p:nvPr/>
        </p:nvSpPr>
        <p:spPr>
          <a:xfrm>
            <a:off x="943760" y="5299160"/>
            <a:ext cx="5734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14: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Porovnanie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skokovej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odozvy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reálneho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aproximovaných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modelov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BF56CA-3553-9474-958C-A4BDE8B12F01}"/>
                  </a:ext>
                </a:extLst>
              </p:cNvPr>
              <p:cNvSpPr txBox="1"/>
              <p:nvPr/>
            </p:nvSpPr>
            <p:spPr>
              <a:xfrm>
                <a:off x="7016509" y="2188267"/>
                <a:ext cx="2316916" cy="5762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=0.036792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=0.026996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BF56CA-3553-9474-958C-A4BDE8B12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509" y="2188267"/>
                <a:ext cx="2316916" cy="576248"/>
              </a:xfrm>
              <a:prstGeom prst="rect">
                <a:avLst/>
              </a:prstGeom>
              <a:blipFill>
                <a:blip r:embed="rId4"/>
                <a:stretch>
                  <a:fillRect l="-1842" r="-2368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954A95-C2A3-FEFA-E2E8-4E6FC298411C}"/>
                  </a:ext>
                </a:extLst>
              </p:cNvPr>
              <p:cNvSpPr txBox="1"/>
              <p:nvPr/>
            </p:nvSpPr>
            <p:spPr>
              <a:xfrm>
                <a:off x="7464543" y="3307230"/>
                <a:ext cx="4065537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𝐿𝑆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0.00171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−0.3379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+6.074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+59.01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+8.95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954A95-C2A3-FEFA-E2E8-4E6FC2984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543" y="3307230"/>
                <a:ext cx="4065537" cy="5727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F0DC05-97A2-52EB-FEFD-30917C3A45E4}"/>
                  </a:ext>
                </a:extLst>
              </p:cNvPr>
              <p:cNvSpPr txBox="1"/>
              <p:nvPr/>
            </p:nvSpPr>
            <p:spPr>
              <a:xfrm>
                <a:off x="6449311" y="4538410"/>
                <a:ext cx="6096000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𝐿𝑆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6.074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+59.01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+8.95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F0DC05-97A2-52EB-FEFD-30917C3A4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311" y="4538410"/>
                <a:ext cx="6096000" cy="6173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72BFBC-7E9F-9757-110D-55EA37CE3445}"/>
                  </a:ext>
                </a:extLst>
              </p:cNvPr>
              <p:cNvSpPr txBox="1"/>
              <p:nvPr/>
            </p:nvSpPr>
            <p:spPr>
              <a:xfrm>
                <a:off x="7746384" y="5494131"/>
                <a:ext cx="3501856" cy="575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𝑎𝑝𝑝𝑟𝑜𝑥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=0.036951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=−58.855,  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=−0.1521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72BFBC-7E9F-9757-110D-55EA37CE3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384" y="5494131"/>
                <a:ext cx="3501856" cy="575414"/>
              </a:xfrm>
              <a:prstGeom prst="rect">
                <a:avLst/>
              </a:prstGeom>
              <a:blipFill>
                <a:blip r:embed="rId7"/>
                <a:stretch>
                  <a:fillRect l="-697" r="-1568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56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607C-7F9F-2EF3-C9CE-16A851EA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Komunikačné</a:t>
            </a:r>
            <a:r>
              <a:rPr lang="en-US" sz="2800" dirty="0"/>
              <a:t> </a:t>
            </a:r>
            <a:r>
              <a:rPr lang="en-US" sz="2800" dirty="0" err="1"/>
              <a:t>rozhranie</a:t>
            </a:r>
            <a:r>
              <a:rPr lang="en-US" sz="2800" dirty="0"/>
              <a:t> </a:t>
            </a:r>
            <a:r>
              <a:rPr lang="en-US" sz="2800" dirty="0" err="1"/>
              <a:t>systému</a:t>
            </a:r>
            <a:r>
              <a:rPr lang="en-US" sz="2800" dirty="0"/>
              <a:t> TS05 pre </a:t>
            </a:r>
            <a:r>
              <a:rPr lang="en-US" sz="2800" dirty="0" err="1"/>
              <a:t>jednotlivé</a:t>
            </a:r>
            <a:r>
              <a:rPr lang="en-US" sz="2800" dirty="0"/>
              <a:t> platformy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B07960-D8CE-836A-2177-436498B1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6/20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CF13D-D640-4785-EB1D-4C00C2FB719B}"/>
              </a:ext>
            </a:extLst>
          </p:cNvPr>
          <p:cNvSpPr txBox="1"/>
          <p:nvPr/>
        </p:nvSpPr>
        <p:spPr>
          <a:xfrm>
            <a:off x="0" y="1797627"/>
            <a:ext cx="38169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MATLAB/Simulink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Komunikácia cez meraciu kartu Advantech PCI-1711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Použité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analógové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vstupy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Simulinku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31CD2-0D74-483D-35E5-8F9CE24D6FD6}"/>
              </a:ext>
            </a:extLst>
          </p:cNvPr>
          <p:cNvSpPr txBox="1"/>
          <p:nvPr/>
        </p:nvSpPr>
        <p:spPr>
          <a:xfrm>
            <a:off x="4184072" y="1797627"/>
            <a:ext cx="381692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UNO, C++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Vytvorená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vlastná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hardvérová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komunikácia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TS05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Identifikované piny 8-pinového konektora TS05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PWM to 0–10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prevodník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Snímače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0–10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upravené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napäťovým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deličom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0–5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Použitá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kalibrácia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signálových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kubickými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polynómami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EB621-41C3-9FF6-8740-C6BC6FF99475}"/>
              </a:ext>
            </a:extLst>
          </p:cNvPr>
          <p:cNvSpPr txBox="1"/>
          <p:nvPr/>
        </p:nvSpPr>
        <p:spPr>
          <a:xfrm>
            <a:off x="8368144" y="1797627"/>
            <a:ext cx="381692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PLC Siemens S7-1200 G2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pripojenie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analógový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 1233 AI/AQ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Analógové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signály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spracované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rozsahu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0–10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rozsah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0–27648 ↔ 0–10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Riadiaca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Cyclic Interrupt, Ts = 0,1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Logovanie realizované do interných polí PLC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256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4B6EA-3D41-00F3-BEC2-6171B106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PI </a:t>
            </a:r>
            <a:r>
              <a:rPr lang="en-US" sz="2800" dirty="0" err="1"/>
              <a:t>regulátor</a:t>
            </a:r>
            <a:r>
              <a:rPr lang="en-US" sz="2800" dirty="0"/>
              <a:t> pre </a:t>
            </a:r>
            <a:r>
              <a:rPr lang="en-US" sz="2800" dirty="0" err="1"/>
              <a:t>riadenie</a:t>
            </a:r>
            <a:r>
              <a:rPr lang="en-US" sz="2800" dirty="0"/>
              <a:t> v </a:t>
            </a:r>
            <a:r>
              <a:rPr lang="en-US" sz="2800" dirty="0" err="1"/>
              <a:t>okolí</a:t>
            </a:r>
            <a:r>
              <a:rPr lang="en-US" sz="2800" dirty="0"/>
              <a:t> </a:t>
            </a:r>
            <a:r>
              <a:rPr lang="en-US" sz="2800" dirty="0" err="1"/>
              <a:t>jedného</a:t>
            </a:r>
            <a:r>
              <a:rPr lang="en-US" sz="2800" dirty="0"/>
              <a:t> </a:t>
            </a:r>
            <a:r>
              <a:rPr lang="en-US" sz="2800" dirty="0" err="1"/>
              <a:t>pracovného</a:t>
            </a:r>
            <a:r>
              <a:rPr lang="en-US" sz="2800" dirty="0"/>
              <a:t> </a:t>
            </a:r>
            <a:r>
              <a:rPr lang="en-US" sz="2800" dirty="0" err="1"/>
              <a:t>bodu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869B33-64E6-FC9F-2250-F9591918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7/20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B20DF-962F-A7E9-232A-41E4E1D60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" y="1340440"/>
            <a:ext cx="6872140" cy="22907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A9B581-5277-9B41-E1B3-1620F07C8D16}"/>
              </a:ext>
            </a:extLst>
          </p:cNvPr>
          <p:cNvSpPr txBox="1"/>
          <p:nvPr/>
        </p:nvSpPr>
        <p:spPr>
          <a:xfrm>
            <a:off x="919114" y="36311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19: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Bloková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schéma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uzavretého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regulačného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obvodu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PI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B45034-A592-0BD2-39F7-839ECA53E3A5}"/>
              </a:ext>
            </a:extLst>
          </p:cNvPr>
          <p:cNvSpPr txBox="1"/>
          <p:nvPr/>
        </p:nvSpPr>
        <p:spPr>
          <a:xfrm>
            <a:off x="8116297" y="16794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Paralelná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 PI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AFD266-E30B-5435-AA88-02F807263085}"/>
              </a:ext>
            </a:extLst>
          </p:cNvPr>
          <p:cNvSpPr txBox="1"/>
          <p:nvPr/>
        </p:nvSpPr>
        <p:spPr>
          <a:xfrm>
            <a:off x="8096032" y="2807663"/>
            <a:ext cx="1896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Zákon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riadenia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D29596-5898-EF00-89FE-262E74D7E14D}"/>
              </a:ext>
            </a:extLst>
          </p:cNvPr>
          <p:cNvSpPr txBox="1"/>
          <p:nvPr/>
        </p:nvSpPr>
        <p:spPr>
          <a:xfrm>
            <a:off x="8116297" y="3858218"/>
            <a:ext cx="18761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Diskretizácia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D688F4-4323-2FB8-07EF-44093C48D7B8}"/>
              </a:ext>
            </a:extLst>
          </p:cNvPr>
          <p:cNvSpPr txBox="1"/>
          <p:nvPr/>
        </p:nvSpPr>
        <p:spPr>
          <a:xfrm>
            <a:off x="141402" y="4682874"/>
            <a:ext cx="3194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Výsledky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použitia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pidtune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67FE68-671C-0CF3-2C37-FCFAA7011ECE}"/>
                  </a:ext>
                </a:extLst>
              </p:cNvPr>
              <p:cNvSpPr txBox="1"/>
              <p:nvPr/>
            </p:nvSpPr>
            <p:spPr>
              <a:xfrm>
                <a:off x="141402" y="5120737"/>
                <a:ext cx="250350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=3.58,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=1.84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67FE68-671C-0CF3-2C37-FCFAA7011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5120737"/>
                <a:ext cx="2503506" cy="298415"/>
              </a:xfrm>
              <a:prstGeom prst="rect">
                <a:avLst/>
              </a:prstGeom>
              <a:blipFill>
                <a:blip r:embed="rId3"/>
                <a:stretch>
                  <a:fillRect l="-1703" r="-2190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9B8203-27C9-35B7-68B4-2421C114EB94}"/>
                  </a:ext>
                </a:extLst>
              </p:cNvPr>
              <p:cNvSpPr txBox="1"/>
              <p:nvPr/>
            </p:nvSpPr>
            <p:spPr>
              <a:xfrm>
                <a:off x="141402" y="5575258"/>
                <a:ext cx="3194592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𝑜𝑟𝑜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21.21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+11.15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+59.01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+8.95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9B8203-27C9-35B7-68B4-2421C114E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5575258"/>
                <a:ext cx="3194592" cy="5305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AC3054-EA48-BA7A-75A2-A893F4D99D3D}"/>
                  </a:ext>
                </a:extLst>
              </p:cNvPr>
              <p:cNvSpPr txBox="1"/>
              <p:nvPr/>
            </p:nvSpPr>
            <p:spPr>
              <a:xfrm>
                <a:off x="141402" y="6315254"/>
                <a:ext cx="44451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=−58.855,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=−0.1521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AC3054-EA48-BA7A-75A2-A893F4D99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6315254"/>
                <a:ext cx="4445128" cy="276999"/>
              </a:xfrm>
              <a:prstGeom prst="rect">
                <a:avLst/>
              </a:prstGeom>
              <a:blipFill>
                <a:blip r:embed="rId5"/>
                <a:stretch>
                  <a:fillRect l="-412" r="-109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6F1B42-C81C-7F8D-2687-2C7D13FDA089}"/>
                  </a:ext>
                </a:extLst>
              </p:cNvPr>
              <p:cNvSpPr txBox="1"/>
              <p:nvPr/>
            </p:nvSpPr>
            <p:spPr>
              <a:xfrm>
                <a:off x="8124516" y="2060746"/>
                <a:ext cx="1554208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6F1B42-C81C-7F8D-2687-2C7D13FDA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516" y="2060746"/>
                <a:ext cx="1554208" cy="5167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F53361-4E93-6D5A-69F9-392A8584FBDC}"/>
                  </a:ext>
                </a:extLst>
              </p:cNvPr>
              <p:cNvSpPr txBox="1"/>
              <p:nvPr/>
            </p:nvSpPr>
            <p:spPr>
              <a:xfrm>
                <a:off x="8124516" y="3061878"/>
                <a:ext cx="2905347" cy="619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F53361-4E93-6D5A-69F9-392A8584F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516" y="3061878"/>
                <a:ext cx="2905347" cy="619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7AD437-2B38-F04A-116E-E3FEA61EAB66}"/>
                  </a:ext>
                </a:extLst>
              </p:cNvPr>
              <p:cNvSpPr txBox="1"/>
              <p:nvPr/>
            </p:nvSpPr>
            <p:spPr>
              <a:xfrm>
                <a:off x="8124516" y="4319471"/>
                <a:ext cx="2503506" cy="8524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b="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7AD437-2B38-F04A-116E-E3FEA61EA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516" y="4319471"/>
                <a:ext cx="2503506" cy="852413"/>
              </a:xfrm>
              <a:prstGeom prst="rect">
                <a:avLst/>
              </a:prstGeom>
              <a:blipFill>
                <a:blip r:embed="rId8"/>
                <a:stretch>
                  <a:fillRect l="-3415" t="-8633" r="-1220" b="-6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25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798C-C002-31FF-1485-33BD064F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Pseudokód</a:t>
            </a:r>
            <a:r>
              <a:rPr lang="en-US" dirty="0"/>
              <a:t> a </a:t>
            </a:r>
            <a:r>
              <a:rPr lang="en-US" dirty="0" err="1"/>
              <a:t>Implementácia</a:t>
            </a:r>
            <a:r>
              <a:rPr lang="en-US" dirty="0"/>
              <a:t> MATLAB/Simulink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573BCC-A6A9-D21B-9496-A833FA2B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8/20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0E21E-03E5-6BD9-4DDF-4E771448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62" y="1749196"/>
            <a:ext cx="4344006" cy="3057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8C9EDB-EB97-7786-AD82-C63C6A6C6F71}"/>
              </a:ext>
            </a:extLst>
          </p:cNvPr>
          <p:cNvSpPr txBox="1"/>
          <p:nvPr/>
        </p:nvSpPr>
        <p:spPr>
          <a:xfrm>
            <a:off x="838200" y="4934088"/>
            <a:ext cx="4167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kódu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Pseudokód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diskrétnej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realizácie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saturáciou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8E2483-4757-0D4D-CF6E-601724C1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973" y="1743328"/>
            <a:ext cx="6400800" cy="3158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7C7B54-A36E-340F-540B-C484E6CDFC66}"/>
              </a:ext>
            </a:extLst>
          </p:cNvPr>
          <p:cNvSpPr txBox="1"/>
          <p:nvPr/>
        </p:nvSpPr>
        <p:spPr>
          <a:xfrm>
            <a:off x="6770803" y="4902291"/>
            <a:ext cx="40323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Zapojenie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MATLAB Function 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spätnou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väzbou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stavov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5770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2DF67-0C0A-F4DB-9C2F-197117E2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Implementácia: mikrokontrolér a jazyk C++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E14542-3FDE-8F27-A730-46AD469F3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9/20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351A0-ABF3-FB45-2A60-1F7811AC9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8529"/>
            <a:ext cx="12192000" cy="739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856B3B-D222-A185-F26C-6AFA599E9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308" y="1504682"/>
            <a:ext cx="4307343" cy="3269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155848-5E78-3F42-BB1A-595D55A35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349" y="1504682"/>
            <a:ext cx="2747563" cy="26366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4CCD34-6EF3-B055-B45B-1F1CF5E665C2}"/>
              </a:ext>
            </a:extLst>
          </p:cNvPr>
          <p:cNvSpPr txBox="1"/>
          <p:nvPr/>
        </p:nvSpPr>
        <p:spPr>
          <a:xfrm>
            <a:off x="700418" y="4141298"/>
            <a:ext cx="4211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Výpis kódu 11: Inicializácia parametrov PI regulátora v jazyku C++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CC7A49-0F16-6D7C-2C41-9367DF790B1C}"/>
              </a:ext>
            </a:extLst>
          </p:cNvPr>
          <p:cNvSpPr txBox="1"/>
          <p:nvPr/>
        </p:nvSpPr>
        <p:spPr>
          <a:xfrm>
            <a:off x="6452308" y="4787629"/>
            <a:ext cx="4211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kódu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Hlavná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regulačná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jazyku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C++</a:t>
            </a:r>
          </a:p>
        </p:txBody>
      </p:sp>
    </p:spTree>
    <p:extLst>
      <p:ext uri="{BB962C8B-B14F-4D97-AF65-F5344CB8AC3E}">
        <p14:creationId xmlns:p14="http://schemas.microsoft.com/office/powerpoint/2010/main" val="2088267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36DD6-449E-E649-66A7-5274E621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Implementácia: programovateľný logický automat (PLC)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6B8A35-1A2F-A23D-8D24-21C84E32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10/20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A2184-A236-60FC-4A0B-2BF851028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6393"/>
            <a:ext cx="3846607" cy="37234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AF7ABE-33A1-46AB-AEDF-4B9B8B1475FE}"/>
              </a:ext>
            </a:extLst>
          </p:cNvPr>
          <p:cNvSpPr txBox="1"/>
          <p:nvPr/>
        </p:nvSpPr>
        <p:spPr>
          <a:xfrm>
            <a:off x="520517" y="5329799"/>
            <a:ext cx="4654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kódu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Implementácia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funkčného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FB_PI_TS05 v PLC Siemens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2D409D-E980-F306-B78E-68AFC0B8D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947" y="1606393"/>
            <a:ext cx="6012975" cy="32422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B6E18A-4212-FE91-1329-C7BB84E31172}"/>
              </a:ext>
            </a:extLst>
          </p:cNvPr>
          <p:cNvSpPr txBox="1"/>
          <p:nvPr/>
        </p:nvSpPr>
        <p:spPr>
          <a:xfrm>
            <a:off x="6096000" y="484868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26: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Zapojenie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časovača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logovania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prostredí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TIA Portal</a:t>
            </a:r>
          </a:p>
        </p:txBody>
      </p:sp>
    </p:spTree>
    <p:extLst>
      <p:ext uri="{BB962C8B-B14F-4D97-AF65-F5344CB8AC3E}">
        <p14:creationId xmlns:p14="http://schemas.microsoft.com/office/powerpoint/2010/main" val="1919210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921A-D79E-C5BE-AF09-638783BF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Porovnanie</a:t>
            </a:r>
            <a:r>
              <a:rPr lang="en-US" dirty="0"/>
              <a:t> </a:t>
            </a:r>
            <a:r>
              <a:rPr lang="en-US" dirty="0" err="1"/>
              <a:t>výsledkov</a:t>
            </a:r>
            <a:r>
              <a:rPr lang="en-US" dirty="0"/>
              <a:t> z </a:t>
            </a:r>
            <a:r>
              <a:rPr lang="en-US" dirty="0" err="1"/>
              <a:t>jednotlivých</a:t>
            </a:r>
            <a:r>
              <a:rPr lang="en-US" dirty="0"/>
              <a:t> </a:t>
            </a:r>
            <a:r>
              <a:rPr lang="en-US" dirty="0" err="1"/>
              <a:t>implementácií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84954-0396-317D-BF87-67EFE1F48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2080" y="6328060"/>
            <a:ext cx="2743200" cy="365125"/>
          </a:xfrm>
        </p:spPr>
        <p:txBody>
          <a:bodyPr/>
          <a:lstStyle/>
          <a:p>
            <a:r>
              <a:rPr lang="en-US" sz="1800" dirty="0"/>
              <a:t>11/20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A6C95-DEF2-FCA9-6AC3-F1BFB41BD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0340"/>
            <a:ext cx="11137900" cy="45202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E46643-6403-C7FF-CF32-56968E19B010}"/>
                  </a:ext>
                </a:extLst>
              </p:cNvPr>
              <p:cNvSpPr txBox="1"/>
              <p:nvPr/>
            </p:nvSpPr>
            <p:spPr>
              <a:xfrm>
                <a:off x="9296400" y="587434"/>
                <a:ext cx="28382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𝑀𝐴𝑇𝐿𝐴𝐵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=0.092899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=0.085426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𝑃𝐿𝐶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=0.08576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E46643-6403-C7FF-CF32-56968E19B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0" y="587434"/>
                <a:ext cx="2838277" cy="830997"/>
              </a:xfrm>
              <a:prstGeom prst="rect">
                <a:avLst/>
              </a:prstGeom>
              <a:blipFill>
                <a:blip r:embed="rId3"/>
                <a:stretch>
                  <a:fillRect l="-2790" b="-3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3775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A76F-E20D-BD33-353C-11B79950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Riadiaci</a:t>
            </a:r>
            <a:r>
              <a:rPr lang="en-US" sz="2400" dirty="0"/>
              <a:t> </a:t>
            </a:r>
            <a:r>
              <a:rPr lang="en-US" sz="2400" dirty="0" err="1"/>
              <a:t>systém</a:t>
            </a:r>
            <a:r>
              <a:rPr lang="en-US" sz="2400" dirty="0"/>
              <a:t> s </a:t>
            </a:r>
            <a:r>
              <a:rPr lang="en-US" sz="2400" dirty="0" err="1"/>
              <a:t>prepínaním</a:t>
            </a:r>
            <a:r>
              <a:rPr lang="en-US" sz="2400" dirty="0"/>
              <a:t> pre </a:t>
            </a:r>
            <a:r>
              <a:rPr lang="en-US" sz="2400" dirty="0" err="1"/>
              <a:t>celý</a:t>
            </a:r>
            <a:r>
              <a:rPr lang="en-US" sz="2400" dirty="0"/>
              <a:t> </a:t>
            </a:r>
            <a:r>
              <a:rPr lang="en-US" sz="2400" dirty="0" err="1"/>
              <a:t>rozsah</a:t>
            </a:r>
            <a:r>
              <a:rPr lang="en-US" sz="2400" dirty="0"/>
              <a:t> </a:t>
            </a:r>
            <a:r>
              <a:rPr lang="en-US" sz="2400" dirty="0" err="1"/>
              <a:t>výstupnej</a:t>
            </a:r>
            <a:r>
              <a:rPr lang="en-US" sz="2400" dirty="0"/>
              <a:t> </a:t>
            </a:r>
            <a:r>
              <a:rPr lang="en-US" sz="2400" dirty="0" err="1"/>
              <a:t>veličiny</a:t>
            </a:r>
            <a:r>
              <a:rPr lang="en-US" sz="2400" dirty="0"/>
              <a:t> </a:t>
            </a:r>
            <a:r>
              <a:rPr lang="en-US" sz="2400" dirty="0" err="1"/>
              <a:t>riadeného</a:t>
            </a:r>
            <a:r>
              <a:rPr lang="en-US" sz="2400" dirty="0"/>
              <a:t> </a:t>
            </a:r>
            <a:r>
              <a:rPr lang="en-US" sz="2400" dirty="0" err="1"/>
              <a:t>systému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343F3-DD25-EDB8-4D43-A8FC2DE8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/>
              <a:t>12/20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310743-F032-DFAF-41FF-6276C035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8431"/>
            <a:ext cx="5731497" cy="3166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293816-B3D7-A2EA-1F6A-80934694E860}"/>
              </a:ext>
            </a:extLst>
          </p:cNvPr>
          <p:cNvSpPr txBox="1"/>
          <p:nvPr/>
        </p:nvSpPr>
        <p:spPr>
          <a:xfrm>
            <a:off x="238027" y="4584958"/>
            <a:ext cx="4711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28: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Bloková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schéma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riadenia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globálnym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lokálnym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518F91FF-ABDF-64C0-F74F-7D70D36C35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2750865"/>
                  </p:ext>
                </p:extLst>
              </p:nvPr>
            </p:nvGraphicFramePr>
            <p:xfrm>
              <a:off x="5812148" y="2101571"/>
              <a:ext cx="6096699" cy="20999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0804">
                      <a:extLst>
                        <a:ext uri="{9D8B030D-6E8A-4147-A177-3AD203B41FA5}">
                          <a16:colId xmlns:a16="http://schemas.microsoft.com/office/drawing/2014/main" val="3881826309"/>
                        </a:ext>
                      </a:extLst>
                    </a:gridCol>
                    <a:gridCol w="905193">
                      <a:extLst>
                        <a:ext uri="{9D8B030D-6E8A-4147-A177-3AD203B41FA5}">
                          <a16:colId xmlns:a16="http://schemas.microsoft.com/office/drawing/2014/main" val="806106367"/>
                        </a:ext>
                      </a:extLst>
                    </a:gridCol>
                    <a:gridCol w="2357628">
                      <a:extLst>
                        <a:ext uri="{9D8B030D-6E8A-4147-A177-3AD203B41FA5}">
                          <a16:colId xmlns:a16="http://schemas.microsoft.com/office/drawing/2014/main" val="3788249744"/>
                        </a:ext>
                      </a:extLst>
                    </a:gridCol>
                    <a:gridCol w="2243074">
                      <a:extLst>
                        <a:ext uri="{9D8B030D-6E8A-4147-A177-3AD203B41FA5}">
                          <a16:colId xmlns:a16="http://schemas.microsoft.com/office/drawing/2014/main" val="38076266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𝒑𝒃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𝒑𝒃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𝒑𝒃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𝒑𝒓𝒊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𝒑𝒃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PI 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18679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 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4.4884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0.41</m:t>
                                </m:r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=2.77,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=1.48</m:t>
                                </m:r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51226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6.3412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=3.58,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=1.84</m:t>
                                </m:r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12359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 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7.7441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0.18</m:t>
                                </m:r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=1.83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=2.2</m:t>
                                </m:r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00010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518F91FF-ABDF-64C0-F74F-7D70D36C35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2750865"/>
                  </p:ext>
                </p:extLst>
              </p:nvPr>
            </p:nvGraphicFramePr>
            <p:xfrm>
              <a:off x="5812148" y="2101571"/>
              <a:ext cx="6096699" cy="20999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0804">
                      <a:extLst>
                        <a:ext uri="{9D8B030D-6E8A-4147-A177-3AD203B41FA5}">
                          <a16:colId xmlns:a16="http://schemas.microsoft.com/office/drawing/2014/main" val="3881826309"/>
                        </a:ext>
                      </a:extLst>
                    </a:gridCol>
                    <a:gridCol w="905193">
                      <a:extLst>
                        <a:ext uri="{9D8B030D-6E8A-4147-A177-3AD203B41FA5}">
                          <a16:colId xmlns:a16="http://schemas.microsoft.com/office/drawing/2014/main" val="806106367"/>
                        </a:ext>
                      </a:extLst>
                    </a:gridCol>
                    <a:gridCol w="2357628">
                      <a:extLst>
                        <a:ext uri="{9D8B030D-6E8A-4147-A177-3AD203B41FA5}">
                          <a16:colId xmlns:a16="http://schemas.microsoft.com/office/drawing/2014/main" val="3788249744"/>
                        </a:ext>
                      </a:extLst>
                    </a:gridCol>
                    <a:gridCol w="2243074">
                      <a:extLst>
                        <a:ext uri="{9D8B030D-6E8A-4147-A177-3AD203B41FA5}">
                          <a16:colId xmlns:a16="http://schemas.microsoft.com/office/drawing/2014/main" val="3807626669"/>
                        </a:ext>
                      </a:extLst>
                    </a:gridCol>
                  </a:tblGrid>
                  <a:tr h="3903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31" t="-7813" r="-936082" b="-4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5772" t="-7813" r="-509396" b="-4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824" t="-7813" r="-96124" b="-4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PI parameter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1867932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 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4.4884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824" t="-107813" r="-96124" b="-3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2283" t="-107813" r="-1087" b="-34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5122668"/>
                      </a:ext>
                    </a:extLst>
                  </a:tr>
                  <a:tr h="661289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6.3412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824" t="-122018" r="-96124" b="-1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2283" t="-122018" r="-1087" b="-1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359022"/>
                      </a:ext>
                    </a:extLst>
                  </a:tr>
                  <a:tr h="661289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 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7.7441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824" t="-222018" r="-96124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2283" t="-222018" r="-1087" b="-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00010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CBE0576-2DB0-0A1E-7034-2A89F7E12E4C}"/>
              </a:ext>
            </a:extLst>
          </p:cNvPr>
          <p:cNvSpPr txBox="1"/>
          <p:nvPr/>
        </p:nvSpPr>
        <p:spPr>
          <a:xfrm>
            <a:off x="6161987" y="4201516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Tabuľka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pracovných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identifikované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prenosové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funkcie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262261-8EF0-B0C6-BFEF-113342F7B195}"/>
                  </a:ext>
                </a:extLst>
              </p:cNvPr>
              <p:cNvSpPr txBox="1"/>
              <p:nvPr/>
            </p:nvSpPr>
            <p:spPr>
              <a:xfrm>
                <a:off x="5731497" y="5143258"/>
                <a:ext cx="1357808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Filter pre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262261-8EF0-B0C6-BFEF-113342F7B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497" y="5143258"/>
                <a:ext cx="1357808" cy="391902"/>
              </a:xfrm>
              <a:prstGeom prst="rect">
                <a:avLst/>
              </a:prstGeom>
              <a:blipFill>
                <a:blip r:embed="rId4"/>
                <a:stretch>
                  <a:fillRect l="-3587" t="-9375" r="-1345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FBF4DB-0142-3314-3593-C7CFE4B4361F}"/>
                  </a:ext>
                </a:extLst>
              </p:cNvPr>
              <p:cNvSpPr txBox="1"/>
              <p:nvPr/>
            </p:nvSpPr>
            <p:spPr>
              <a:xfrm>
                <a:off x="5812148" y="1481493"/>
                <a:ext cx="323550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FBF4DB-0142-3314-3593-C7CFE4B43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148" y="1481493"/>
                <a:ext cx="3235501" cy="298415"/>
              </a:xfrm>
              <a:prstGeom prst="rect">
                <a:avLst/>
              </a:prstGeom>
              <a:blipFill>
                <a:blip r:embed="rId5"/>
                <a:stretch>
                  <a:fillRect l="-1130" r="-377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1EBB7A-3D36-6FE3-A7FC-4FCC2782BFCE}"/>
                  </a:ext>
                </a:extLst>
              </p:cNvPr>
              <p:cNvSpPr txBox="1"/>
              <p:nvPr/>
            </p:nvSpPr>
            <p:spPr>
              <a:xfrm>
                <a:off x="5731497" y="5601705"/>
                <a:ext cx="2021836" cy="586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1EBB7A-3D36-6FE3-A7FC-4FCC2782B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497" y="5601705"/>
                <a:ext cx="2021836" cy="586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33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100E-C7CE-0419-504C-89CF757F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Zákon</a:t>
            </a:r>
            <a:r>
              <a:rPr lang="en-US" dirty="0"/>
              <a:t> </a:t>
            </a:r>
            <a:r>
              <a:rPr lang="en-US" dirty="0" err="1"/>
              <a:t>riadenia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C947CC-5F02-79FA-D46E-330C4333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13/20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75FA1-D590-C495-5148-8085B2AFE86C}"/>
              </a:ext>
            </a:extLst>
          </p:cNvPr>
          <p:cNvSpPr txBox="1"/>
          <p:nvPr/>
        </p:nvSpPr>
        <p:spPr>
          <a:xfrm>
            <a:off x="838200" y="15687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Binárne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aktivačné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signály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199E7-C890-0C01-73D1-6219DB569658}"/>
              </a:ext>
            </a:extLst>
          </p:cNvPr>
          <p:cNvSpPr txBox="1"/>
          <p:nvPr/>
        </p:nvSpPr>
        <p:spPr>
          <a:xfrm>
            <a:off x="838200" y="268108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Chyby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regulátorov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4B54F-4D45-1650-AB47-7DC5BEECC137}"/>
              </a:ext>
            </a:extLst>
          </p:cNvPr>
          <p:cNvSpPr txBox="1"/>
          <p:nvPr/>
        </p:nvSpPr>
        <p:spPr>
          <a:xfrm>
            <a:off x="838200" y="417862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Zákony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riadenia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regulátorov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50997B-4482-68CE-389C-5DE89B2C1211}"/>
              </a:ext>
            </a:extLst>
          </p:cNvPr>
          <p:cNvSpPr txBox="1"/>
          <p:nvPr/>
        </p:nvSpPr>
        <p:spPr>
          <a:xfrm>
            <a:off x="7564127" y="64793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Zákon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riadenia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381689-46B9-8817-5A9E-E758194649B7}"/>
              </a:ext>
            </a:extLst>
          </p:cNvPr>
          <p:cNvSpPr txBox="1"/>
          <p:nvPr/>
        </p:nvSpPr>
        <p:spPr>
          <a:xfrm>
            <a:off x="7189493" y="202324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Počiatočné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stavy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integrátorov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CCC3CB-AB73-8A87-90B0-17F00F6695AE}"/>
              </a:ext>
            </a:extLst>
          </p:cNvPr>
          <p:cNvSpPr txBox="1"/>
          <p:nvPr/>
        </p:nvSpPr>
        <p:spPr>
          <a:xfrm>
            <a:off x="5718330" y="3993200"/>
            <a:ext cx="6829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Prepnutie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A02091-C95D-72AE-1F92-41966E361534}"/>
              </a:ext>
            </a:extLst>
          </p:cNvPr>
          <p:cNvSpPr txBox="1"/>
          <p:nvPr/>
        </p:nvSpPr>
        <p:spPr>
          <a:xfrm>
            <a:off x="5718330" y="45069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ustálený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aspoň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 z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posledných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hodnôt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nachádza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intervale: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0A3890-3E22-582B-96AC-F48683441C92}"/>
                  </a:ext>
                </a:extLst>
              </p:cNvPr>
              <p:cNvSpPr txBox="1"/>
              <p:nvPr/>
            </p:nvSpPr>
            <p:spPr>
              <a:xfrm>
                <a:off x="904875" y="1912342"/>
                <a:ext cx="137242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∈{0, 1}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0A3890-3E22-582B-96AC-F48683441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1912342"/>
                <a:ext cx="1372427" cy="299569"/>
              </a:xfrm>
              <a:prstGeom prst="rect">
                <a:avLst/>
              </a:prstGeom>
              <a:blipFill>
                <a:blip r:embed="rId2"/>
                <a:stretch>
                  <a:fillRect l="-4425" t="-2041" r="-398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A341BD-DA96-1623-7FBE-CA95B69172D5}"/>
                  </a:ext>
                </a:extLst>
              </p:cNvPr>
              <p:cNvSpPr txBox="1"/>
              <p:nvPr/>
            </p:nvSpPr>
            <p:spPr>
              <a:xfrm>
                <a:off x="897228" y="3013168"/>
                <a:ext cx="2931123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𝑝𝑏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A341BD-DA96-1623-7FBE-CA95B6917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228" y="3013168"/>
                <a:ext cx="2931123" cy="318164"/>
              </a:xfrm>
              <a:prstGeom prst="rect">
                <a:avLst/>
              </a:prstGeom>
              <a:blipFill>
                <a:blip r:embed="rId3"/>
                <a:stretch>
                  <a:fillRect l="-2079" r="-208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F12AC4-DF11-FC43-ADA2-37CD3BA823A0}"/>
                  </a:ext>
                </a:extLst>
              </p:cNvPr>
              <p:cNvSpPr txBox="1"/>
              <p:nvPr/>
            </p:nvSpPr>
            <p:spPr>
              <a:xfrm>
                <a:off x="904875" y="3436120"/>
                <a:ext cx="3098349" cy="53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F12AC4-DF11-FC43-ADA2-37CD3BA82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3436120"/>
                <a:ext cx="3098349" cy="531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78F072-0504-D1D4-3939-DC8CF8333F11}"/>
                  </a:ext>
                </a:extLst>
              </p:cNvPr>
              <p:cNvSpPr txBox="1"/>
              <p:nvPr/>
            </p:nvSpPr>
            <p:spPr>
              <a:xfrm>
                <a:off x="897228" y="4552226"/>
                <a:ext cx="247144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78F072-0504-D1D4-3939-DC8CF8333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228" y="4552226"/>
                <a:ext cx="2471446" cy="298415"/>
              </a:xfrm>
              <a:prstGeom prst="rect">
                <a:avLst/>
              </a:prstGeom>
              <a:blipFill>
                <a:blip r:embed="rId5"/>
                <a:stretch>
                  <a:fillRect l="-2463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FAC0E5-FE1D-9443-6EDF-6CEE8F22B4C1}"/>
                  </a:ext>
                </a:extLst>
              </p:cNvPr>
              <p:cNvSpPr txBox="1"/>
              <p:nvPr/>
            </p:nvSpPr>
            <p:spPr>
              <a:xfrm>
                <a:off x="904875" y="4946295"/>
                <a:ext cx="211968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FAC0E5-FE1D-9443-6EDF-6CEE8F22B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4946295"/>
                <a:ext cx="2119683" cy="299569"/>
              </a:xfrm>
              <a:prstGeom prst="rect">
                <a:avLst/>
              </a:prstGeom>
              <a:blipFill>
                <a:blip r:embed="rId6"/>
                <a:stretch>
                  <a:fillRect l="-287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42ECF6-0CCE-32EF-759E-41A7AA5D3F14}"/>
                  </a:ext>
                </a:extLst>
              </p:cNvPr>
              <p:cNvSpPr txBox="1"/>
              <p:nvPr/>
            </p:nvSpPr>
            <p:spPr>
              <a:xfrm>
                <a:off x="5870199" y="1013105"/>
                <a:ext cx="4806252" cy="719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𝑝𝑏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 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42ECF6-0CCE-32EF-759E-41A7AA5D3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199" y="1013105"/>
                <a:ext cx="4806252" cy="7194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615AC7-257E-B6E4-29D4-5E7D76E4615F}"/>
                  </a:ext>
                </a:extLst>
              </p:cNvPr>
              <p:cNvSpPr txBox="1"/>
              <p:nvPr/>
            </p:nvSpPr>
            <p:spPr>
              <a:xfrm>
                <a:off x="6797507" y="2495960"/>
                <a:ext cx="3626185" cy="6451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𝑝𝑏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,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615AC7-257E-B6E4-29D4-5E7D76E46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507" y="2495960"/>
                <a:ext cx="3626185" cy="6451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4DD588-7858-255D-7BA6-42E857748DE1}"/>
                  </a:ext>
                </a:extLst>
              </p:cNvPr>
              <p:cNvSpPr txBox="1"/>
              <p:nvPr/>
            </p:nvSpPr>
            <p:spPr>
              <a:xfrm>
                <a:off x="6797507" y="3165708"/>
                <a:ext cx="6829424" cy="697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,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4DD588-7858-255D-7BA6-42E857748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507" y="3165708"/>
                <a:ext cx="6829424" cy="6974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4A8E75-0411-8E49-6E2D-750593A1C1A1}"/>
                  </a:ext>
                </a:extLst>
              </p:cNvPr>
              <p:cNvSpPr txBox="1"/>
              <p:nvPr/>
            </p:nvSpPr>
            <p:spPr>
              <a:xfrm>
                <a:off x="5770653" y="5209825"/>
                <a:ext cx="2502672" cy="318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−0.03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+0.03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4A8E75-0411-8E49-6E2D-750593A1C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653" y="5209825"/>
                <a:ext cx="2502672" cy="318036"/>
              </a:xfrm>
              <a:prstGeom prst="rect">
                <a:avLst/>
              </a:prstGeom>
              <a:blipFill>
                <a:blip r:embed="rId10"/>
                <a:stretch>
                  <a:fillRect b="-2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1606B22-9F7D-AFC1-0454-2F4FA026A9F2}"/>
                  </a:ext>
                </a:extLst>
              </p:cNvPr>
              <p:cNvSpPr txBox="1"/>
              <p:nvPr/>
            </p:nvSpPr>
            <p:spPr>
              <a:xfrm>
                <a:off x="5768218" y="5631718"/>
                <a:ext cx="3591817" cy="778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𝑝𝑏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𝑝𝑏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1606B22-9F7D-AFC1-0454-2F4FA026A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218" y="5631718"/>
                <a:ext cx="3591817" cy="7788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22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F2D9E1-F788-783D-B5C1-2D44DF21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14/20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777DD8-4242-F846-6677-50F0BC3CC0C8}"/>
              </a:ext>
            </a:extLst>
          </p:cNvPr>
          <p:cNvSpPr/>
          <p:nvPr/>
        </p:nvSpPr>
        <p:spPr>
          <a:xfrm>
            <a:off x="0" y="0"/>
            <a:ext cx="12192000" cy="141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4EA77C-592D-4EC3-DAAB-0456FB812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95" y="0"/>
            <a:ext cx="6139995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73C0E0-94E0-E725-CA7B-EC92C1551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69" y="0"/>
            <a:ext cx="7089662" cy="43190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747371C-D745-F32B-A257-66E6719E4C39}"/>
              </a:ext>
            </a:extLst>
          </p:cNvPr>
          <p:cNvSpPr txBox="1"/>
          <p:nvPr/>
        </p:nvSpPr>
        <p:spPr>
          <a:xfrm>
            <a:off x="5599169" y="5894685"/>
            <a:ext cx="48080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36: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Experimentálne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overenie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prepínania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pracovných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implementácii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PLC Siemens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0FF7A9-C914-D1EA-3D99-218B444E25D9}"/>
              </a:ext>
            </a:extLst>
          </p:cNvPr>
          <p:cNvSpPr txBox="1"/>
          <p:nvPr/>
        </p:nvSpPr>
        <p:spPr>
          <a:xfrm>
            <a:off x="7139666" y="4319025"/>
            <a:ext cx="45555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Obr. 37: Detail regulácie v okolí pracovného bodu pri implementácii algoritmu v PLC Siemens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153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F564-7A28-E09E-CD57-32CA0863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Porovnanie</a:t>
            </a:r>
            <a:r>
              <a:rPr lang="en-US" dirty="0"/>
              <a:t> </a:t>
            </a:r>
            <a:r>
              <a:rPr lang="en-US" dirty="0" err="1"/>
              <a:t>výsledkov</a:t>
            </a:r>
            <a:r>
              <a:rPr lang="en-US" dirty="0"/>
              <a:t> z </a:t>
            </a:r>
            <a:r>
              <a:rPr lang="en-US" dirty="0" err="1"/>
              <a:t>jednotlivých</a:t>
            </a:r>
            <a:r>
              <a:rPr lang="en-US" dirty="0"/>
              <a:t> </a:t>
            </a:r>
            <a:r>
              <a:rPr lang="en-US" dirty="0" err="1"/>
              <a:t>implementácií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AD273D-6AAE-9F22-D3A2-E9C5E0DB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15/20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8AAE30-79A6-2E87-EB95-82BB3C23D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91" y="1593182"/>
            <a:ext cx="10000445" cy="5077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0285D-C785-BAAC-902E-7F56B9E51AC7}"/>
                  </a:ext>
                </a:extLst>
              </p:cNvPr>
              <p:cNvSpPr txBox="1"/>
              <p:nvPr/>
            </p:nvSpPr>
            <p:spPr>
              <a:xfrm>
                <a:off x="9218948" y="286298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𝑀𝐴𝑇𝐿𝐴𝐵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=0.497536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=0.405534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𝑃𝐿𝐶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=0.456926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0285D-C785-BAAC-902E-7F56B9E51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8948" y="286298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062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0B6E-2570-4097-0195-161CE0A70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Adaptívne</a:t>
            </a:r>
            <a:r>
              <a:rPr lang="en-US" sz="3200" dirty="0"/>
              <a:t> </a:t>
            </a:r>
            <a:r>
              <a:rPr lang="en-US" sz="3200" dirty="0" err="1"/>
              <a:t>riadenie</a:t>
            </a:r>
            <a:r>
              <a:rPr lang="en-US" sz="3200" dirty="0"/>
              <a:t> s </a:t>
            </a:r>
            <a:r>
              <a:rPr lang="en-US" sz="3200" dirty="0" err="1"/>
              <a:t>referenčným</a:t>
            </a:r>
            <a:r>
              <a:rPr lang="en-US" sz="3200" dirty="0"/>
              <a:t> </a:t>
            </a:r>
            <a:r>
              <a:rPr lang="en-US" sz="3200" dirty="0" err="1"/>
              <a:t>modelom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4CE24D-CA76-DE71-BB9E-AE286A520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16/20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2A177C-588B-8A09-71B3-5BA79A0C01FC}"/>
              </a:ext>
            </a:extLst>
          </p:cNvPr>
          <p:cNvSpPr txBox="1"/>
          <p:nvPr/>
        </p:nvSpPr>
        <p:spPr>
          <a:xfrm>
            <a:off x="838200" y="141843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Referenčný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3F6F46-00B3-8B12-BCF1-F2900A0C98A2}"/>
              </a:ext>
            </a:extLst>
          </p:cNvPr>
          <p:cNvSpPr txBox="1"/>
          <p:nvPr/>
        </p:nvSpPr>
        <p:spPr>
          <a:xfrm>
            <a:off x="838199" y="2351676"/>
            <a:ext cx="3225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Prechod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pracovného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E2FA96-8C5D-6C5A-0BE7-AC97CB887FAB}"/>
              </a:ext>
            </a:extLst>
          </p:cNvPr>
          <p:cNvSpPr txBox="1"/>
          <p:nvPr/>
        </p:nvSpPr>
        <p:spPr>
          <a:xfrm>
            <a:off x="838200" y="456103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Chyba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sledovania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C3E7A3-FC3C-49DD-1780-0FF243D7E923}"/>
              </a:ext>
            </a:extLst>
          </p:cNvPr>
          <p:cNvSpPr txBox="1"/>
          <p:nvPr/>
        </p:nvSpPr>
        <p:spPr>
          <a:xfrm>
            <a:off x="838200" y="545808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Regresný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CE2E2C-67E9-8F9F-D9B7-2F5B59E2EDE3}"/>
              </a:ext>
            </a:extLst>
          </p:cNvPr>
          <p:cNvSpPr txBox="1"/>
          <p:nvPr/>
        </p:nvSpPr>
        <p:spPr>
          <a:xfrm>
            <a:off x="7267372" y="133067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Zákon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riadenia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CBA84B-0B1D-D9CF-D0C3-B5CDC5FE8672}"/>
              </a:ext>
            </a:extLst>
          </p:cNvPr>
          <p:cNvSpPr txBox="1"/>
          <p:nvPr/>
        </p:nvSpPr>
        <p:spPr>
          <a:xfrm>
            <a:off x="7267372" y="2323178"/>
            <a:ext cx="6780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Adaptačný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zákon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parametrov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E1F70F-44E0-1467-CEE2-C85FE65CEC7F}"/>
              </a:ext>
            </a:extLst>
          </p:cNvPr>
          <p:cNvSpPr txBox="1"/>
          <p:nvPr/>
        </p:nvSpPr>
        <p:spPr>
          <a:xfrm>
            <a:off x="7267372" y="4386540"/>
            <a:ext cx="7022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Diskrétna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aktualizácia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5FC40D-1CB9-F5C8-6C7F-C4533D2BF9E8}"/>
              </a:ext>
            </a:extLst>
          </p:cNvPr>
          <p:cNvSpPr txBox="1"/>
          <p:nvPr/>
        </p:nvSpPr>
        <p:spPr>
          <a:xfrm>
            <a:off x="838200" y="3553774"/>
            <a:ext cx="7082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Numerická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derivácia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C3B30E-2AA7-1F5B-A895-045FFFF6D261}"/>
                  </a:ext>
                </a:extLst>
              </p:cNvPr>
              <p:cNvSpPr txBox="1"/>
              <p:nvPr/>
            </p:nvSpPr>
            <p:spPr>
              <a:xfrm>
                <a:off x="923609" y="1783423"/>
                <a:ext cx="2205476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C3B30E-2AA7-1F5B-A895-045FFFF6D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09" y="1783423"/>
                <a:ext cx="2205476" cy="576761"/>
              </a:xfrm>
              <a:prstGeom prst="rect">
                <a:avLst/>
              </a:prstGeom>
              <a:blipFill>
                <a:blip r:embed="rId2"/>
                <a:stretch>
                  <a:fillRect l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6F9244-5ABB-D134-FCC5-18590E729D8E}"/>
                  </a:ext>
                </a:extLst>
              </p:cNvPr>
              <p:cNvSpPr txBox="1"/>
              <p:nvPr/>
            </p:nvSpPr>
            <p:spPr>
              <a:xfrm>
                <a:off x="923609" y="2736819"/>
                <a:ext cx="2126864" cy="8952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𝑝𝑏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6F9244-5ABB-D134-FCC5-18590E729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09" y="2736819"/>
                <a:ext cx="2126864" cy="895245"/>
              </a:xfrm>
              <a:prstGeom prst="rect">
                <a:avLst/>
              </a:prstGeom>
              <a:blipFill>
                <a:blip r:embed="rId3"/>
                <a:stretch>
                  <a:fillRect l="-4023" r="-2874" b="-13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267DD0-FA1F-E1E4-0497-C0EB3059BB92}"/>
                  </a:ext>
                </a:extLst>
              </p:cNvPr>
              <p:cNvSpPr txBox="1"/>
              <p:nvPr/>
            </p:nvSpPr>
            <p:spPr>
              <a:xfrm>
                <a:off x="923609" y="3978183"/>
                <a:ext cx="2818207" cy="582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267DD0-FA1F-E1E4-0497-C0EB3059B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09" y="3978183"/>
                <a:ext cx="2818207" cy="582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6F7783-2114-F913-2FF8-C12E75201AAD}"/>
                  </a:ext>
                </a:extLst>
              </p:cNvPr>
              <p:cNvSpPr txBox="1"/>
              <p:nvPr/>
            </p:nvSpPr>
            <p:spPr>
              <a:xfrm>
                <a:off x="923609" y="5060161"/>
                <a:ext cx="22688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6F7783-2114-F913-2FF8-C12E75201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09" y="5060161"/>
                <a:ext cx="2268891" cy="276999"/>
              </a:xfrm>
              <a:prstGeom prst="rect">
                <a:avLst/>
              </a:prstGeom>
              <a:blipFill>
                <a:blip r:embed="rId5"/>
                <a:stretch>
                  <a:fillRect l="-2688" t="-2174" r="-1882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22F74C-05E6-265E-02E4-1E04149214F7}"/>
                  </a:ext>
                </a:extLst>
              </p:cNvPr>
              <p:cNvSpPr txBox="1"/>
              <p:nvPr/>
            </p:nvSpPr>
            <p:spPr>
              <a:xfrm>
                <a:off x="923609" y="5841106"/>
                <a:ext cx="1635383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22F74C-05E6-265E-02E4-1E0414921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09" y="5841106"/>
                <a:ext cx="1635383" cy="8803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083F84-612B-56D0-9103-9BF1A6FDFD09}"/>
                  </a:ext>
                </a:extLst>
              </p:cNvPr>
              <p:cNvSpPr txBox="1"/>
              <p:nvPr/>
            </p:nvSpPr>
            <p:spPr>
              <a:xfrm>
                <a:off x="7345984" y="1694307"/>
                <a:ext cx="2093586" cy="852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083F84-612B-56D0-9103-9BF1A6FDF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984" y="1694307"/>
                <a:ext cx="2093586" cy="852413"/>
              </a:xfrm>
              <a:prstGeom prst="rect">
                <a:avLst/>
              </a:prstGeom>
              <a:blipFill>
                <a:blip r:embed="rId7"/>
                <a:stretch>
                  <a:fillRect l="-3790" t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9F5B1-76A8-8A79-1253-8017A83FFB72}"/>
                  </a:ext>
                </a:extLst>
              </p:cNvPr>
              <p:cNvSpPr txBox="1"/>
              <p:nvPr/>
            </p:nvSpPr>
            <p:spPr>
              <a:xfrm>
                <a:off x="7349831" y="2607108"/>
                <a:ext cx="4179477" cy="22102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99F5B1-76A8-8A79-1253-8017A83FF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831" y="2607108"/>
                <a:ext cx="4179477" cy="22102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8A6676-10FA-C390-2008-1E5843FFA32F}"/>
                  </a:ext>
                </a:extLst>
              </p:cNvPr>
              <p:cNvSpPr txBox="1"/>
              <p:nvPr/>
            </p:nvSpPr>
            <p:spPr>
              <a:xfrm>
                <a:off x="7345984" y="4858024"/>
                <a:ext cx="2613985" cy="2898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8A6676-10FA-C390-2008-1E5843FFA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984" y="4858024"/>
                <a:ext cx="2613985" cy="289823"/>
              </a:xfrm>
              <a:prstGeom prst="rect">
                <a:avLst/>
              </a:prstGeom>
              <a:blipFill>
                <a:blip r:embed="rId9"/>
                <a:stretch>
                  <a:fillRect l="-1632" t="-14894" r="-2797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441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B17D-5E91-C82A-545C-8E70A95F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Výsledky</a:t>
            </a:r>
            <a:r>
              <a:rPr lang="en-US" dirty="0"/>
              <a:t> MATLAB/Simulink a PLC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B8294-7F49-02B4-02F2-F40FDD49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38912"/>
            <a:ext cx="2743200" cy="365125"/>
          </a:xfrm>
        </p:spPr>
        <p:txBody>
          <a:bodyPr/>
          <a:lstStyle/>
          <a:p>
            <a:r>
              <a:rPr lang="en-US" sz="1800" dirty="0"/>
              <a:t>17/20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CA78B-E3C9-BB58-9916-30D49490DC36}"/>
              </a:ext>
            </a:extLst>
          </p:cNvPr>
          <p:cNvSpPr txBox="1"/>
          <p:nvPr/>
        </p:nvSpPr>
        <p:spPr>
          <a:xfrm>
            <a:off x="378715" y="589258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Experimentálne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výsledky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MRAC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prechode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súradníc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559529-4E73-DDAB-2D68-428651BF8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2927" y="1418430"/>
            <a:ext cx="6293846" cy="44741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A001B3-1F36-296F-414D-6A63ADAF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346" y="1418430"/>
            <a:ext cx="6293845" cy="44741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CD7F6F-2B2B-04B4-F6A2-7BECCFC7696A}"/>
              </a:ext>
            </a:extLst>
          </p:cNvPr>
          <p:cNvSpPr txBox="1"/>
          <p:nvPr/>
        </p:nvSpPr>
        <p:spPr>
          <a:xfrm>
            <a:off x="5894270" y="5892580"/>
            <a:ext cx="65105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47: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Experimentálne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výsledky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MRAC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implementovaného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PLC Siemens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prechode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súradníc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146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BF73-DEC8-122A-92AD-C8F94C97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Výsledky</a:t>
            </a:r>
            <a:r>
              <a:rPr lang="en-US" dirty="0"/>
              <a:t> Arduino C++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B70931-B896-80E5-AEF7-F4C40223B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sz="1800" dirty="0"/>
              <a:t>18/20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2CEE6-B550-68E9-6114-09AFE2702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1550" y="1418430"/>
            <a:ext cx="6387550" cy="4540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84C341-8F37-D0BE-91C8-2C6A8F5DE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18430"/>
            <a:ext cx="6387550" cy="45407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E4AADC-90CB-97A8-B077-311DC1061576}"/>
              </a:ext>
            </a:extLst>
          </p:cNvPr>
          <p:cNvSpPr txBox="1"/>
          <p:nvPr/>
        </p:nvSpPr>
        <p:spPr>
          <a:xfrm>
            <a:off x="6329934" y="5959193"/>
            <a:ext cx="6387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44: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Experimentálne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výsledky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heuristicky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upravenej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implementácie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MRAC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jazyku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C++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AE94CE-E7EC-D091-0AB9-08DF3AE04424}"/>
              </a:ext>
            </a:extLst>
          </p:cNvPr>
          <p:cNvSpPr txBox="1"/>
          <p:nvPr/>
        </p:nvSpPr>
        <p:spPr>
          <a:xfrm>
            <a:off x="0" y="5959193"/>
            <a:ext cx="6505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Experimentálne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výsledky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MRAC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implementovaného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jazyku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C++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vynechaní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fázy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ustálenia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04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B77C-9ABA-FCA8-54F3-A8B2B0A5D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Zaver…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4A5B5-38C3-EB90-F31C-EF3A4DB3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19/20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8383A3-4C25-8685-CC8D-716AA0869BA2}"/>
              </a:ext>
            </a:extLst>
          </p:cNvPr>
          <p:cNvSpPr txBox="1"/>
          <p:nvPr/>
        </p:nvSpPr>
        <p:spPr>
          <a:xfrm>
            <a:off x="762001" y="1809750"/>
            <a:ext cx="10591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Zdokumentovaný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laboratórny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Pripravená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komunikácia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MATLAB/Simulink, Arduino C++ a PLC Siemens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Implementované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PI, PI 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prepínaním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pracovných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bodov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MRAC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experimentálne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overené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reálnom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 MRAC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ukázalo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že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rôzne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môžu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rozdielne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výsledky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rovnakej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22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6BBDE-FC23-471C-965C-3949F221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536" y="2964996"/>
            <a:ext cx="10515600" cy="748579"/>
          </a:xfrm>
        </p:spPr>
        <p:txBody>
          <a:bodyPr anchor="ctr">
            <a:noAutofit/>
          </a:bodyPr>
          <a:lstStyle/>
          <a:p>
            <a:r>
              <a:rPr lang="en-US" sz="6000" dirty="0" err="1"/>
              <a:t>Ďakujeme</a:t>
            </a:r>
            <a:r>
              <a:rPr lang="en-US" sz="6000" dirty="0"/>
              <a:t> za </a:t>
            </a:r>
            <a:r>
              <a:rPr lang="en-US" sz="6000" dirty="0" err="1"/>
              <a:t>pozornosť</a:t>
            </a:r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C19B4-25E5-0439-C24E-0B6A42C0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20/20</a:t>
            </a:r>
          </a:p>
        </p:txBody>
      </p:sp>
    </p:spTree>
    <p:extLst>
      <p:ext uri="{BB962C8B-B14F-4D97-AF65-F5344CB8AC3E}">
        <p14:creationId xmlns:p14="http://schemas.microsoft.com/office/powerpoint/2010/main" val="2122698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839D-FA63-545F-3651-566C0DB88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428"/>
            <a:ext cx="10515600" cy="748579"/>
          </a:xfrm>
        </p:spPr>
        <p:txBody>
          <a:bodyPr>
            <a:noAutofit/>
          </a:bodyPr>
          <a:lstStyle/>
          <a:p>
            <a:r>
              <a:rPr lang="en-US" sz="2400" dirty="0"/>
              <a:t>1. Pri </a:t>
            </a:r>
            <a:r>
              <a:rPr lang="en-US" sz="2400" dirty="0" err="1"/>
              <a:t>logovaní</a:t>
            </a:r>
            <a:r>
              <a:rPr lang="en-US" sz="2400" dirty="0"/>
              <a:t> </a:t>
            </a:r>
            <a:r>
              <a:rPr lang="en-US" sz="2400" dirty="0" err="1"/>
              <a:t>dát</a:t>
            </a:r>
            <a:r>
              <a:rPr lang="en-US" sz="2400" dirty="0"/>
              <a:t> v PLC do </a:t>
            </a:r>
            <a:r>
              <a:rPr lang="en-US" sz="2400" dirty="0" err="1"/>
              <a:t>polí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index </a:t>
            </a:r>
            <a:r>
              <a:rPr lang="en-US" sz="2400" dirty="0" err="1"/>
              <a:t>postupne</a:t>
            </a:r>
            <a:r>
              <a:rPr lang="en-US" sz="2400" dirty="0"/>
              <a:t> </a:t>
            </a:r>
            <a:r>
              <a:rPr lang="en-US" sz="2400" dirty="0" err="1"/>
              <a:t>inkrementuje</a:t>
            </a:r>
            <a:r>
              <a:rPr lang="en-US" sz="2400" dirty="0"/>
              <a:t>, </a:t>
            </a:r>
            <a:r>
              <a:rPr lang="en-US" sz="2400" dirty="0" err="1"/>
              <a:t>pričom</a:t>
            </a:r>
            <a:r>
              <a:rPr lang="en-US" sz="2400" dirty="0"/>
              <a:t> </a:t>
            </a:r>
            <a:r>
              <a:rPr lang="en-US" sz="2400" dirty="0" err="1"/>
              <a:t>nie</a:t>
            </a:r>
            <a:r>
              <a:rPr lang="en-US" sz="2400" dirty="0"/>
              <a:t> je </a:t>
            </a:r>
            <a:r>
              <a:rPr lang="en-US" sz="2400" dirty="0" err="1"/>
              <a:t>explicitne</a:t>
            </a:r>
            <a:r>
              <a:rPr lang="en-US" sz="2400" dirty="0"/>
              <a:t> </a:t>
            </a:r>
            <a:r>
              <a:rPr lang="en-US" sz="2400" dirty="0" err="1"/>
              <a:t>riešené</a:t>
            </a:r>
            <a:r>
              <a:rPr lang="en-US" sz="2400" dirty="0"/>
              <a:t> </a:t>
            </a:r>
            <a:r>
              <a:rPr lang="en-US" sz="2400" dirty="0" err="1"/>
              <a:t>nulovanie</a:t>
            </a:r>
            <a:r>
              <a:rPr lang="en-US" sz="2400" dirty="0"/>
              <a:t> </a:t>
            </a:r>
            <a:r>
              <a:rPr lang="en-US" sz="2400" dirty="0" err="1"/>
              <a:t>uložených</a:t>
            </a:r>
            <a:r>
              <a:rPr lang="en-US" sz="2400" dirty="0"/>
              <a:t> </a:t>
            </a:r>
            <a:r>
              <a:rPr lang="en-US" sz="2400" dirty="0" err="1"/>
              <a:t>dát</a:t>
            </a:r>
            <a:r>
              <a:rPr lang="en-US" sz="2400" dirty="0"/>
              <a:t>. Ako by </a:t>
            </a:r>
            <a:r>
              <a:rPr lang="en-US" sz="2400" dirty="0" err="1"/>
              <a:t>ste</a:t>
            </a:r>
            <a:r>
              <a:rPr lang="en-US" sz="2400" dirty="0"/>
              <a:t> v </a:t>
            </a:r>
            <a:r>
              <a:rPr lang="en-US" sz="2400" dirty="0" err="1"/>
              <a:t>praxi</a:t>
            </a:r>
            <a:r>
              <a:rPr lang="en-US" sz="2400" dirty="0"/>
              <a:t> </a:t>
            </a:r>
            <a:r>
              <a:rPr lang="en-US" sz="2400" dirty="0" err="1"/>
              <a:t>riešili</a:t>
            </a:r>
            <a:r>
              <a:rPr lang="en-US" sz="2400" dirty="0"/>
              <a:t> </a:t>
            </a:r>
            <a:r>
              <a:rPr lang="en-US" sz="2400" dirty="0" err="1"/>
              <a:t>opakované</a:t>
            </a:r>
            <a:r>
              <a:rPr lang="en-US" sz="2400" dirty="0"/>
              <a:t> </a:t>
            </a:r>
            <a:r>
              <a:rPr lang="en-US" sz="2400" dirty="0" err="1"/>
              <a:t>merania</a:t>
            </a:r>
            <a:r>
              <a:rPr lang="en-US" sz="2400" dirty="0"/>
              <a:t> bez </a:t>
            </a:r>
            <a:r>
              <a:rPr lang="en-US" sz="2400" dirty="0" err="1"/>
              <a:t>potreby</a:t>
            </a:r>
            <a:r>
              <a:rPr lang="en-US" sz="2400" dirty="0"/>
              <a:t> </a:t>
            </a:r>
            <a:r>
              <a:rPr lang="en-US" sz="2400" dirty="0" err="1"/>
              <a:t>zmeny</a:t>
            </a:r>
            <a:r>
              <a:rPr lang="en-US" sz="2400" dirty="0"/>
              <a:t> </a:t>
            </a:r>
            <a:r>
              <a:rPr lang="en-US" sz="2400" dirty="0" err="1"/>
              <a:t>režimu</a:t>
            </a:r>
            <a:r>
              <a:rPr lang="en-US" sz="2400" dirty="0"/>
              <a:t> CPU?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C06F3F-E35D-4BD9-1F9E-C0507155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21/20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19E883-0289-6EB1-0185-358D7B4FF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6" y="2374367"/>
            <a:ext cx="4471447" cy="2639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34596B-C736-1573-9E6B-91BD68D9A858}"/>
              </a:ext>
            </a:extLst>
          </p:cNvPr>
          <p:cNvSpPr txBox="1"/>
          <p:nvPr/>
        </p:nvSpPr>
        <p:spPr>
          <a:xfrm>
            <a:off x="179832" y="5060150"/>
            <a:ext cx="4584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kódu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Implementácia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logovacieho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FB_PI_LOGGER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A0A2C-8D5D-D642-47F9-C8F2F0BBF0E7}"/>
              </a:ext>
            </a:extLst>
          </p:cNvPr>
          <p:cNvSpPr txBox="1"/>
          <p:nvPr/>
        </p:nvSpPr>
        <p:spPr>
          <a:xfrm>
            <a:off x="5724144" y="2258568"/>
            <a:ext cx="56296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Reset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logovacieho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Full = FALSE, LOGS[all] = 0;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Stavový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 → RESET → MEASURE → DONE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Kruhový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buffer + snapshot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buffery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658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326E-5C74-AA57-4C16-C10198AB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1292"/>
            <a:ext cx="10515600" cy="748579"/>
          </a:xfrm>
        </p:spPr>
        <p:txBody>
          <a:bodyPr>
            <a:noAutofit/>
          </a:bodyPr>
          <a:lstStyle/>
          <a:p>
            <a:r>
              <a:rPr lang="en-US" sz="2000" dirty="0"/>
              <a:t>2. Na </a:t>
            </a:r>
            <a:r>
              <a:rPr lang="en-US" sz="2000" dirty="0" err="1"/>
              <a:t>predmete</a:t>
            </a:r>
            <a:r>
              <a:rPr lang="en-US" sz="2000" dirty="0"/>
              <a:t> </a:t>
            </a:r>
            <a:r>
              <a:rPr lang="en-US" sz="2000" dirty="0" err="1"/>
              <a:t>Riadiace</a:t>
            </a:r>
            <a:r>
              <a:rPr lang="en-US" sz="2000" dirty="0"/>
              <a:t> </a:t>
            </a:r>
            <a:r>
              <a:rPr lang="en-US" sz="2000" dirty="0" err="1"/>
              <a:t>systémy</a:t>
            </a:r>
            <a:r>
              <a:rPr lang="en-US" sz="2000" dirty="0"/>
              <a:t> </a:t>
            </a:r>
            <a:r>
              <a:rPr lang="en-US" sz="2000" dirty="0" err="1"/>
              <a:t>ste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stretli</a:t>
            </a:r>
            <a:r>
              <a:rPr lang="en-US" sz="2000" dirty="0"/>
              <a:t> s </a:t>
            </a:r>
            <a:r>
              <a:rPr lang="en-US" sz="2000" dirty="0" err="1"/>
              <a:t>inštrukciou</a:t>
            </a:r>
            <a:r>
              <a:rPr lang="en-US" sz="2000" dirty="0"/>
              <a:t> </a:t>
            </a:r>
            <a:r>
              <a:rPr lang="en-US" sz="2000" dirty="0" err="1"/>
              <a:t>PID_Compact</a:t>
            </a:r>
            <a:r>
              <a:rPr lang="en-US" sz="2000" dirty="0"/>
              <a:t>, </a:t>
            </a:r>
            <a:r>
              <a:rPr lang="en-US" sz="2000" dirty="0" err="1"/>
              <a:t>ktorá</a:t>
            </a:r>
            <a:r>
              <a:rPr lang="en-US" sz="2000" dirty="0"/>
              <a:t> je </a:t>
            </a:r>
            <a:r>
              <a:rPr lang="en-US" sz="2000" dirty="0" err="1"/>
              <a:t>dostupná</a:t>
            </a:r>
            <a:r>
              <a:rPr lang="en-US" sz="2000" dirty="0"/>
              <a:t> v </a:t>
            </a:r>
            <a:r>
              <a:rPr lang="en-US" sz="2000" dirty="0" err="1"/>
              <a:t>knižnici</a:t>
            </a:r>
            <a:r>
              <a:rPr lang="en-US" sz="2000" dirty="0"/>
              <a:t> TIA Portal. </a:t>
            </a:r>
            <a:r>
              <a:rPr lang="en-US" sz="2000" dirty="0" err="1"/>
              <a:t>Neuvažovali</a:t>
            </a:r>
            <a:r>
              <a:rPr lang="en-US" sz="2000" dirty="0"/>
              <a:t> </a:t>
            </a:r>
            <a:r>
              <a:rPr lang="en-US" sz="2000" dirty="0" err="1"/>
              <a:t>ste</a:t>
            </a:r>
            <a:r>
              <a:rPr lang="en-US" sz="2000" dirty="0"/>
              <a:t> o </a:t>
            </a:r>
            <a:r>
              <a:rPr lang="en-US" sz="2000" dirty="0" err="1"/>
              <a:t>porovnaní</a:t>
            </a:r>
            <a:r>
              <a:rPr lang="en-US" sz="2000" dirty="0"/>
              <a:t> </a:t>
            </a:r>
            <a:r>
              <a:rPr lang="en-US" sz="2000" dirty="0" err="1"/>
              <a:t>vlastnej</a:t>
            </a:r>
            <a:r>
              <a:rPr lang="en-US" sz="2000" dirty="0"/>
              <a:t> </a:t>
            </a:r>
            <a:r>
              <a:rPr lang="en-US" sz="2000" dirty="0" err="1"/>
              <a:t>implementácie</a:t>
            </a:r>
            <a:r>
              <a:rPr lang="en-US" sz="2000" dirty="0"/>
              <a:t> </a:t>
            </a:r>
            <a:r>
              <a:rPr lang="en-US" sz="2000" dirty="0" err="1"/>
              <a:t>aspoň</a:t>
            </a:r>
            <a:r>
              <a:rPr lang="en-US" sz="2000" dirty="0"/>
              <a:t> s </a:t>
            </a:r>
            <a:r>
              <a:rPr lang="en-US" sz="2000" dirty="0" err="1"/>
              <a:t>jedným</a:t>
            </a:r>
            <a:r>
              <a:rPr lang="en-US" sz="2000" dirty="0"/>
              <a:t> </a:t>
            </a:r>
            <a:r>
              <a:rPr lang="en-US" sz="2000" dirty="0" err="1"/>
              <a:t>existujúcim</a:t>
            </a:r>
            <a:r>
              <a:rPr lang="en-US" sz="2000" dirty="0"/>
              <a:t> </a:t>
            </a:r>
            <a:r>
              <a:rPr lang="en-US" sz="2000" dirty="0" err="1"/>
              <a:t>riešením</a:t>
            </a:r>
            <a:r>
              <a:rPr lang="en-US" sz="2000" dirty="0"/>
              <a:t> (</a:t>
            </a:r>
            <a:r>
              <a:rPr lang="en-US" sz="2000" dirty="0" err="1"/>
              <a:t>napr</a:t>
            </a:r>
            <a:r>
              <a:rPr lang="en-US" sz="2000" dirty="0"/>
              <a:t>. </a:t>
            </a:r>
            <a:r>
              <a:rPr lang="en-US" sz="2000" dirty="0" err="1"/>
              <a:t>PID_Compact</a:t>
            </a:r>
            <a:r>
              <a:rPr lang="en-US" sz="2000" dirty="0"/>
              <a:t>)? </a:t>
            </a:r>
            <a:r>
              <a:rPr lang="en-US" sz="2000" dirty="0" err="1"/>
              <a:t>Má</a:t>
            </a:r>
            <a:r>
              <a:rPr lang="en-US" sz="2000" dirty="0"/>
              <a:t> </a:t>
            </a:r>
            <a:r>
              <a:rPr lang="en-US" sz="2000" dirty="0" err="1"/>
              <a:t>PID_Compact</a:t>
            </a:r>
            <a:r>
              <a:rPr lang="en-US" sz="2000" dirty="0"/>
              <a:t> v </a:t>
            </a:r>
            <a:r>
              <a:rPr lang="en-US" sz="2000" dirty="0" err="1"/>
              <a:t>porovnaní</a:t>
            </a:r>
            <a:r>
              <a:rPr lang="en-US" sz="2000" dirty="0"/>
              <a:t> s </a:t>
            </a:r>
            <a:r>
              <a:rPr lang="en-US" sz="2000" dirty="0" err="1"/>
              <a:t>Vaším</a:t>
            </a:r>
            <a:r>
              <a:rPr lang="en-US" sz="2000" dirty="0"/>
              <a:t> </a:t>
            </a:r>
            <a:r>
              <a:rPr lang="en-US" sz="2000" dirty="0" err="1"/>
              <a:t>riešením</a:t>
            </a:r>
            <a:r>
              <a:rPr lang="en-US" sz="2000" dirty="0"/>
              <a:t> </a:t>
            </a:r>
            <a:r>
              <a:rPr lang="en-US" sz="2000" dirty="0" err="1"/>
              <a:t>nejakú</a:t>
            </a:r>
            <a:r>
              <a:rPr lang="en-US" sz="2000" dirty="0"/>
              <a:t> </a:t>
            </a:r>
            <a:r>
              <a:rPr lang="en-US" sz="2000" dirty="0" err="1"/>
              <a:t>nevýhodu</a:t>
            </a:r>
            <a:r>
              <a:rPr lang="en-US" sz="2000" dirty="0"/>
              <a:t>? </a:t>
            </a:r>
            <a:r>
              <a:rPr lang="en-US" sz="2000" dirty="0" err="1"/>
              <a:t>Stručne</a:t>
            </a:r>
            <a:r>
              <a:rPr lang="en-US" sz="2000" dirty="0"/>
              <a:t> </a:t>
            </a:r>
            <a:r>
              <a:rPr lang="en-US" sz="2000" dirty="0" err="1"/>
              <a:t>vysvetlite</a:t>
            </a:r>
            <a:r>
              <a:rPr lang="en-US" sz="20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66D2F-A653-108A-7B36-57085C2B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800" dirty="0"/>
              <a:t>22/20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DC3822-211D-E595-2DB3-B13DE8D8CB47}"/>
                  </a:ext>
                </a:extLst>
              </p:cNvPr>
              <p:cNvSpPr txBox="1"/>
              <p:nvPr/>
            </p:nvSpPr>
            <p:spPr>
              <a:xfrm>
                <a:off x="838200" y="2084832"/>
                <a:ext cx="9504205" cy="616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===⇒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DC3822-211D-E595-2DB3-B13DE8D8C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84832"/>
                <a:ext cx="9504205" cy="616387"/>
              </a:xfrm>
              <a:prstGeom prst="rect">
                <a:avLst/>
              </a:prstGeom>
              <a:blipFill>
                <a:blip r:embed="rId2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4E15ED0-A62A-4AB9-79A3-096130AA89A4}"/>
              </a:ext>
            </a:extLst>
          </p:cNvPr>
          <p:cNvSpPr txBox="1"/>
          <p:nvPr/>
        </p:nvSpPr>
        <p:spPr>
          <a:xfrm>
            <a:off x="838200" y="1715500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PID_Compact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5DF9C-7500-4258-3801-3730039DCDFA}"/>
                  </a:ext>
                </a:extLst>
              </p:cNvPr>
              <p:cNvSpPr txBox="1"/>
              <p:nvPr/>
            </p:nvSpPr>
            <p:spPr>
              <a:xfrm>
                <a:off x="838200" y="2779776"/>
                <a:ext cx="4951355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Teda: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𝑐𝑜𝑚𝑝𝑎𝑐𝑡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𝑐𝑜𝑚𝑝𝑎𝑐𝑡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ale: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5DF9C-7500-4258-3801-3730039DC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79776"/>
                <a:ext cx="4951355" cy="390748"/>
              </a:xfrm>
              <a:prstGeom prst="rect">
                <a:avLst/>
              </a:prstGeom>
              <a:blipFill>
                <a:blip r:embed="rId3"/>
                <a:stretch>
                  <a:fillRect l="-1108" t="-7813" r="-739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CC02961-7F2E-5010-1A04-2F0E86832111}"/>
              </a:ext>
            </a:extLst>
          </p:cNvPr>
          <p:cNvSpPr txBox="1"/>
          <p:nvPr/>
        </p:nvSpPr>
        <p:spPr>
          <a:xfrm>
            <a:off x="838200" y="3276180"/>
            <a:ext cx="44287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Vlastná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implementácia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jednoduchšia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štruktúra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výpočtov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transparentný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algoritmus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ľahká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úprava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logiky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možný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čistý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regulátor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funkcií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bez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komplexného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anti-windup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bez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diagnostiky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autotuningu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8827BB-69A9-C1A7-D483-B1587350D420}"/>
              </a:ext>
            </a:extLst>
          </p:cNvPr>
          <p:cNvSpPr txBox="1"/>
          <p:nvPr/>
        </p:nvSpPr>
        <p:spPr>
          <a:xfrm>
            <a:off x="5789555" y="3272608"/>
            <a:ext cx="45528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PID_Compact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priemyselný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štandard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diagnostika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režimy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práce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autotuning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anti-windup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vhodný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bežnú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prax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zložitejší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transparentný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vnútorný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výpočet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sú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viazané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proprietárnosť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6427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DAC7-6A1A-1FB6-08FD-7C2E1DAA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2800" dirty="0" err="1"/>
              <a:t>Merania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identifikáciu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systému</a:t>
            </a:r>
            <a:r>
              <a:rPr lang="en-US" altLang="en-US" sz="2800" dirty="0"/>
              <a:t> v </a:t>
            </a:r>
            <a:r>
              <a:rPr lang="en-US" altLang="en-US" sz="2800" dirty="0" err="1"/>
              <a:t>pracovnom</a:t>
            </a:r>
            <a:r>
              <a:rPr lang="en-US" altLang="en-US" sz="2800" dirty="0"/>
              <a:t> bode: </a:t>
            </a:r>
            <a:br>
              <a:rPr lang="en-US" altLang="en-US" sz="2800" dirty="0"/>
            </a:br>
            <a:r>
              <a:rPr lang="en-US" altLang="en-US" sz="2800" dirty="0"/>
              <a:t>Detrend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F4D10-DF8E-E6BA-D834-523C94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46315-BC4D-55BD-F0D8-788CFB73A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1" y="1699043"/>
            <a:ext cx="5533651" cy="33480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4B340C-87E6-3E4C-F870-655D65ADD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728" y="1699043"/>
            <a:ext cx="5533651" cy="33480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9D7B9EB-DD7B-EF77-8B71-F329392E78DF}"/>
              </a:ext>
            </a:extLst>
          </p:cNvPr>
          <p:cNvSpPr/>
          <p:nvPr/>
        </p:nvSpPr>
        <p:spPr>
          <a:xfrm>
            <a:off x="5724144" y="3246120"/>
            <a:ext cx="722376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5CF46-626C-F497-3E03-ABCCFCFABED1}"/>
              </a:ext>
            </a:extLst>
          </p:cNvPr>
          <p:cNvSpPr txBox="1"/>
          <p:nvPr/>
        </p:nvSpPr>
        <p:spPr>
          <a:xfrm>
            <a:off x="0" y="5047069"/>
            <a:ext cx="6213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10: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Vstupný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signál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špirály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senzora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skokovej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zmene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8F32F-C682-F378-41E1-BF1BDDF58F52}"/>
              </a:ext>
            </a:extLst>
          </p:cNvPr>
          <p:cNvSpPr txBox="1"/>
          <p:nvPr/>
        </p:nvSpPr>
        <p:spPr>
          <a:xfrm>
            <a:off x="6153912" y="5047068"/>
            <a:ext cx="6213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Normalizované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detrendované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priebehy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vstupného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signálu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760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06BC-A289-B761-999E-AFA1E0C7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2800" dirty="0" err="1"/>
              <a:t>Merania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identifikáciu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systému</a:t>
            </a:r>
            <a:r>
              <a:rPr lang="en-US" altLang="en-US" sz="2800" dirty="0"/>
              <a:t> v </a:t>
            </a:r>
            <a:r>
              <a:rPr lang="en-US" altLang="en-US" sz="2800" dirty="0" err="1"/>
              <a:t>pracovnom</a:t>
            </a:r>
            <a:r>
              <a:rPr lang="en-US" altLang="en-US" sz="2800" dirty="0"/>
              <a:t> bode: </a:t>
            </a:r>
            <a:br>
              <a:rPr lang="en-US" altLang="en-US" sz="2800" dirty="0"/>
            </a:br>
            <a:r>
              <a:rPr lang="en-US" sz="2800" dirty="0" err="1"/>
              <a:t>Prechodová</a:t>
            </a:r>
            <a:r>
              <a:rPr lang="en-US" sz="2800" dirty="0"/>
              <a:t> </a:t>
            </a:r>
            <a:r>
              <a:rPr lang="en-US" sz="2800" dirty="0" err="1"/>
              <a:t>charakteristika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58F01-AC3C-B191-ED81-B6F860BF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A4CA9-3F29-893F-BAE0-D191A8E7D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084" y="1699043"/>
            <a:ext cx="6211831" cy="44145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88000D-9D23-ABD5-F233-DEB9B50EC853}"/>
              </a:ext>
            </a:extLst>
          </p:cNvPr>
          <p:cNvSpPr txBox="1"/>
          <p:nvPr/>
        </p:nvSpPr>
        <p:spPr>
          <a:xfrm>
            <a:off x="2990084" y="6051509"/>
            <a:ext cx="6213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Priemerná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odozva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bode 4 V</a:t>
            </a:r>
          </a:p>
        </p:txBody>
      </p:sp>
    </p:spTree>
    <p:extLst>
      <p:ext uri="{BB962C8B-B14F-4D97-AF65-F5344CB8AC3E}">
        <p14:creationId xmlns:p14="http://schemas.microsoft.com/office/powerpoint/2010/main" val="1419360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C5D4-A40C-B751-C0B2-FE468D4D1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Pôvodná</a:t>
            </a:r>
            <a:r>
              <a:rPr lang="en-US" sz="2800" dirty="0"/>
              <a:t> </a:t>
            </a:r>
            <a:r>
              <a:rPr lang="en-US" sz="2800" dirty="0" err="1"/>
              <a:t>komunikácia</a:t>
            </a:r>
            <a:r>
              <a:rPr lang="en-US" sz="2800" dirty="0"/>
              <a:t> v </a:t>
            </a:r>
            <a:r>
              <a:rPr lang="en-US" sz="2800" dirty="0" err="1"/>
              <a:t>prostredí</a:t>
            </a:r>
            <a:r>
              <a:rPr lang="en-US" sz="2800" dirty="0"/>
              <a:t> MATLAB/Simulink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9ABA-5F67-2DBF-3CA4-0901D10B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926A60-5272-1EA2-15FD-2B9285D55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9" y="1885984"/>
            <a:ext cx="5523883" cy="2912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563827-7FC5-719B-AC36-1D3F0FC8B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732" y="1885984"/>
            <a:ext cx="5918713" cy="27537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2936BB-F907-E436-E0CF-22E5853618AD}"/>
              </a:ext>
            </a:extLst>
          </p:cNvPr>
          <p:cNvSpPr txBox="1"/>
          <p:nvPr/>
        </p:nvSpPr>
        <p:spPr>
          <a:xfrm>
            <a:off x="302136" y="4639733"/>
            <a:ext cx="5099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15: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Základná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Simulinková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schéma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spustenie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komunikácie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906FC-EAD0-C534-4F79-F7D5BEE472C5}"/>
              </a:ext>
            </a:extLst>
          </p:cNvPr>
          <p:cNvSpPr txBox="1"/>
          <p:nvPr/>
        </p:nvSpPr>
        <p:spPr>
          <a:xfrm>
            <a:off x="5826019" y="4639732"/>
            <a:ext cx="5918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16: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Vnútorná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časť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Simulinkového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komunikácie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</a:t>
            </a:r>
          </a:p>
        </p:txBody>
      </p:sp>
    </p:spTree>
    <p:extLst>
      <p:ext uri="{BB962C8B-B14F-4D97-AF65-F5344CB8AC3E}">
        <p14:creationId xmlns:p14="http://schemas.microsoft.com/office/powerpoint/2010/main" val="1688686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9146-F8BB-234B-124C-1950F166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Vlastná komunikácia v jazyku C++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63E2D2-4DDE-9361-1E87-63F6066B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3053"/>
            <a:ext cx="2743200" cy="365125"/>
          </a:xfrm>
        </p:spPr>
        <p:txBody>
          <a:bodyPr/>
          <a:lstStyle/>
          <a:p>
            <a:fld id="{6CAE0FC8-C62F-4561-A15C-F1B236593633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769F1F-A68D-D5C0-1D8C-DBB103DD9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44" y="1373973"/>
            <a:ext cx="6377522" cy="26780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D6E53A-7D45-1A21-8F3C-37F1B928B69A}"/>
              </a:ext>
            </a:extLst>
          </p:cNvPr>
          <p:cNvSpPr txBox="1"/>
          <p:nvPr/>
        </p:nvSpPr>
        <p:spPr>
          <a:xfrm>
            <a:off x="109701" y="4052054"/>
            <a:ext cx="673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17: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Schéma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prepojenia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 UNO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F1144F-C4DE-64DE-562B-6D77F9224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668432"/>
              </p:ext>
            </p:extLst>
          </p:nvPr>
        </p:nvGraphicFramePr>
        <p:xfrm>
          <a:off x="8516448" y="1600493"/>
          <a:ext cx="179097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3444544181"/>
                    </a:ext>
                  </a:extLst>
                </a:gridCol>
                <a:gridCol w="1230272">
                  <a:extLst>
                    <a:ext uri="{9D8B030D-6E8A-4147-A177-3AD203B41FA5}">
                      <a16:colId xmlns:a16="http://schemas.microsoft.com/office/drawing/2014/main" val="890059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Funkcia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66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Snímač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840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Snímač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4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Ventilátor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62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Špirála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468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7663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E7D6E12-0221-3EDA-5C9C-AA81A1A99F16}"/>
              </a:ext>
            </a:extLst>
          </p:cNvPr>
          <p:cNvSpPr txBox="1"/>
          <p:nvPr/>
        </p:nvSpPr>
        <p:spPr>
          <a:xfrm>
            <a:off x="7169612" y="3825533"/>
            <a:ext cx="5022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Tabuľka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Identifikované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kontakty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konektora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1D82525-E9ED-94B7-D134-CAF9368C8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87176"/>
              </p:ext>
            </p:extLst>
          </p:nvPr>
        </p:nvGraphicFramePr>
        <p:xfrm>
          <a:off x="109701" y="4556927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957192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617848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103824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37131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 Arduino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Signál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Reálny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rozsah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Digitálny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rozsah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01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Snímač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869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Snímač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709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PWM5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Ventilátor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547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PWM6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Špirála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16010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B192B73-728C-659E-9CA8-35D645F3FEB8}"/>
              </a:ext>
            </a:extLst>
          </p:cNvPr>
          <p:cNvSpPr txBox="1"/>
          <p:nvPr/>
        </p:nvSpPr>
        <p:spPr>
          <a:xfrm>
            <a:off x="765928" y="6360803"/>
            <a:ext cx="711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Tabuľka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Mapovanie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vstupov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medzi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a Arduino UNO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BAC41E-B216-4C50-8FA5-D59DA74B9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051" y="4794084"/>
            <a:ext cx="2419749" cy="7295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F7DDAA-EB96-ED99-B9FB-52FAA3F70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936" y="5626072"/>
            <a:ext cx="1538527" cy="66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48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A741-7CE0-6D51-F06F-758F28DF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 err="1"/>
              <a:t>Komunikácia</a:t>
            </a:r>
            <a:r>
              <a:rPr lang="en-US" sz="2800" dirty="0"/>
              <a:t> s </a:t>
            </a:r>
            <a:r>
              <a:rPr lang="en-US" sz="2800" dirty="0" err="1"/>
              <a:t>programovateľným</a:t>
            </a:r>
            <a:r>
              <a:rPr lang="en-US" sz="2800" dirty="0"/>
              <a:t> </a:t>
            </a:r>
            <a:r>
              <a:rPr lang="en-US" sz="2800" dirty="0" err="1"/>
              <a:t>logickým</a:t>
            </a:r>
            <a:r>
              <a:rPr lang="en-US" sz="2800" dirty="0"/>
              <a:t> </a:t>
            </a:r>
            <a:r>
              <a:rPr lang="en-US" sz="2800" dirty="0" err="1"/>
              <a:t>automatom</a:t>
            </a:r>
            <a:r>
              <a:rPr lang="ru-RU" sz="2800" dirty="0"/>
              <a:t> </a:t>
            </a:r>
            <a:r>
              <a:rPr lang="en-US" sz="2800" dirty="0"/>
              <a:t>SIMATIC S7-1200 G2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6B242C-E66A-C379-83DD-582E0805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7981D-1F93-8A95-C9F0-98F9C310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599735"/>
              </p:ext>
            </p:extLst>
          </p:nvPr>
        </p:nvGraphicFramePr>
        <p:xfrm>
          <a:off x="838200" y="1418431"/>
          <a:ext cx="286321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355">
                  <a:extLst>
                    <a:ext uri="{9D8B030D-6E8A-4147-A177-3AD203B41FA5}">
                      <a16:colId xmlns:a16="http://schemas.microsoft.com/office/drawing/2014/main" val="3195908937"/>
                    </a:ext>
                  </a:extLst>
                </a:gridCol>
                <a:gridCol w="582803">
                  <a:extLst>
                    <a:ext uri="{9D8B030D-6E8A-4147-A177-3AD203B41FA5}">
                      <a16:colId xmlns:a16="http://schemas.microsoft.com/office/drawing/2014/main" val="3904301344"/>
                    </a:ext>
                  </a:extLst>
                </a:gridCol>
                <a:gridCol w="1091056">
                  <a:extLst>
                    <a:ext uri="{9D8B030D-6E8A-4147-A177-3AD203B41FA5}">
                      <a16:colId xmlns:a16="http://schemas.microsoft.com/office/drawing/2014/main" val="514592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Signál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Adresa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66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Ventilátor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%QW80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16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Špirála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%QW8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28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Snímač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%IW80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513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Snímač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%IW82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2280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DF87A1E-60A1-D609-5544-12C122FCD8EB}"/>
              </a:ext>
            </a:extLst>
          </p:cNvPr>
          <p:cNvSpPr txBox="1"/>
          <p:nvPr/>
        </p:nvSpPr>
        <p:spPr>
          <a:xfrm>
            <a:off x="671660" y="3343861"/>
            <a:ext cx="35044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Tabuľka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Adresovanie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analógových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vstupov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7E4892-F6A3-AD98-941A-B87ACD868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34" y="4267191"/>
            <a:ext cx="1550604" cy="701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8D71CA-D64F-29DA-9B32-AC02474E1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64" y="4922797"/>
            <a:ext cx="2172956" cy="4904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3A7680-8FA3-9C0C-B4CD-E95ED7F7F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626" y="1418431"/>
            <a:ext cx="3421054" cy="45541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6D2CDB-282D-00BC-08AF-07FD45136B2D}"/>
              </a:ext>
            </a:extLst>
          </p:cNvPr>
          <p:cNvSpPr txBox="1"/>
          <p:nvPr/>
        </p:nvSpPr>
        <p:spPr>
          <a:xfrm>
            <a:off x="6799083" y="6033184"/>
            <a:ext cx="4093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18: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Servisná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časť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hlavného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organizačného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671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9B29-ADE7-2514-59D1-B255A4012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500" dirty="0" err="1"/>
              <a:t>Komunikácia</a:t>
            </a:r>
            <a:r>
              <a:rPr lang="en-US" sz="2500" dirty="0"/>
              <a:t> s </a:t>
            </a:r>
            <a:r>
              <a:rPr lang="en-US" sz="2500" dirty="0" err="1"/>
              <a:t>programovateľným</a:t>
            </a:r>
            <a:r>
              <a:rPr lang="en-US" sz="2500" dirty="0"/>
              <a:t> </a:t>
            </a:r>
            <a:r>
              <a:rPr lang="en-US" sz="2500" dirty="0" err="1"/>
              <a:t>logickým</a:t>
            </a:r>
            <a:r>
              <a:rPr lang="en-US" sz="2500" dirty="0"/>
              <a:t> </a:t>
            </a:r>
            <a:r>
              <a:rPr lang="en-US" sz="2500" dirty="0" err="1"/>
              <a:t>automatom</a:t>
            </a:r>
            <a:r>
              <a:rPr lang="ru-RU" sz="2500" dirty="0"/>
              <a:t> </a:t>
            </a:r>
            <a:r>
              <a:rPr lang="en-US" sz="2500" dirty="0"/>
              <a:t>SIMATIC S7-1200 G2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98926-430C-A811-86AD-409985D1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28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F22C2B-662F-E7D4-9468-910F17F63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774" y="1738124"/>
            <a:ext cx="4471447" cy="26396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92D633-62CC-B2E8-5E96-D608E54A6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9" y="1750845"/>
            <a:ext cx="7460891" cy="26141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B3F7A4-E612-9F67-44CC-6D0CE4BED9DE}"/>
              </a:ext>
            </a:extLst>
          </p:cNvPr>
          <p:cNvSpPr txBox="1"/>
          <p:nvPr/>
        </p:nvSpPr>
        <p:spPr>
          <a:xfrm>
            <a:off x="784570" y="442390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kódu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Implementácia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funkčného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Current_time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6B1D9D-4EDA-D3E6-E154-3BF5056527BD}"/>
              </a:ext>
            </a:extLst>
          </p:cNvPr>
          <p:cNvSpPr txBox="1"/>
          <p:nvPr/>
        </p:nvSpPr>
        <p:spPr>
          <a:xfrm>
            <a:off x="7562230" y="4423907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Výpis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kódu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Implementácia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logovacieho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FB_PI_LOGGER</a:t>
            </a:r>
          </a:p>
        </p:txBody>
      </p:sp>
    </p:spTree>
    <p:extLst>
      <p:ext uri="{BB962C8B-B14F-4D97-AF65-F5344CB8AC3E}">
        <p14:creationId xmlns:p14="http://schemas.microsoft.com/office/powerpoint/2010/main" val="3466933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</TotalTime>
  <Words>1634</Words>
  <Application>Microsoft Office PowerPoint</Application>
  <PresentationFormat>Widescreen</PresentationFormat>
  <Paragraphs>279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Cambria Math</vt:lpstr>
      <vt:lpstr>Times New Roman</vt:lpstr>
      <vt:lpstr>Office Theme</vt:lpstr>
      <vt:lpstr>Návrh implementácie vybraných algoritmov riadenia</vt:lpstr>
      <vt:lpstr>Ciele práce</vt:lpstr>
      <vt:lpstr>Laboratórne zariadenie TS - popis systému</vt:lpstr>
      <vt:lpstr>Statické vlastnosti systému</vt:lpstr>
      <vt:lpstr>PowerPoint Presentation</vt:lpstr>
      <vt:lpstr>Komunikačné rozhranie systému TS05 pre jednotlivé platformy</vt:lpstr>
      <vt:lpstr>PI regulátor pre riadenie v okolí jedného pracovného bodu</vt:lpstr>
      <vt:lpstr>Pseudokód a Implementácia MATLAB/Simulink</vt:lpstr>
      <vt:lpstr>Implementácia: mikrokontrolér a jazyk C++</vt:lpstr>
      <vt:lpstr>Implementácia: programovateľný logický automat (PLC)</vt:lpstr>
      <vt:lpstr>Porovnanie výsledkov z jednotlivých implementácií</vt:lpstr>
      <vt:lpstr>Riadiaci systém s prepínaním pre celý rozsah výstupnej veličiny riadeného systému</vt:lpstr>
      <vt:lpstr>Zákon riadenia</vt:lpstr>
      <vt:lpstr>PowerPoint Presentation</vt:lpstr>
      <vt:lpstr>Porovnanie výsledkov z jednotlivých implementácií</vt:lpstr>
      <vt:lpstr>Adaptívne riadenie s referenčným modelom</vt:lpstr>
      <vt:lpstr>Výsledky MATLAB/Simulink a PLC</vt:lpstr>
      <vt:lpstr>Výsledky Arduino C++</vt:lpstr>
      <vt:lpstr>Zaver…</vt:lpstr>
      <vt:lpstr>Ďakujeme za pozornosť</vt:lpstr>
      <vt:lpstr>1. Pri logovaní dát v PLC do polí sa index postupne inkrementuje, pričom nie je explicitne riešené nulovanie uložených dát. Ako by ste v praxi riešili opakované merania bez potreby zmeny režimu CPU?</vt:lpstr>
      <vt:lpstr>2. Na predmete Riadiace systémy ste sa stretli s inštrukciou PID_Compact, ktorá je dostupná v knižnici TIA Portal. Neuvažovali ste o porovnaní vlastnej implementácie aspoň s jedným existujúcim riešením (napr. PID_Compact)? Má PID_Compact v porovnaní s Vaším riešením nejakú nevýhodu? Stručne vysvetlite.</vt:lpstr>
      <vt:lpstr>Merania na identifikáciu systému v pracovnom bode:  Detrend</vt:lpstr>
      <vt:lpstr>Merania na identifikáciu systému v pracovnom bode:  Prechodová charakteristika</vt:lpstr>
      <vt:lpstr>Pôvodná komunikácia v prostredí MATLAB/Simulink </vt:lpstr>
      <vt:lpstr>Vlastná komunikácia v jazyku C++</vt:lpstr>
      <vt:lpstr>Komunikácia s programovateľným logickým automatom SIMATIC S7-1200 G2</vt:lpstr>
      <vt:lpstr>Komunikácia s programovateľným logickým automatom SIMATIC S7-1200 G2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Andrii Stoliar</dc:creator>
  <cp:lastModifiedBy>Andrii Stoliar</cp:lastModifiedBy>
  <cp:revision>21</cp:revision>
  <dcterms:created xsi:type="dcterms:W3CDTF">2026-04-11T17:08:44Z</dcterms:created>
  <dcterms:modified xsi:type="dcterms:W3CDTF">2026-06-07T19:49:06Z</dcterms:modified>
</cp:coreProperties>
</file>