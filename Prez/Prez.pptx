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71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5BB4-835E-9001-AA91-85ADA489E7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F30F2-BC5E-6510-ED46-8C8075168F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152B-7E7B-1FA3-0001-FD503A5BF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B666E-F64A-FAD9-2CF5-BCB37AA6B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D19DF-4938-A6DC-57BB-5961A2AE4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95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2E06E-0181-D3AB-24E3-08DD06AB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6499F-0A22-BC9A-D1EE-C2B48400D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82823-0D5A-D7D1-345E-CAE6FF89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28D20-9026-2CC8-BEF7-321C697EA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73DB2-0072-110D-48F1-F5EF869E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3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F7806-871B-92C1-1AED-9AB58115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33C8D-FF50-7771-58B4-6A00BCEF7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1DA4A-0776-0811-72E1-99434872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1A67C-CC4E-7871-1E77-F50777CEB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6D78A-23E8-3603-41C9-442D7D3BA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716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73747-27F9-EA9F-7073-663ABEF67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B902E-4D67-299C-0AF7-9E935B911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C32CF-5EB0-212D-B3FE-FD9EE5A966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90AB9B-2ADE-6202-9037-C22B8BF39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80769C-6E0A-D869-252E-AB5DED3BC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3203F-0E45-991F-DF50-A88CA837C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142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3A0FD-6A49-5788-39E8-71E2DE6E9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DB628-1574-AAD5-B9D2-A48785AD5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9ED9DC-5370-15BC-B165-F0941E172F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0A91F4-619F-2CBB-A659-D8F5C8B47E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C5B44E-A1C0-05D5-E7B9-6782916B3D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C583F2-EEAB-1EC7-F1F8-373053D3F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ABB7C5-5BEE-A66F-A353-A42DBA180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B1CBC1-6FA4-E18D-C70F-FC7375E21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344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7C060-9BF3-2B15-2396-29DE08794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F3E9CB-DEB1-E8EC-21B6-2CE9612BF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AE2DE1-315E-1450-B23C-44677CB47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43BA9-5714-40CD-EFE7-CB8539F82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42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AE303B-BF14-4EF7-7337-EFAE32F6E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3885F4-4925-E065-40F5-9E433B5BD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AA99E-4FFB-E8E2-9D71-B20A16E60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78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A9155-C1A9-7692-9104-7CD40D6AA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E5BAC-D9F5-E120-764E-F130193C6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E39C34-6CAC-EB36-5207-5B62215545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7C46C4-1BC2-35F1-4D02-088ABEF6E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6027AE-B372-F96C-7BBB-F343F813E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B8261-67D3-FD43-03F0-8D3E4437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36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4AF67-5259-2AE4-0FE8-86C243934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36072A-C064-AF47-C84A-4E68F3880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5B1C3-FA32-BDFE-FD7E-D04D5CDED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671EC-8C84-BCD4-D3D3-DABD5D659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1EB32-EED4-3C89-04AC-E1A65E80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4475-7960-7AAF-9591-0F1518BA7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77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91524-E9C0-9EC5-7040-6FEFD3530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73E24C-E701-9B32-8840-BDA988EB4D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3D706-9CFC-978F-070E-95074139D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F56B7-5B94-C03E-9720-00A2CA8DF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07064-D2A4-A653-23D2-EA6A4C642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93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BA4D67-5440-A5A3-07F3-125016816F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C3E4FE-5E34-7679-771A-A33572BC9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38227-0F0A-FB84-08A8-FDD729785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13DE2-B384-421C-8357-D5322CC0CAF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BF533-1FE9-4607-8D76-F889E9C7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F78AE-F4E4-195F-CD05-C36CC585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B3351-D869-4A16-822C-B43BEFC79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3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B63279-0D8B-B5C1-80CE-6C2F3F84A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98098-CA0A-E7CC-49D8-43D1EA0A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E69BE-31E0-D39C-6774-EDD549341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013DE2-B384-421C-8357-D5322CC0CAFE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4CDE-97FE-B02A-CB79-FAA7A3817E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55754-C54E-CDFF-0EB1-A7563A5FD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B3351-D869-4A16-822C-B43BEFC790C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52E7D7-EB5C-2336-EA6B-CD636DAD0509}"/>
              </a:ext>
            </a:extLst>
          </p:cNvPr>
          <p:cNvSpPr/>
          <p:nvPr userDrawn="1"/>
        </p:nvSpPr>
        <p:spPr>
          <a:xfrm>
            <a:off x="0" y="0"/>
            <a:ext cx="12192000" cy="649356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black background with blue dots&#10;&#10;AI-generated content may be incorrect.">
            <a:extLst>
              <a:ext uri="{FF2B5EF4-FFF2-40B4-BE49-F238E27FC236}">
                <a16:creationId xmlns:a16="http://schemas.microsoft.com/office/drawing/2014/main" id="{5EFC37FA-2498-C7E5-7DD5-C8F7C49479C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6697" y="-70943"/>
            <a:ext cx="1855723" cy="698625"/>
          </a:xfrm>
          <a:prstGeom prst="rect">
            <a:avLst/>
          </a:prstGeom>
        </p:spPr>
      </p:pic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CBCC646-1AF6-3CF8-A793-EC04C6959AC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076" y="45753"/>
            <a:ext cx="1528943" cy="49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92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C1F22-FCEF-0764-717A-642194E7EA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>
                <a:latin typeface="Times New Roman" panose="02020603050405020304" pitchFamily="18" charset="0"/>
              </a:rPr>
              <a:t>Návrh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vybraných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algoritmov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riadenia</a:t>
            </a:r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D5DC6-076E-54C5-117E-65E6639EED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</a:rPr>
              <a:t>Diplomový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projekt</a:t>
            </a:r>
            <a:r>
              <a:rPr lang="en-US" dirty="0">
                <a:latin typeface="Times New Roman" panose="02020603050405020304" pitchFamily="18" charset="0"/>
              </a:rPr>
              <a:t> 1</a:t>
            </a:r>
            <a:endParaRPr lang="ru-RU" dirty="0">
              <a:latin typeface="Times New Roman" panose="02020603050405020304" pitchFamily="18" charset="0"/>
            </a:endParaRPr>
          </a:p>
          <a:p>
            <a:endParaRPr lang="ru-RU" dirty="0"/>
          </a:p>
          <a:p>
            <a:pPr algn="r"/>
            <a:r>
              <a:rPr lang="en-US" sz="1600" dirty="0" err="1">
                <a:latin typeface="Times New Roman" panose="02020603050405020304" pitchFamily="18" charset="0"/>
              </a:rPr>
              <a:t>Vykonávateľ</a:t>
            </a:r>
            <a:r>
              <a:rPr lang="ru-RU" sz="1600" dirty="0">
                <a:latin typeface="Times New Roman" panose="02020603050405020304" pitchFamily="18" charset="0"/>
              </a:rPr>
              <a:t> - </a:t>
            </a:r>
            <a:r>
              <a:rPr lang="en-US" sz="1600" dirty="0" err="1">
                <a:latin typeface="Times New Roman" panose="02020603050405020304" pitchFamily="18" charset="0"/>
              </a:rPr>
              <a:t>Bc</a:t>
            </a:r>
            <a:r>
              <a:rPr lang="en-US" sz="1600" dirty="0">
                <a:latin typeface="Times New Roman" panose="02020603050405020304" pitchFamily="18" charset="0"/>
              </a:rPr>
              <a:t>. Andrii Stoliar</a:t>
            </a:r>
            <a:endParaRPr lang="ru-RU" sz="1600" dirty="0">
              <a:latin typeface="Times New Roman" panose="02020603050405020304" pitchFamily="18" charset="0"/>
            </a:endParaRPr>
          </a:p>
          <a:p>
            <a:pPr algn="r"/>
            <a:r>
              <a:rPr lang="en-US" sz="1600" dirty="0" err="1">
                <a:latin typeface="Times New Roman" panose="02020603050405020304" pitchFamily="18" charset="0"/>
              </a:rPr>
              <a:t>Vedúci</a:t>
            </a:r>
            <a:r>
              <a:rPr lang="ru-RU" sz="1600" dirty="0">
                <a:latin typeface="Times New Roman" panose="02020603050405020304" pitchFamily="18" charset="0"/>
              </a:rPr>
              <a:t> - </a:t>
            </a:r>
            <a:r>
              <a:rPr lang="en-US" sz="1600" dirty="0">
                <a:latin typeface="Times New Roman" panose="02020603050405020304" pitchFamily="18" charset="0"/>
              </a:rPr>
              <a:t>Ing. Marián </a:t>
            </a:r>
            <a:r>
              <a:rPr lang="en-US" sz="1600" dirty="0" err="1">
                <a:latin typeface="Times New Roman" panose="02020603050405020304" pitchFamily="18" charset="0"/>
              </a:rPr>
              <a:t>Tárník</a:t>
            </a:r>
            <a:r>
              <a:rPr lang="en-US" sz="1600" dirty="0">
                <a:latin typeface="Times New Roman" panose="02020603050405020304" pitchFamily="18" charset="0"/>
              </a:rPr>
              <a:t>, PhD.</a:t>
            </a:r>
          </a:p>
        </p:txBody>
      </p:sp>
    </p:spTree>
    <p:extLst>
      <p:ext uri="{BB962C8B-B14F-4D97-AF65-F5344CB8AC3E}">
        <p14:creationId xmlns:p14="http://schemas.microsoft.com/office/powerpoint/2010/main" val="1768920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5462E-59BB-AD8D-F9B2-BD9BD027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Úlohy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7E564-975A-FE72-05EC-14749AB66816}"/>
              </a:ext>
            </a:extLst>
          </p:cNvPr>
          <p:cNvSpPr txBox="1"/>
          <p:nvPr/>
        </p:nvSpPr>
        <p:spPr>
          <a:xfrm>
            <a:off x="838200" y="1562946"/>
            <a:ext cx="1031748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Oboznámte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dostupným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vypracujte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stručnú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technickú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dokumentáciu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vybraných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dynamických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systémov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Vypracujte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krátky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prehľad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riadiacich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algoritmov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vybraných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následnú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</a:p>
          <a:p>
            <a:pPr marL="342900" indent="-342900"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Navrhnite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realizujte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predmetné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analyzujte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kvalitu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</a:p>
          <a:p>
            <a:pPr marL="342900" indent="-342900"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Vyhodnoťte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dosiahnuté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8194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854B4B14-F480-229E-55C2-D4EB95DA26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647698"/>
            <a:ext cx="5790368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Hlavné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body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prezentácie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B1F8B8-B6EA-74EF-974E-38BCAC0FB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02304"/>
            <a:ext cx="11234166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Popis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systému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Identifikácia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systému</a:t>
            </a:r>
            <a:r>
              <a:rPr kumimoji="0" lang="ru-RU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US" altLang="en-US" sz="3200" dirty="0">
                <a:latin typeface="Times New Roman" panose="02020603050405020304" pitchFamily="18" charset="0"/>
              </a:rPr>
              <a:t>v </a:t>
            </a:r>
            <a:r>
              <a:rPr lang="en-US" altLang="en-US" sz="3200" dirty="0" err="1">
                <a:latin typeface="Times New Roman" panose="02020603050405020304" pitchFamily="18" charset="0"/>
              </a:rPr>
              <a:t>pracovnom</a:t>
            </a:r>
            <a:r>
              <a:rPr lang="en-US" altLang="en-US" sz="3200" dirty="0">
                <a:latin typeface="Times New Roman" panose="02020603050405020304" pitchFamily="18" charset="0"/>
              </a:rPr>
              <a:t> bode</a:t>
            </a:r>
            <a:endParaRPr kumimoji="0" lang="ru-RU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3200" dirty="0">
                <a:latin typeface="Times New Roman" panose="02020603050405020304" pitchFamily="18" charset="0"/>
              </a:rPr>
              <a:t>Popis a implementácia URO</a:t>
            </a:r>
            <a:r>
              <a:rPr lang="ru-RU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>
                <a:latin typeface="Times New Roman" panose="02020603050405020304" pitchFamily="18" charset="0"/>
              </a:rPr>
              <a:t>s PI </a:t>
            </a:r>
            <a:r>
              <a:rPr lang="en-US" altLang="en-US" sz="3200" dirty="0" err="1">
                <a:latin typeface="Times New Roman" panose="02020603050405020304" pitchFamily="18" charset="0"/>
              </a:rPr>
              <a:t>regulátorom</a:t>
            </a:r>
            <a:r>
              <a:rPr lang="pt-BR" altLang="en-US" sz="3200" dirty="0">
                <a:latin typeface="Times New Roman" panose="02020603050405020304" pitchFamily="18" charset="0"/>
              </a:rPr>
              <a:t> a výber parametrov</a:t>
            </a:r>
            <a:endParaRPr lang="ru-RU" altLang="en-US" sz="3200" dirty="0"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 err="1">
                <a:latin typeface="Times New Roman" panose="02020603050405020304" pitchFamily="18" charset="0"/>
              </a:rPr>
              <a:t>Testovanie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výsledkov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na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reálnom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modeli</a:t>
            </a:r>
            <a:endParaRPr lang="ru-RU" altLang="en-US" sz="3200" dirty="0"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3200" dirty="0">
                <a:latin typeface="Times New Roman" panose="02020603050405020304" pitchFamily="18" charset="0"/>
              </a:rPr>
              <a:t>Popis a implementácia zvolenej metódy regulácie</a:t>
            </a:r>
            <a:endParaRPr lang="ru-RU" altLang="en-US" sz="3200" dirty="0"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 err="1">
                <a:latin typeface="Times New Roman" panose="02020603050405020304" pitchFamily="18" charset="0"/>
              </a:rPr>
              <a:t>Demonštrácia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výsledkov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na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reálnom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systéme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endParaRPr lang="ru-RU" altLang="en-US" sz="3200" dirty="0">
              <a:latin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14DF4-D64E-6719-5B15-B9D3CF9733D4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790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A7C5-BE41-3C76-0D74-4CF7ADA63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</a:rPr>
              <a:t>Popis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systému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6" name="Picture 5" descr="A close-up of a light&#10;&#10;AI-generated content may be incorrect.">
            <a:extLst>
              <a:ext uri="{FF2B5EF4-FFF2-40B4-BE49-F238E27FC236}">
                <a16:creationId xmlns:a16="http://schemas.microsoft.com/office/drawing/2014/main" id="{6FFCB4B9-3A37-8BF5-2AEF-4EA6A2980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86F5A91-A255-2E8E-F0C4-5254AC7AB9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948754"/>
              </p:ext>
            </p:extLst>
          </p:nvPr>
        </p:nvGraphicFramePr>
        <p:xfrm>
          <a:off x="6788151" y="1595849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pic>
        <p:nvPicPr>
          <p:cNvPr id="11" name="Picture 10" descr="A diagram of a computer&#10;&#10;AI-generated content may be incorrect.">
            <a:extLst>
              <a:ext uri="{FF2B5EF4-FFF2-40B4-BE49-F238E27FC236}">
                <a16:creationId xmlns:a16="http://schemas.microsoft.com/office/drawing/2014/main" id="{786EDC6C-CD63-B0F5-CAFD-770135C99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151" y="4007364"/>
            <a:ext cx="5156200" cy="21748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D322933-2F5F-9F43-509D-06D5CA903A23}"/>
              </a:ext>
            </a:extLst>
          </p:cNvPr>
          <p:cNvSpPr txBox="1"/>
          <p:nvPr/>
        </p:nvSpPr>
        <p:spPr>
          <a:xfrm>
            <a:off x="1963738" y="4541361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C1FFC1-78A4-7C1C-D811-B7810DE1D514}"/>
              </a:ext>
            </a:extLst>
          </p:cNvPr>
          <p:cNvSpPr txBox="1"/>
          <p:nvPr/>
        </p:nvSpPr>
        <p:spPr>
          <a:xfrm>
            <a:off x="5964238" y="616680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984674-7F35-8F40-1C52-5F4758C103D7}"/>
              </a:ext>
            </a:extLst>
          </p:cNvPr>
          <p:cNvSpPr txBox="1"/>
          <p:nvPr/>
        </p:nvSpPr>
        <p:spPr>
          <a:xfrm>
            <a:off x="6922294" y="3429000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08DB47-9688-2608-93EA-DF1620D4E5E2}"/>
              </a:ext>
            </a:extLst>
          </p:cNvPr>
          <p:cNvSpPr txBox="1"/>
          <p:nvPr/>
        </p:nvSpPr>
        <p:spPr>
          <a:xfrm>
            <a:off x="11777472" y="0"/>
            <a:ext cx="3000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181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0891F93-7739-9C09-7B5C-789E8162D1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647697"/>
            <a:ext cx="6298519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Statické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vlastnosti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systému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17BB7-E764-36F2-4FFF-5D3C3EF7368E}"/>
              </a:ext>
            </a:extLst>
          </p:cNvPr>
          <p:cNvSpPr txBox="1"/>
          <p:nvPr/>
        </p:nvSpPr>
        <p:spPr>
          <a:xfrm>
            <a:off x="1019326" y="4385050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75D15F-50D2-96CD-1DD4-F8DCFFFD4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638FCC8-1BB4-3DA6-BD0F-DCD02EF760C7}"/>
              </a:ext>
            </a:extLst>
          </p:cNvPr>
          <p:cNvSpPr txBox="1"/>
          <p:nvPr/>
        </p:nvSpPr>
        <p:spPr>
          <a:xfrm>
            <a:off x="5392674" y="5815693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2A01A35-B6E6-9E59-52FC-9551D5476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03" y="1611130"/>
            <a:ext cx="4907290" cy="28773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954E60F-BAD3-383D-B6DB-D101B87F25CF}"/>
              </a:ext>
            </a:extLst>
          </p:cNvPr>
          <p:cNvSpPr txBox="1"/>
          <p:nvPr/>
        </p:nvSpPr>
        <p:spPr>
          <a:xfrm>
            <a:off x="11777472" y="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10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15DC49F-5C95-1DD0-09F1-CB35F70ED4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72440" y="621825"/>
            <a:ext cx="10856976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Merania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na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identifikáciu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systému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v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pracovnom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bode:</a:t>
            </a:r>
            <a:r>
              <a:rPr kumimoji="0" lang="en-US" altLang="en-US" sz="3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 </a:t>
            </a:r>
            <a:br>
              <a:rPr kumimoji="0" lang="en-US" altLang="en-US" sz="3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</a:br>
            <a:r>
              <a:rPr lang="en-US" altLang="en-US" sz="3200" dirty="0">
                <a:latin typeface="Times New Roman" panose="02020603050405020304" pitchFamily="18" charset="0"/>
              </a:rPr>
              <a:t>Detrend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210BCE-CFEE-4054-3464-15C3F0F35E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B12A4F-C5AC-BDE4-3843-E9991C69B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58E859B1-35CC-B805-8A73-5BBE75F14A78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D39936-4D11-6AE0-EFA6-195467DF100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1599-89A5-D3D0-D890-DFAEA8049998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543E9C-CF43-9DE9-9864-8BA4AEB2127C}"/>
              </a:ext>
            </a:extLst>
          </p:cNvPr>
          <p:cNvSpPr txBox="1"/>
          <p:nvPr/>
        </p:nvSpPr>
        <p:spPr>
          <a:xfrm>
            <a:off x="11777472" y="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6392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DC010B5-5515-A020-47CF-A668C78078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" y="621825"/>
            <a:ext cx="10856976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badi" panose="020B0604020104020204" pitchFamily="34" charset="0"/>
                <a:ea typeface="+mj-ea"/>
                <a:cs typeface="Times New Roman" panose="02020603050405020304" pitchFamily="18" charset="0"/>
              </a:defRPr>
            </a:lvl1pPr>
          </a:lstStyle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3200" dirty="0">
                <a:latin typeface="Times New Roman" panose="02020603050405020304" pitchFamily="18" charset="0"/>
              </a:rPr>
              <a:t>Merania </a:t>
            </a:r>
            <a:r>
              <a:rPr lang="en-US" altLang="en-US" sz="3200" dirty="0" err="1">
                <a:latin typeface="Times New Roman" panose="02020603050405020304" pitchFamily="18" charset="0"/>
              </a:rPr>
              <a:t>na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identifikáciu</a:t>
            </a:r>
            <a:r>
              <a:rPr lang="en-US" altLang="en-US" sz="3200" dirty="0">
                <a:latin typeface="Times New Roman" panose="02020603050405020304" pitchFamily="18" charset="0"/>
              </a:rPr>
              <a:t> </a:t>
            </a:r>
            <a:r>
              <a:rPr lang="en-US" altLang="en-US" sz="3200" dirty="0" err="1">
                <a:latin typeface="Times New Roman" panose="02020603050405020304" pitchFamily="18" charset="0"/>
              </a:rPr>
              <a:t>systému</a:t>
            </a:r>
            <a:r>
              <a:rPr lang="en-US" altLang="en-US" sz="3200" dirty="0">
                <a:latin typeface="Times New Roman" panose="02020603050405020304" pitchFamily="18" charset="0"/>
              </a:rPr>
              <a:t> v </a:t>
            </a:r>
            <a:r>
              <a:rPr lang="en-US" altLang="en-US" sz="3200" dirty="0" err="1">
                <a:latin typeface="Times New Roman" panose="02020603050405020304" pitchFamily="18" charset="0"/>
              </a:rPr>
              <a:t>pracovnom</a:t>
            </a:r>
            <a:r>
              <a:rPr lang="en-US" altLang="en-US" sz="3200" dirty="0">
                <a:latin typeface="Times New Roman" panose="02020603050405020304" pitchFamily="18" charset="0"/>
              </a:rPr>
              <a:t> bode: </a:t>
            </a:r>
            <a:br>
              <a:rPr lang="en-US" altLang="en-US" sz="3200" dirty="0">
                <a:latin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</a:rPr>
              <a:t>Prechodová </a:t>
            </a:r>
            <a:r>
              <a:rPr lang="en-US" sz="3200" dirty="0" err="1">
                <a:latin typeface="Times New Roman" panose="02020603050405020304" pitchFamily="18" charset="0"/>
              </a:rPr>
              <a:t>charakteristika</a:t>
            </a:r>
            <a:endParaRPr lang="en-US" altLang="en-US" sz="3200" dirty="0">
              <a:latin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0603FE-CFB7-16A3-D3D3-EC06F3051B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F3950D-F8B2-6505-5FBF-F814597D5BB8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7C69D-77DB-A6BA-34F3-24254EBFC6BB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961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41A775A-C47C-92F9-D24F-60E079E6177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41A775A-C47C-92F9-D24F-60E079E61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9095257-214D-8AC4-2EB1-33BF77663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1AE903-6CCC-2ADE-25C9-FEA7A6600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6509" y="1793744"/>
            <a:ext cx="2262907" cy="7246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B1CCA5-5390-3EAF-75D2-8B28093325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6509" y="3076428"/>
            <a:ext cx="5175491" cy="8794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935568F3-8EB2-048B-4214-BACB7826EAC7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9FD55A-104A-079D-99AB-5A86B34D7D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2986" y="4521812"/>
            <a:ext cx="4471771" cy="9288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7658EF-E0C7-0069-861E-10BF1672A3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9554" y="5707281"/>
            <a:ext cx="3338633" cy="4565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867C81-C477-BB97-60DD-181DAD6BDD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6506" y="5299160"/>
            <a:ext cx="3323547" cy="52307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AA4469D-68FB-8BE0-065D-B9218CBA642F}"/>
              </a:ext>
            </a:extLst>
          </p:cNvPr>
          <p:cNvSpPr txBox="1"/>
          <p:nvPr/>
        </p:nvSpPr>
        <p:spPr>
          <a:xfrm>
            <a:off x="767878" y="5237532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2D2774-B2FC-3A3B-7D83-C5E1201D7BCB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670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81892-457A-EE96-C79E-22902037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en-US" dirty="0">
                <a:latin typeface="Times New Roman" panose="02020603050405020304" pitchFamily="18" charset="0"/>
              </a:rPr>
              <a:t>Popis a implementácia URO</a:t>
            </a:r>
            <a:r>
              <a:rPr lang="ru-RU" altLang="en-US" dirty="0">
                <a:latin typeface="Times New Roman" panose="02020603050405020304" pitchFamily="18" charset="0"/>
              </a:rPr>
              <a:t> </a:t>
            </a:r>
            <a:r>
              <a:rPr lang="en-US" altLang="en-US" dirty="0">
                <a:latin typeface="Times New Roman" panose="02020603050405020304" pitchFamily="18" charset="0"/>
              </a:rPr>
              <a:t>s PI </a:t>
            </a:r>
            <a:r>
              <a:rPr lang="en-US" altLang="en-US" dirty="0" err="1">
                <a:latin typeface="Times New Roman" panose="02020603050405020304" pitchFamily="18" charset="0"/>
              </a:rPr>
              <a:t>regulátorom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E4C29-2EDE-5732-4068-EFC709BC0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63" y="1426759"/>
            <a:ext cx="5852329" cy="18771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5A90B0-45FE-8391-4E7E-D00E770F3A23}"/>
              </a:ext>
            </a:extLst>
          </p:cNvPr>
          <p:cNvSpPr txBox="1"/>
          <p:nvPr/>
        </p:nvSpPr>
        <p:spPr>
          <a:xfrm>
            <a:off x="265124" y="3244334"/>
            <a:ext cx="621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37D14F-D23E-F860-E62D-10887FE79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5091" y="1940947"/>
            <a:ext cx="2020993" cy="7589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E91A79-0BA8-B903-567A-2B1436F0CA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84" y="1478849"/>
            <a:ext cx="3767329" cy="130521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35FE12-7A86-FFE4-368A-845BAD7C7A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84" y="2665562"/>
            <a:ext cx="3727705" cy="63836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893C3E-A6E1-A9E9-A837-41E870A433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869" y="3134725"/>
            <a:ext cx="5114544" cy="109066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DEAF75-0B42-AB5B-CB00-F96C01EEFD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2738" y="4150313"/>
            <a:ext cx="4998805" cy="52480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C9A5925-10BF-BCD1-EEA0-135AB365FE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456" y="3706413"/>
            <a:ext cx="5400942" cy="26715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036B1FE-F95F-8E60-4AD3-7910287D7364}"/>
              </a:ext>
            </a:extLst>
          </p:cNvPr>
          <p:cNvSpPr txBox="1"/>
          <p:nvPr/>
        </p:nvSpPr>
        <p:spPr>
          <a:xfrm>
            <a:off x="152443" y="6299236"/>
            <a:ext cx="6440424" cy="369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Simulačný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výsledok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3DFAC12-4B53-9219-8C6E-AC286A506D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3411" y="5605500"/>
            <a:ext cx="2605997" cy="106306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ADDA5-CB99-77F4-4B51-C4F3475ADF92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597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731A-29D5-46C7-0F1F-47B9035C10BB}"/>
              </a:ext>
            </a:extLst>
          </p:cNvPr>
          <p:cNvSpPr txBox="1">
            <a:spLocks/>
          </p:cNvSpPr>
          <p:nvPr/>
        </p:nvSpPr>
        <p:spPr>
          <a:xfrm>
            <a:off x="838200" y="558764"/>
            <a:ext cx="10515600" cy="94730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badi" panose="020B0604020104020204" pitchFamily="34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altLang="en-US">
                <a:latin typeface="Times New Roman" panose="02020603050405020304" pitchFamily="18" charset="0"/>
              </a:rPr>
              <a:t>Popis a implementácia URO</a:t>
            </a:r>
            <a:r>
              <a:rPr lang="ru-RU" altLang="en-US">
                <a:latin typeface="Times New Roman" panose="02020603050405020304" pitchFamily="18" charset="0"/>
              </a:rPr>
              <a:t> </a:t>
            </a:r>
            <a:r>
              <a:rPr lang="en-US" altLang="en-US">
                <a:latin typeface="Times New Roman" panose="02020603050405020304" pitchFamily="18" charset="0"/>
              </a:rPr>
              <a:t>s PI regulátorom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220761-5675-E1B9-43A6-027343907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1185" y="1708702"/>
            <a:ext cx="6583447" cy="34405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02B03-80DF-057E-2127-2DF25715BF4C}"/>
              </a:ext>
            </a:extLst>
          </p:cNvPr>
          <p:cNvSpPr txBox="1"/>
          <p:nvPr/>
        </p:nvSpPr>
        <p:spPr>
          <a:xfrm>
            <a:off x="5621274" y="5028761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DAC20E-3E15-6454-71A2-19155AAEC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8702"/>
            <a:ext cx="4119820" cy="491679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E31951-58B0-F8D2-A7A4-ADC2F44BCFB1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909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7489-32E4-85C0-A11F-499AD5682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8176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latin typeface="Times New Roman" panose="02020603050405020304" pitchFamily="18" charset="0"/>
              </a:rPr>
              <a:t>Experiment s PI regulátorom na reálnom systéme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B8C92-9FCD-A1E3-58ED-A28E6B208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72415"/>
            <a:ext cx="6096000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D4DC4F-D88B-B0EF-52D2-DC2BF43361D2}"/>
              </a:ext>
            </a:extLst>
          </p:cNvPr>
          <p:cNvSpPr txBox="1"/>
          <p:nvPr/>
        </p:nvSpPr>
        <p:spPr>
          <a:xfrm>
            <a:off x="838200" y="5557236"/>
            <a:ext cx="55618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Simulačný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experiment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žiadanej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hodnoty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BD8473-C952-6AE1-8B26-422ACFE22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72415"/>
            <a:ext cx="5955792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7C5DC9-AF22-F6FB-D742-4BA72E7BB8EC}"/>
              </a:ext>
            </a:extLst>
          </p:cNvPr>
          <p:cNvSpPr txBox="1"/>
          <p:nvPr/>
        </p:nvSpPr>
        <p:spPr>
          <a:xfrm>
            <a:off x="6096000" y="5572110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Experiment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 6.4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7.5 V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921999-67EC-ECF7-F806-4E7E19A387AF}"/>
              </a:ext>
            </a:extLst>
          </p:cNvPr>
          <p:cNvSpPr txBox="1"/>
          <p:nvPr/>
        </p:nvSpPr>
        <p:spPr>
          <a:xfrm>
            <a:off x="11777472" y="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897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6911A-1B06-65A4-B677-950908F5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</a:rPr>
              <a:t>Regulácia</a:t>
            </a:r>
            <a:r>
              <a:rPr lang="en-US" dirty="0">
                <a:latin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</a:rPr>
              <a:t>prepínačom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bodov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9A043D-9211-144D-D06A-850709F7E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802" y="1368912"/>
            <a:ext cx="7865710" cy="1682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66DDC7-CBE0-86D5-C88C-6D410E3319EF}"/>
              </a:ext>
            </a:extLst>
          </p:cNvPr>
          <p:cNvSpPr/>
          <p:nvPr/>
        </p:nvSpPr>
        <p:spPr>
          <a:xfrm>
            <a:off x="3008376" y="3429000"/>
            <a:ext cx="1289304" cy="11247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setpoint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60FD81-902C-BDF5-23B6-AF8FAF14EF4D}"/>
              </a:ext>
            </a:extLst>
          </p:cNvPr>
          <p:cNvSpPr/>
          <p:nvPr/>
        </p:nvSpPr>
        <p:spPr>
          <a:xfrm>
            <a:off x="3001934" y="4762140"/>
            <a:ext cx="1289304" cy="11247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setpoint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CC976AD-1805-0A9C-D31A-8A3C86BCCA9A}"/>
              </a:ext>
            </a:extLst>
          </p:cNvPr>
          <p:cNvSpPr/>
          <p:nvPr/>
        </p:nvSpPr>
        <p:spPr>
          <a:xfrm>
            <a:off x="5431190" y="4199784"/>
            <a:ext cx="1289304" cy="11247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287D82-D643-628B-95C9-444E3DE7A13D}"/>
              </a:ext>
            </a:extLst>
          </p:cNvPr>
          <p:cNvSpPr/>
          <p:nvPr/>
        </p:nvSpPr>
        <p:spPr>
          <a:xfrm>
            <a:off x="7796784" y="3429000"/>
            <a:ext cx="1289304" cy="11247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pi_block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FE946A-E814-9BF3-DBBD-7D91755CF117}"/>
              </a:ext>
            </a:extLst>
          </p:cNvPr>
          <p:cNvSpPr/>
          <p:nvPr/>
        </p:nvSpPr>
        <p:spPr>
          <a:xfrm>
            <a:off x="7796784" y="4762140"/>
            <a:ext cx="1289304" cy="11247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pb_switch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9975B6-10AC-6139-05EF-7269ECDF1A18}"/>
              </a:ext>
            </a:extLst>
          </p:cNvPr>
          <p:cNvSpPr txBox="1"/>
          <p:nvPr/>
        </p:nvSpPr>
        <p:spPr>
          <a:xfrm>
            <a:off x="11777472" y="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85440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E9675-DE0E-57DB-E202-6FA11D96737E}"/>
              </a:ext>
            </a:extLst>
          </p:cNvPr>
          <p:cNvSpPr txBox="1">
            <a:spLocks/>
          </p:cNvSpPr>
          <p:nvPr/>
        </p:nvSpPr>
        <p:spPr>
          <a:xfrm>
            <a:off x="838200" y="558764"/>
            <a:ext cx="10515600" cy="94730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badi" panose="020B0604020104020204" pitchFamily="34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 dirty="0" err="1">
                <a:latin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slučka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094DD8-E8BD-DE6B-B426-4977E816B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53312"/>
            <a:ext cx="4691222" cy="520930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F56B33-863C-04C7-0DBC-19B807A1F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424" y="3291291"/>
            <a:ext cx="4096322" cy="49536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75345B-3963-09A9-E90D-687B18EC2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0424" y="1722644"/>
            <a:ext cx="6161576" cy="8259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4E5EB7-9197-9DB8-5E75-8011B6072406}"/>
              </a:ext>
            </a:extLst>
          </p:cNvPr>
          <p:cNvSpPr txBox="1"/>
          <p:nvPr/>
        </p:nvSpPr>
        <p:spPr>
          <a:xfrm>
            <a:off x="5711604" y="1353312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pb_switch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70DB1E-E280-CC6D-64FF-37A1BF40777B}"/>
              </a:ext>
            </a:extLst>
          </p:cNvPr>
          <p:cNvSpPr txBox="1"/>
          <p:nvPr/>
        </p:nvSpPr>
        <p:spPr>
          <a:xfrm>
            <a:off x="5711604" y="2921959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pi_block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58414E-5B65-70FF-77F3-03AC23C9EF18}"/>
              </a:ext>
            </a:extLst>
          </p:cNvPr>
          <p:cNvSpPr txBox="1"/>
          <p:nvPr/>
        </p:nvSpPr>
        <p:spPr>
          <a:xfrm>
            <a:off x="6096000" y="3794417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ziskové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plánovanie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(gain scheduling)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2485F1-6C09-F7D8-0D65-91C3BCD89506}"/>
              </a:ext>
            </a:extLst>
          </p:cNvPr>
          <p:cNvSpPr txBox="1"/>
          <p:nvPr/>
        </p:nvSpPr>
        <p:spPr>
          <a:xfrm>
            <a:off x="6096000" y="4155992"/>
            <a:ext cx="6272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neaktívnom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stave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tzv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bumpless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transfer)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E3BEF-FCDB-0582-F2BB-7DBAFF406363}"/>
              </a:ext>
            </a:extLst>
          </p:cNvPr>
          <p:cNvSpPr txBox="1"/>
          <p:nvPr/>
        </p:nvSpPr>
        <p:spPr>
          <a:xfrm>
            <a:off x="70866" y="6440970"/>
            <a:ext cx="7847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logickej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postupnosti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operácií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E9F114-F2CA-0942-DC07-82AF4271C206}"/>
              </a:ext>
            </a:extLst>
          </p:cNvPr>
          <p:cNvSpPr txBox="1"/>
          <p:nvPr/>
        </p:nvSpPr>
        <p:spPr>
          <a:xfrm>
            <a:off x="11777472" y="0"/>
            <a:ext cx="406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3385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B9BAA-C927-BA74-2687-91FE63C92A8B}"/>
              </a:ext>
            </a:extLst>
          </p:cNvPr>
          <p:cNvSpPr txBox="1">
            <a:spLocks/>
          </p:cNvSpPr>
          <p:nvPr/>
        </p:nvSpPr>
        <p:spPr>
          <a:xfrm>
            <a:off x="838200" y="558764"/>
            <a:ext cx="10515600" cy="94730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badi" panose="020B0604020104020204" pitchFamily="34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 dirty="0" err="1">
                <a:latin typeface="Times New Roman" panose="02020603050405020304" pitchFamily="18" charset="0"/>
              </a:rPr>
              <a:t>Regulácia</a:t>
            </a:r>
            <a:r>
              <a:rPr lang="en-US" dirty="0">
                <a:latin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</a:rPr>
              <a:t>prepínačom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bodov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F45B3-FC00-51B0-B6F2-C38C09E66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1183"/>
            <a:ext cx="12192000" cy="472940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292D87-439B-FBAB-F73F-4F3391E354DD}"/>
              </a:ext>
            </a:extLst>
          </p:cNvPr>
          <p:cNvSpPr txBox="1"/>
          <p:nvPr/>
        </p:nvSpPr>
        <p:spPr>
          <a:xfrm>
            <a:off x="2631186" y="5929904"/>
            <a:ext cx="7317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CFC6FF-D58B-FF67-1AA8-BF37EED487B3}"/>
              </a:ext>
            </a:extLst>
          </p:cNvPr>
          <p:cNvSpPr txBox="1"/>
          <p:nvPr/>
        </p:nvSpPr>
        <p:spPr>
          <a:xfrm>
            <a:off x="11777472" y="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991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D6DFE-207F-F926-6C11-50A53CCDC85D}"/>
              </a:ext>
            </a:extLst>
          </p:cNvPr>
          <p:cNvSpPr txBox="1">
            <a:spLocks/>
          </p:cNvSpPr>
          <p:nvPr/>
        </p:nvSpPr>
        <p:spPr>
          <a:xfrm>
            <a:off x="838200" y="558764"/>
            <a:ext cx="10515600" cy="94730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badi" panose="020B0604020104020204" pitchFamily="34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 dirty="0" err="1">
                <a:latin typeface="Times New Roman" panose="02020603050405020304" pitchFamily="18" charset="0"/>
              </a:rPr>
              <a:t>Regulácia</a:t>
            </a:r>
            <a:r>
              <a:rPr lang="en-US" dirty="0">
                <a:latin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</a:rPr>
              <a:t>prepínačom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bodov</a:t>
            </a:r>
            <a:endParaRPr lang="en-US" dirty="0">
              <a:latin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E5A182-59C7-893B-F435-023802E9E3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761" y="1254240"/>
            <a:ext cx="6336799" cy="51476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ECC591-EFD4-463C-5A19-A74513D32B20}"/>
              </a:ext>
            </a:extLst>
          </p:cNvPr>
          <p:cNvSpPr txBox="1"/>
          <p:nvPr/>
        </p:nvSpPr>
        <p:spPr>
          <a:xfrm>
            <a:off x="2989326" y="62116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22: Experiment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akčné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zásahy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ažiadané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hodnoty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046686-EF15-B712-C7A8-80E7AB11A377}"/>
              </a:ext>
            </a:extLst>
          </p:cNvPr>
          <p:cNvSpPr txBox="1"/>
          <p:nvPr/>
        </p:nvSpPr>
        <p:spPr>
          <a:xfrm>
            <a:off x="11777472" y="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123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DBBC7-D02F-DE5F-E72A-8811B852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</a:rPr>
              <a:t>Plány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</a:rPr>
              <a:t>nasledujúci</a:t>
            </a:r>
            <a:r>
              <a:rPr lang="en-US" dirty="0">
                <a:latin typeface="Times New Roman" panose="02020603050405020304" pitchFamily="18" charset="0"/>
              </a:rPr>
              <a:t> semester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7D14CD-E63A-C02F-2319-2889C70EEF1A}"/>
              </a:ext>
            </a:extLst>
          </p:cNvPr>
          <p:cNvSpPr txBox="1"/>
          <p:nvPr/>
        </p:nvSpPr>
        <p:spPr>
          <a:xfrm>
            <a:off x="182880" y="2002536"/>
            <a:ext cx="1221039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Zmeniť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prepínača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 P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Zmeniť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diplomovej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práce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zvolenú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metódu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regulácie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mikrokontroléri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C++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Realizovať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zvolenú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metódu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regulácie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Siemens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alebo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Schneider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možné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modernizovať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36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00aa458-2a8d-42b1-bdf6-c07977e619c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8A0C2FA5AC4D4E87D68511480C5629" ma:contentTypeVersion="11" ma:contentTypeDescription="Create a new document." ma:contentTypeScope="" ma:versionID="5b9554209eb90c22fb7ed1ff2c5066fe">
  <xsd:schema xmlns:xsd="http://www.w3.org/2001/XMLSchema" xmlns:xs="http://www.w3.org/2001/XMLSchema" xmlns:p="http://schemas.microsoft.com/office/2006/metadata/properties" xmlns:ns3="e786d6c5-dfb3-4674-823e-81c9e58bcfff" xmlns:ns4="900aa458-2a8d-42b1-bdf6-c07977e619c5" targetNamespace="http://schemas.microsoft.com/office/2006/metadata/properties" ma:root="true" ma:fieldsID="6f7252216ee652ebe7e66e30d4516721" ns3:_="" ns4:_="">
    <xsd:import namespace="e786d6c5-dfb3-4674-823e-81c9e58bcfff"/>
    <xsd:import namespace="900aa458-2a8d-42b1-bdf6-c07977e619c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86d6c5-dfb3-4674-823e-81c9e58bcf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0aa458-2a8d-42b1-bdf6-c07977e619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698ED0F-BBDE-421B-822B-32749D1646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E92DE47-F9A8-4A3E-B33F-21570EA87DF9}">
  <ds:schemaRefs>
    <ds:schemaRef ds:uri="http://www.w3.org/XML/1998/namespace"/>
    <ds:schemaRef ds:uri="http://purl.org/dc/terms/"/>
    <ds:schemaRef ds:uri="e786d6c5-dfb3-4674-823e-81c9e58bcfff"/>
    <ds:schemaRef ds:uri="http://schemas.microsoft.com/office/2006/documentManagement/types"/>
    <ds:schemaRef ds:uri="900aa458-2a8d-42b1-bdf6-c07977e619c5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2288727-B3E5-43EC-B83C-E5B964B313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786d6c5-dfb3-4674-823e-81c9e58bcfff"/>
    <ds:schemaRef ds:uri="900aa458-2a8d-42b1-bdf6-c07977e619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517</Words>
  <Application>Microsoft Office PowerPoint</Application>
  <PresentationFormat>Widescreen</PresentationFormat>
  <Paragraphs>89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Office Theme</vt:lpstr>
      <vt:lpstr>Návrh implementácie vybraných algoritmov riadenia</vt:lpstr>
      <vt:lpstr>Úlohy:</vt:lpstr>
      <vt:lpstr>Hlavné body prezentácie</vt:lpstr>
      <vt:lpstr>Popis systému</vt:lpstr>
      <vt:lpstr>Statické vlastnosti systému</vt:lpstr>
      <vt:lpstr>Merania na identifikáciu systému v pracovnom bode:  Detrend</vt:lpstr>
      <vt:lpstr>PowerPoint Presentation</vt:lpstr>
      <vt:lpstr>PowerPoint Presentation</vt:lpstr>
      <vt:lpstr>Popis a implementácia URO s PI regulátorom</vt:lpstr>
      <vt:lpstr>PowerPoint Presentation</vt:lpstr>
      <vt:lpstr>Experiment s PI regulátorom na reálnom systéme</vt:lpstr>
      <vt:lpstr>Regulácia s prepínačom pracovných bodov</vt:lpstr>
      <vt:lpstr>PowerPoint Presentation</vt:lpstr>
      <vt:lpstr>PowerPoint Presentation</vt:lpstr>
      <vt:lpstr>PowerPoint Presentation</vt:lpstr>
      <vt:lpstr>Plány na nasledujúci semester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1</cp:revision>
  <dcterms:created xsi:type="dcterms:W3CDTF">2026-02-02T17:23:23Z</dcterms:created>
  <dcterms:modified xsi:type="dcterms:W3CDTF">2026-02-02T18:20:10Z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0x010100C78A0C2FA5AC4D4E87D68511480C5629</vt:lpwstr>
  </property>
</Properties>
</file>