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8" r:id="rId5"/>
    <p:sldId id="271" r:id="rId6"/>
    <p:sldId id="289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67" r:id="rId21"/>
    <p:sldId id="290" r:id="rId22"/>
    <p:sldId id="291" r:id="rId23"/>
    <p:sldId id="269" r:id="rId24"/>
    <p:sldId id="270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7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FE7AC-06A2-4B22-8A0E-B495546C193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228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FE7AC-06A2-4B22-8A0E-B495546C193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03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Návrh</a:t>
            </a:r>
            <a:r>
              <a:rPr lang="en-US" dirty="0"/>
              <a:t> </a:t>
            </a:r>
            <a:r>
              <a:rPr lang="en-US" dirty="0" err="1"/>
              <a:t>implementácie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Diplomov</a:t>
            </a:r>
            <a:r>
              <a:rPr lang="sk-SK" dirty="0"/>
              <a:t>á</a:t>
            </a:r>
            <a:r>
              <a:rPr lang="en-US" dirty="0"/>
              <a:t> </a:t>
            </a:r>
            <a:r>
              <a:rPr lang="en-US" dirty="0" err="1"/>
              <a:t>praca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r"/>
            <a:r>
              <a:rPr lang="en-US" sz="1800" dirty="0" err="1"/>
              <a:t>Bc</a:t>
            </a:r>
            <a:r>
              <a:rPr lang="en-US" sz="1800" dirty="0"/>
              <a:t>. Andrii Stoliar</a:t>
            </a:r>
            <a:endParaRPr lang="ru-RU" sz="1800" dirty="0"/>
          </a:p>
          <a:p>
            <a:pPr algn="r"/>
            <a:r>
              <a:rPr lang="en-US" sz="1800" dirty="0"/>
              <a:t>Ing. Marián </a:t>
            </a:r>
            <a:r>
              <a:rPr lang="en-US" sz="1800" dirty="0" err="1"/>
              <a:t>Tárník</a:t>
            </a:r>
            <a:r>
              <a:rPr lang="en-US" sz="1800" dirty="0"/>
              <a:t>, PhD.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z="1800" smtClean="0"/>
              <a:t>1</a:t>
            </a:fld>
            <a:r>
              <a:rPr lang="en-US" sz="1800" dirty="0"/>
              <a:t>/20</a:t>
            </a:r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Ciele</a:t>
            </a:r>
            <a:r>
              <a:rPr lang="en-US" dirty="0"/>
              <a:t> </a:t>
            </a:r>
            <a:r>
              <a:rPr lang="en-US" dirty="0" err="1"/>
              <a:t>práce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Oboznámte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</a:t>
            </a:r>
            <a:r>
              <a:rPr lang="en-US" dirty="0" err="1"/>
              <a:t>dostupným</a:t>
            </a:r>
            <a:r>
              <a:rPr lang="en-US" dirty="0"/>
              <a:t> </a:t>
            </a:r>
            <a:r>
              <a:rPr lang="en-US" dirty="0" err="1"/>
              <a:t>laboratórnym</a:t>
            </a:r>
            <a:r>
              <a:rPr lang="en-US" dirty="0"/>
              <a:t> </a:t>
            </a:r>
            <a:r>
              <a:rPr lang="en-US" dirty="0" err="1"/>
              <a:t>hardvérom</a:t>
            </a:r>
            <a:r>
              <a:rPr lang="en-US" dirty="0"/>
              <a:t> a </a:t>
            </a:r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stručnú</a:t>
            </a:r>
            <a:r>
              <a:rPr lang="en-US" dirty="0"/>
              <a:t> </a:t>
            </a:r>
            <a:r>
              <a:rPr lang="en-US" dirty="0" err="1"/>
              <a:t>technickú</a:t>
            </a:r>
            <a:r>
              <a:rPr lang="en-US" dirty="0"/>
              <a:t> </a:t>
            </a:r>
            <a:r>
              <a:rPr lang="en-US" dirty="0" err="1"/>
              <a:t>dokumentáciu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laboratórnych</a:t>
            </a:r>
            <a:r>
              <a:rPr lang="en-US" dirty="0"/>
              <a:t> </a:t>
            </a:r>
            <a:r>
              <a:rPr lang="en-US" dirty="0" err="1"/>
              <a:t>dynamických</a:t>
            </a:r>
            <a:r>
              <a:rPr lang="en-US" dirty="0"/>
              <a:t> </a:t>
            </a:r>
            <a:r>
              <a:rPr lang="en-US" dirty="0" err="1"/>
              <a:t>systémov</a:t>
            </a:r>
            <a:r>
              <a:rPr lang="en-US" dirty="0"/>
              <a:t>.</a:t>
            </a:r>
          </a:p>
          <a:p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krátky</a:t>
            </a:r>
            <a:r>
              <a:rPr lang="en-US" dirty="0"/>
              <a:t> </a:t>
            </a:r>
            <a:r>
              <a:rPr lang="en-US" dirty="0" err="1"/>
              <a:t>prehľad</a:t>
            </a:r>
            <a:r>
              <a:rPr lang="en-US" dirty="0"/>
              <a:t> </a:t>
            </a:r>
            <a:r>
              <a:rPr lang="en-US" dirty="0" err="1"/>
              <a:t>riadiacich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pre </a:t>
            </a:r>
            <a:r>
              <a:rPr lang="en-US" dirty="0" err="1"/>
              <a:t>následnú</a:t>
            </a:r>
            <a:r>
              <a:rPr lang="en-US" dirty="0"/>
              <a:t> </a:t>
            </a:r>
            <a:r>
              <a:rPr lang="en-US" dirty="0" err="1"/>
              <a:t>implementáciu</a:t>
            </a:r>
            <a:r>
              <a:rPr lang="en-US" dirty="0"/>
              <a:t>.</a:t>
            </a:r>
          </a:p>
          <a:p>
            <a:r>
              <a:rPr lang="en-US" dirty="0" err="1"/>
              <a:t>Navrhnite</a:t>
            </a:r>
            <a:r>
              <a:rPr lang="en-US" dirty="0"/>
              <a:t> a </a:t>
            </a:r>
            <a:r>
              <a:rPr lang="en-US" dirty="0" err="1"/>
              <a:t>realizujte</a:t>
            </a:r>
            <a:r>
              <a:rPr lang="en-US" dirty="0"/>
              <a:t> </a:t>
            </a:r>
            <a:r>
              <a:rPr lang="en-US" dirty="0" err="1"/>
              <a:t>predmetné</a:t>
            </a:r>
            <a:r>
              <a:rPr lang="en-US" dirty="0"/>
              <a:t> </a:t>
            </a:r>
            <a:r>
              <a:rPr lang="en-US" dirty="0" err="1"/>
              <a:t>riadiace</a:t>
            </a:r>
            <a:r>
              <a:rPr lang="en-US" dirty="0"/>
              <a:t> </a:t>
            </a:r>
            <a:r>
              <a:rPr lang="en-US" dirty="0" err="1"/>
              <a:t>systémy</a:t>
            </a:r>
            <a:r>
              <a:rPr lang="en-US" dirty="0"/>
              <a:t> a </a:t>
            </a:r>
            <a:r>
              <a:rPr lang="en-US" dirty="0" err="1"/>
              <a:t>analyzujte</a:t>
            </a:r>
            <a:r>
              <a:rPr lang="en-US" dirty="0"/>
              <a:t> </a:t>
            </a:r>
            <a:r>
              <a:rPr lang="en-US" dirty="0" err="1"/>
              <a:t>kvalitu</a:t>
            </a:r>
            <a:r>
              <a:rPr lang="en-US" dirty="0"/>
              <a:t> </a:t>
            </a:r>
            <a:r>
              <a:rPr lang="en-US" dirty="0" err="1"/>
              <a:t>riadenia</a:t>
            </a:r>
            <a:r>
              <a:rPr lang="en-US" dirty="0"/>
              <a:t>.</a:t>
            </a:r>
          </a:p>
          <a:p>
            <a:r>
              <a:rPr lang="en-US" dirty="0" err="1"/>
              <a:t>Vyhodnoťte</a:t>
            </a:r>
            <a:r>
              <a:rPr lang="en-US" dirty="0"/>
              <a:t> </a:t>
            </a:r>
            <a:r>
              <a:rPr lang="en-US" dirty="0" err="1"/>
              <a:t>dosiahnuté</a:t>
            </a:r>
            <a:r>
              <a:rPr lang="en-US" dirty="0"/>
              <a:t> </a:t>
            </a:r>
            <a:r>
              <a:rPr lang="en-US" dirty="0" err="1"/>
              <a:t>výsledky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 - </a:t>
            </a:r>
            <a:r>
              <a:rPr lang="en-US" dirty="0" err="1"/>
              <a:t>popis</a:t>
            </a:r>
            <a:r>
              <a:rPr lang="en-US" dirty="0"/>
              <a:t> </a:t>
            </a:r>
            <a:r>
              <a:rPr 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3/20</a:t>
            </a:r>
          </a:p>
        </p:txBody>
      </p:sp>
      <p:pic>
        <p:nvPicPr>
          <p:cNvPr id="10" name="Picture 9" descr="A close-up of a light&#10;&#10;AI-generated content may be incorrect.">
            <a:extLst>
              <a:ext uri="{FF2B5EF4-FFF2-40B4-BE49-F238E27FC236}">
                <a16:creationId xmlns:a16="http://schemas.microsoft.com/office/drawing/2014/main" id="{01ACE7EB-1B2E-03AF-425D-B52A0B3A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D4C06A5-BFC5-A959-13FD-482CF170A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460604"/>
              </p:ext>
            </p:extLst>
          </p:nvPr>
        </p:nvGraphicFramePr>
        <p:xfrm>
          <a:off x="6920126" y="2576237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2F4FC1-C8E3-6437-3B02-8139A2198BB2}"/>
              </a:ext>
            </a:extLst>
          </p:cNvPr>
          <p:cNvSpPr txBox="1"/>
          <p:nvPr/>
        </p:nvSpPr>
        <p:spPr>
          <a:xfrm>
            <a:off x="1951038" y="4510584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65478-9885-0D74-7C4F-4C29689C7B2B}"/>
              </a:ext>
            </a:extLst>
          </p:cNvPr>
          <p:cNvSpPr txBox="1"/>
          <p:nvPr/>
        </p:nvSpPr>
        <p:spPr>
          <a:xfrm>
            <a:off x="6825669" y="2206905"/>
            <a:ext cx="429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BD46-7204-9E5F-CDED-CAE9E300C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Statické</a:t>
            </a:r>
            <a:r>
              <a:rPr lang="en-US" altLang="en-US" dirty="0"/>
              <a:t> </a:t>
            </a:r>
            <a:r>
              <a:rPr lang="en-US" altLang="en-US" dirty="0" err="1"/>
              <a:t>vlastnosti</a:t>
            </a:r>
            <a:r>
              <a:rPr lang="en-US" altLang="en-US" dirty="0"/>
              <a:t> </a:t>
            </a:r>
            <a:r>
              <a:rPr lang="en-US" alt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F7E1-2B5D-E952-E173-CA6064276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4/20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EF39B-1E66-AD5D-A96F-983AB03FBE01}"/>
              </a:ext>
            </a:extLst>
          </p:cNvPr>
          <p:cNvSpPr txBox="1"/>
          <p:nvPr/>
        </p:nvSpPr>
        <p:spPr>
          <a:xfrm>
            <a:off x="1045187" y="5062204"/>
            <a:ext cx="5753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6A1C06-EB46-8AAA-F22F-80434120E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31BFDE-E187-079D-A77A-1C7F815F1B14}"/>
              </a:ext>
            </a:extLst>
          </p:cNvPr>
          <p:cNvSpPr txBox="1"/>
          <p:nvPr/>
        </p:nvSpPr>
        <p:spPr>
          <a:xfrm>
            <a:off x="6096000" y="5653156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64DEFD-3682-397F-9A77-CFEE19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320" y="1661887"/>
            <a:ext cx="6032009" cy="353678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0881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1FBDE5-827B-1D4B-26B5-A54EFF3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5/20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3B8FB47-372D-1CFF-C81C-5D1DBEBDB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6D4F512F-CAC6-E444-5F74-7BE3D29282DA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7A5324-11BE-2F92-8D4A-A68B4E44ABFD}"/>
              </a:ext>
            </a:extLst>
          </p:cNvPr>
          <p:cNvSpPr txBox="1"/>
          <p:nvPr/>
        </p:nvSpPr>
        <p:spPr>
          <a:xfrm>
            <a:off x="943760" y="5299160"/>
            <a:ext cx="57345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/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=0.036792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=0.026996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blipFill>
                <a:blip r:embed="rId4"/>
                <a:stretch>
                  <a:fillRect l="-1842" r="-2368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/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0.00171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−0.3379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/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/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𝑎𝑝𝑝𝑟𝑜𝑥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=0.036951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blipFill>
                <a:blip r:embed="rId7"/>
                <a:stretch>
                  <a:fillRect l="-697" r="-156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95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607C-7F9F-2EF3-C9CE-16A851E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Komunikačné</a:t>
            </a:r>
            <a:r>
              <a:rPr lang="en-US" sz="2800" dirty="0"/>
              <a:t> </a:t>
            </a:r>
            <a:r>
              <a:rPr lang="en-US" sz="2800" dirty="0" err="1"/>
              <a:t>rozhranie</a:t>
            </a:r>
            <a:r>
              <a:rPr lang="en-US" sz="2800" dirty="0"/>
              <a:t> </a:t>
            </a:r>
            <a:r>
              <a:rPr lang="en-US" sz="2800" dirty="0" err="1"/>
              <a:t>systému</a:t>
            </a:r>
            <a:r>
              <a:rPr lang="en-US" sz="2800" dirty="0"/>
              <a:t> TS05 pre </a:t>
            </a:r>
            <a:r>
              <a:rPr lang="en-US" sz="2800" dirty="0" err="1"/>
              <a:t>jednotlivé</a:t>
            </a:r>
            <a:r>
              <a:rPr lang="en-US" sz="2800" dirty="0"/>
              <a:t> platformy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B07960-D8CE-836A-2177-436498B1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6/20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0CF13D-D640-4785-EB1D-4C00C2FB719B}"/>
              </a:ext>
            </a:extLst>
          </p:cNvPr>
          <p:cNvSpPr txBox="1"/>
          <p:nvPr/>
        </p:nvSpPr>
        <p:spPr>
          <a:xfrm>
            <a:off x="0" y="1797627"/>
            <a:ext cx="381692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MATLAB/Simulink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 cez meraciu kartu Advantech PCI-1711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31CD2-0D74-483D-35E5-8F9CE24D6FD6}"/>
              </a:ext>
            </a:extLst>
          </p:cNvPr>
          <p:cNvSpPr txBox="1"/>
          <p:nvPr/>
        </p:nvSpPr>
        <p:spPr>
          <a:xfrm>
            <a:off x="4184072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C++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Vytvorená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 piny 8-pinového konektora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 to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prevodník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Snímače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napäťovým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0–5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kalibrácia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kubickými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polynómami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EB621-41C3-9FF6-8740-C6BC6FF99475}"/>
              </a:ext>
            </a:extLst>
          </p:cNvPr>
          <p:cNvSpPr txBox="1"/>
          <p:nvPr/>
        </p:nvSpPr>
        <p:spPr>
          <a:xfrm>
            <a:off x="8368144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PLC Siemens S7-1200 G2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 1233 AI/AQ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spracované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PLC: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0–27648 ↔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Cyclic Interrupt, Ts = 0,1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Logovanie realizované do interných polí PLC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25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4B6EA-3D41-00F3-BEC2-6171B106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PI </a:t>
            </a:r>
            <a:r>
              <a:rPr lang="en-US" sz="2800" dirty="0" err="1"/>
              <a:t>regulátor</a:t>
            </a:r>
            <a:r>
              <a:rPr lang="en-US" sz="2800" dirty="0"/>
              <a:t> pre </a:t>
            </a:r>
            <a:r>
              <a:rPr lang="en-US" sz="2800" dirty="0" err="1"/>
              <a:t>riadenie</a:t>
            </a:r>
            <a:r>
              <a:rPr lang="en-US" sz="2800" dirty="0"/>
              <a:t> v </a:t>
            </a:r>
            <a:r>
              <a:rPr lang="en-US" sz="2800" dirty="0" err="1"/>
              <a:t>okolí</a:t>
            </a:r>
            <a:r>
              <a:rPr lang="en-US" sz="2800" dirty="0"/>
              <a:t> </a:t>
            </a:r>
            <a:r>
              <a:rPr lang="en-US" sz="2800" dirty="0" err="1"/>
              <a:t>jedného</a:t>
            </a:r>
            <a:r>
              <a:rPr lang="en-US" sz="2800" dirty="0"/>
              <a:t> </a:t>
            </a:r>
            <a:r>
              <a:rPr lang="en-US" sz="2800" dirty="0" err="1"/>
              <a:t>pracovného</a:t>
            </a:r>
            <a:r>
              <a:rPr lang="en-US" sz="2800" dirty="0"/>
              <a:t> </a:t>
            </a:r>
            <a:r>
              <a:rPr lang="en-US" sz="2800" dirty="0" err="1"/>
              <a:t>bodu</a:t>
            </a:r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69B33-64E6-FC9F-2250-F9591918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7/20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B20DF-962F-A7E9-232A-41E4E1D60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02" y="1340440"/>
            <a:ext cx="6872140" cy="2290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A9B581-5277-9B41-E1B3-1620F07C8D16}"/>
              </a:ext>
            </a:extLst>
          </p:cNvPr>
          <p:cNvSpPr txBox="1"/>
          <p:nvPr/>
        </p:nvSpPr>
        <p:spPr>
          <a:xfrm>
            <a:off x="919114" y="363115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obvodu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B45034-A592-0BD2-39F7-839ECA53E3A5}"/>
              </a:ext>
            </a:extLst>
          </p:cNvPr>
          <p:cNvSpPr txBox="1"/>
          <p:nvPr/>
        </p:nvSpPr>
        <p:spPr>
          <a:xfrm>
            <a:off x="8116297" y="16794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Paralelná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 PI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AFD266-E30B-5435-AA88-02F807263085}"/>
              </a:ext>
            </a:extLst>
          </p:cNvPr>
          <p:cNvSpPr txBox="1"/>
          <p:nvPr/>
        </p:nvSpPr>
        <p:spPr>
          <a:xfrm>
            <a:off x="8096032" y="2807663"/>
            <a:ext cx="1896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D29596-5898-EF00-89FE-262E74D7E14D}"/>
              </a:ext>
            </a:extLst>
          </p:cNvPr>
          <p:cNvSpPr txBox="1"/>
          <p:nvPr/>
        </p:nvSpPr>
        <p:spPr>
          <a:xfrm>
            <a:off x="8116297" y="3858218"/>
            <a:ext cx="18761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Diskretizácia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D688F4-4323-2FB8-07EF-44093C48D7B8}"/>
              </a:ext>
            </a:extLst>
          </p:cNvPr>
          <p:cNvSpPr txBox="1"/>
          <p:nvPr/>
        </p:nvSpPr>
        <p:spPr>
          <a:xfrm>
            <a:off x="141402" y="4682874"/>
            <a:ext cx="3194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pidtune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/>
              <p:nvPr/>
            </p:nvSpPr>
            <p:spPr>
              <a:xfrm>
                <a:off x="141402" y="5120737"/>
                <a:ext cx="25035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=3.58,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=1.84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5120737"/>
                <a:ext cx="2503506" cy="298415"/>
              </a:xfrm>
              <a:prstGeom prst="rect">
                <a:avLst/>
              </a:prstGeom>
              <a:blipFill>
                <a:blip r:embed="rId4"/>
                <a:stretch>
                  <a:fillRect l="-1703" r="-2190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/>
              <p:nvPr/>
            </p:nvSpPr>
            <p:spPr>
              <a:xfrm>
                <a:off x="141402" y="5575258"/>
                <a:ext cx="3194592" cy="5305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𝑜𝑟𝑜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21.21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+11.15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5575258"/>
                <a:ext cx="3194592" cy="5305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/>
              <p:nvPr/>
            </p:nvSpPr>
            <p:spPr>
              <a:xfrm>
                <a:off x="141402" y="6315254"/>
                <a:ext cx="44451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6315254"/>
                <a:ext cx="4445128" cy="276999"/>
              </a:xfrm>
              <a:prstGeom prst="rect">
                <a:avLst/>
              </a:prstGeom>
              <a:blipFill>
                <a:blip r:embed="rId6"/>
                <a:stretch>
                  <a:fillRect l="-412" r="-109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/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/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/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blipFill>
                <a:blip r:embed="rId9"/>
                <a:stretch>
                  <a:fillRect l="-3415" t="-8633" r="-1220" b="-6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72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798C-C002-31FF-1485-33BD064F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Pseudokód</a:t>
            </a:r>
            <a:r>
              <a:rPr lang="en-US" dirty="0"/>
              <a:t> a </a:t>
            </a:r>
            <a:r>
              <a:rPr lang="en-US" dirty="0" err="1"/>
              <a:t>Implementácia</a:t>
            </a:r>
            <a:r>
              <a:rPr lang="en-US" dirty="0"/>
              <a:t> MATLAB/Simulink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73BCC-A6A9-D21B-9496-A833FA2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8/20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40E21E-03E5-6BD9-4DDF-4E771448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1749196"/>
            <a:ext cx="4344006" cy="30579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C9EDB-EB97-7786-AD82-C63C6A6C6F71}"/>
              </a:ext>
            </a:extLst>
          </p:cNvPr>
          <p:cNvSpPr txBox="1"/>
          <p:nvPr/>
        </p:nvSpPr>
        <p:spPr>
          <a:xfrm>
            <a:off x="838200" y="4934088"/>
            <a:ext cx="4167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Pseudokód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saturáciou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8E2483-4757-0D4D-CF6E-601724C1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973" y="1743328"/>
            <a:ext cx="6400800" cy="3158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7C7B54-A36E-340F-540B-C484E6CDFC66}"/>
              </a:ext>
            </a:extLst>
          </p:cNvPr>
          <p:cNvSpPr txBox="1"/>
          <p:nvPr/>
        </p:nvSpPr>
        <p:spPr>
          <a:xfrm>
            <a:off x="6770803" y="4902291"/>
            <a:ext cx="40323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7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DF67-0C0A-F4DB-9C2F-197117E26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Implementácia: mikrokontrolér a jazyk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4542-3FDE-8F27-A730-46AD469F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9/20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351A0-ABF3-FB45-2A60-1F7811AC9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8529"/>
            <a:ext cx="12192000" cy="739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6B3B-D222-A185-F26C-6AFA599E9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308" y="1504682"/>
            <a:ext cx="4307343" cy="3269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55848-5E78-3F42-BB1A-595D55A35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349" y="1504682"/>
            <a:ext cx="2747563" cy="26366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4CCD34-6EF3-B055-B45B-1F1CF5E665C2}"/>
              </a:ext>
            </a:extLst>
          </p:cNvPr>
          <p:cNvSpPr txBox="1"/>
          <p:nvPr/>
        </p:nvSpPr>
        <p:spPr>
          <a:xfrm>
            <a:off x="700418" y="4141298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Výpis kódu 11: Inicializácia parametrov PI regulátora v jazyku C++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C7A49-0F16-6D7C-2C41-9367DF790B1C}"/>
              </a:ext>
            </a:extLst>
          </p:cNvPr>
          <p:cNvSpPr txBox="1"/>
          <p:nvPr/>
        </p:nvSpPr>
        <p:spPr>
          <a:xfrm>
            <a:off x="6452308" y="4787629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</p:spTree>
    <p:extLst>
      <p:ext uri="{BB962C8B-B14F-4D97-AF65-F5344CB8AC3E}">
        <p14:creationId xmlns:p14="http://schemas.microsoft.com/office/powerpoint/2010/main" val="208826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6DD6-449E-E649-66A7-5274E621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3200" dirty="0"/>
              <a:t>Implementácia: programovateľný logický automat (PLC)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6B8A35-1A2F-A23D-8D24-21C84E32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10/20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EA2184-A236-60FC-4A0B-2BF851028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393"/>
            <a:ext cx="3846607" cy="3723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AF7ABE-33A1-46AB-AEDF-4B9B8B1475FE}"/>
              </a:ext>
            </a:extLst>
          </p:cNvPr>
          <p:cNvSpPr txBox="1"/>
          <p:nvPr/>
        </p:nvSpPr>
        <p:spPr>
          <a:xfrm>
            <a:off x="520517" y="5329799"/>
            <a:ext cx="4654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FB_PI_TS05 v PLC Siemens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D409D-E980-F306-B78E-68AFC0B8D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47" y="1606393"/>
            <a:ext cx="6012975" cy="32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B6E18A-4212-FE91-1329-C7BB84E31172}"/>
              </a:ext>
            </a:extLst>
          </p:cNvPr>
          <p:cNvSpPr txBox="1"/>
          <p:nvPr/>
        </p:nvSpPr>
        <p:spPr>
          <a:xfrm>
            <a:off x="6096000" y="484868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časovača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prostredí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TIA Portal</a:t>
            </a:r>
          </a:p>
        </p:txBody>
      </p:sp>
    </p:spTree>
    <p:extLst>
      <p:ext uri="{BB962C8B-B14F-4D97-AF65-F5344CB8AC3E}">
        <p14:creationId xmlns:p14="http://schemas.microsoft.com/office/powerpoint/2010/main" val="191921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921A-D79E-C5BE-AF09-638783BF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284954-0396-317D-BF87-67EFE1F4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22080" y="6328060"/>
            <a:ext cx="2743200" cy="365125"/>
          </a:xfrm>
        </p:spPr>
        <p:txBody>
          <a:bodyPr/>
          <a:lstStyle/>
          <a:p>
            <a:r>
              <a:rPr lang="en-US" sz="1800" dirty="0"/>
              <a:t>11/20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A6C95-DEF2-FCA9-6AC3-F1BFB41BD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0340"/>
            <a:ext cx="11137900" cy="45202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/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=0.092899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=0.085426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=0.08576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blipFill>
                <a:blip r:embed="rId3"/>
                <a:stretch>
                  <a:fillRect l="-2790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77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A76F-E20D-BD33-353C-11B79950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Riadiaci</a:t>
            </a:r>
            <a:r>
              <a:rPr lang="en-US" sz="2400" dirty="0"/>
              <a:t> </a:t>
            </a:r>
            <a:r>
              <a:rPr lang="en-US" sz="2400" dirty="0" err="1"/>
              <a:t>systém</a:t>
            </a:r>
            <a:r>
              <a:rPr lang="en-US" sz="2400" dirty="0"/>
              <a:t> s </a:t>
            </a:r>
            <a:r>
              <a:rPr lang="en-US" sz="2400" dirty="0" err="1"/>
              <a:t>prepínaním</a:t>
            </a:r>
            <a:r>
              <a:rPr lang="en-US" sz="2400" dirty="0"/>
              <a:t> pre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rozsah</a:t>
            </a:r>
            <a:r>
              <a:rPr lang="en-US" sz="2400" dirty="0"/>
              <a:t> </a:t>
            </a:r>
            <a:r>
              <a:rPr lang="en-US" sz="2400" dirty="0" err="1"/>
              <a:t>výstupnej</a:t>
            </a:r>
            <a:r>
              <a:rPr lang="en-US" sz="2400" dirty="0"/>
              <a:t> </a:t>
            </a:r>
            <a:r>
              <a:rPr lang="en-US" sz="2400" dirty="0" err="1"/>
              <a:t>veličiny</a:t>
            </a:r>
            <a:r>
              <a:rPr lang="en-US" sz="2400" dirty="0"/>
              <a:t> </a:t>
            </a:r>
            <a:r>
              <a:rPr lang="en-US" sz="2400" dirty="0" err="1"/>
              <a:t>riadeného</a:t>
            </a:r>
            <a:r>
              <a:rPr lang="en-US" sz="2400" dirty="0"/>
              <a:t> </a:t>
            </a:r>
            <a:r>
              <a:rPr lang="en-US" sz="2400" dirty="0" err="1"/>
              <a:t>systému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343F3-DD25-EDB8-4D43-A8FC2DE8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2000" dirty="0"/>
              <a:t>12/20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310743-F032-DFAF-41FF-6276C035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431"/>
            <a:ext cx="5731497" cy="3166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293816-B3D7-A2EA-1F6A-80934694E860}"/>
              </a:ext>
            </a:extLst>
          </p:cNvPr>
          <p:cNvSpPr txBox="1"/>
          <p:nvPr/>
        </p:nvSpPr>
        <p:spPr>
          <a:xfrm>
            <a:off x="238027" y="4584958"/>
            <a:ext cx="4711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𝒑𝒓𝒊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0.41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=3.58,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=1.84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=1.83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=2.2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31" t="-7813" r="-936082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5772" t="-7813" r="-509396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7813" r="-96124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07813" r="-96124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07813" r="-1087" b="-3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22018" r="-96124" b="-10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22018" r="-1087" b="-10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222018" r="-96124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222018" r="-1087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CBE0576-2DB0-0A1E-7034-2A89F7E12E4C}"/>
              </a:ext>
            </a:extLst>
          </p:cNvPr>
          <p:cNvSpPr txBox="1"/>
          <p:nvPr/>
        </p:nvSpPr>
        <p:spPr>
          <a:xfrm>
            <a:off x="6161987" y="4201516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/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blipFill>
                <a:blip r:embed="rId4"/>
                <a:stretch>
                  <a:fillRect l="-3587" t="-9375" r="-1345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/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blipFill>
                <a:blip r:embed="rId5"/>
                <a:stretch>
                  <a:fillRect l="-1130" r="-377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/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43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4100E-C7CE-0419-504C-89CF757F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Zákon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947CC-5F02-79FA-D46E-330C4333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13/20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75FA1-D590-C495-5148-8085B2AFE86C}"/>
              </a:ext>
            </a:extLst>
          </p:cNvPr>
          <p:cNvSpPr txBox="1"/>
          <p:nvPr/>
        </p:nvSpPr>
        <p:spPr>
          <a:xfrm>
            <a:off x="838200" y="156871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Binárne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aktivačné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199E7-C890-0C01-73D1-6219DB569658}"/>
              </a:ext>
            </a:extLst>
          </p:cNvPr>
          <p:cNvSpPr txBox="1"/>
          <p:nvPr/>
        </p:nvSpPr>
        <p:spPr>
          <a:xfrm>
            <a:off x="838200" y="2681082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4B54F-4D45-1650-AB47-7DC5BEECC137}"/>
              </a:ext>
            </a:extLst>
          </p:cNvPr>
          <p:cNvSpPr txBox="1"/>
          <p:nvPr/>
        </p:nvSpPr>
        <p:spPr>
          <a:xfrm>
            <a:off x="838200" y="417862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50997B-4482-68CE-389C-5DE89B2C1211}"/>
              </a:ext>
            </a:extLst>
          </p:cNvPr>
          <p:cNvSpPr txBox="1"/>
          <p:nvPr/>
        </p:nvSpPr>
        <p:spPr>
          <a:xfrm>
            <a:off x="7564127" y="64793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81689-46B9-8817-5A9E-E758194649B7}"/>
              </a:ext>
            </a:extLst>
          </p:cNvPr>
          <p:cNvSpPr txBox="1"/>
          <p:nvPr/>
        </p:nvSpPr>
        <p:spPr>
          <a:xfrm>
            <a:off x="7189493" y="202324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Počiatočné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CC3CB-AB73-8A87-90B0-17F00F6695AE}"/>
              </a:ext>
            </a:extLst>
          </p:cNvPr>
          <p:cNvSpPr txBox="1"/>
          <p:nvPr/>
        </p:nvSpPr>
        <p:spPr>
          <a:xfrm>
            <a:off x="5718330" y="3993200"/>
            <a:ext cx="6829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Prepnutie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A02091-C95D-72AE-1F92-41966E361534}"/>
              </a:ext>
            </a:extLst>
          </p:cNvPr>
          <p:cNvSpPr txBox="1"/>
          <p:nvPr/>
        </p:nvSpPr>
        <p:spPr>
          <a:xfrm>
            <a:off x="5718330" y="450699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aspoň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25 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hodnôt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nachádza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intervale: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/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∈{0, 1}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blipFill>
                <a:blip r:embed="rId2"/>
                <a:stretch>
                  <a:fillRect l="-4425" t="-2041" r="-3982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/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blipFill>
                <a:blip r:embed="rId3"/>
                <a:stretch>
                  <a:fillRect l="-2079" r="-208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/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/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blipFill>
                <a:blip r:embed="rId5"/>
                <a:stretch>
                  <a:fillRect l="-246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/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blipFill>
                <a:blip r:embed="rId6"/>
                <a:stretch>
                  <a:fillRect l="-287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/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/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/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/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blipFill>
                <a:blip r:embed="rId10"/>
                <a:stretch>
                  <a:fillRect b="-2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/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2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D9E1-F788-783D-B5C1-2D44DF21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14/20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777DD8-4242-F846-6677-50F0BC3CC0C8}"/>
              </a:ext>
            </a:extLst>
          </p:cNvPr>
          <p:cNvSpPr/>
          <p:nvPr/>
        </p:nvSpPr>
        <p:spPr>
          <a:xfrm>
            <a:off x="0" y="0"/>
            <a:ext cx="12192000" cy="1418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4EA77C-592D-4EC3-DAAB-0456FB812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5" y="0"/>
            <a:ext cx="6139995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73C0E0-94E0-E725-CA7B-EC92C155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169" y="0"/>
            <a:ext cx="7089662" cy="43190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747371C-D745-F32B-A257-66E6719E4C39}"/>
              </a:ext>
            </a:extLst>
          </p:cNvPr>
          <p:cNvSpPr txBox="1"/>
          <p:nvPr/>
        </p:nvSpPr>
        <p:spPr>
          <a:xfrm>
            <a:off x="5599169" y="5894685"/>
            <a:ext cx="4808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0FF7A9-C914-D1EA-3D99-218B444E25D9}"/>
              </a:ext>
            </a:extLst>
          </p:cNvPr>
          <p:cNvSpPr txBox="1"/>
          <p:nvPr/>
        </p:nvSpPr>
        <p:spPr>
          <a:xfrm>
            <a:off x="7139666" y="4319025"/>
            <a:ext cx="45555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Obr. 37: Detail regulácie v okolí pracovného bodu pri implementácii algoritmu v PLC Siemens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153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3F564-7A28-E09E-CD57-32CA0863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D273D-6AAE-9F22-D3A2-E9C5E0DB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15/20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8AAE30-79A6-2E87-EB95-82BB3C23D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91" y="1593182"/>
            <a:ext cx="10000445" cy="50776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/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=0.497536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=0.405534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=0.456926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062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0B6E-2570-4097-0195-161CE0A7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Adaptívne</a:t>
            </a:r>
            <a:r>
              <a:rPr lang="en-US" sz="3200" dirty="0"/>
              <a:t> </a:t>
            </a:r>
            <a:r>
              <a:rPr lang="en-US" sz="3200" dirty="0" err="1"/>
              <a:t>riadenie</a:t>
            </a:r>
            <a:r>
              <a:rPr lang="en-US" sz="3200" dirty="0"/>
              <a:t> s </a:t>
            </a:r>
            <a:r>
              <a:rPr lang="en-US" sz="3200" dirty="0" err="1"/>
              <a:t>referenčným</a:t>
            </a:r>
            <a:r>
              <a:rPr lang="en-US" sz="3200" dirty="0"/>
              <a:t> </a:t>
            </a:r>
            <a:r>
              <a:rPr lang="en-US" sz="3200" dirty="0" err="1"/>
              <a:t>modelom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CE24D-CA76-DE71-BB9E-AE286A52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16/20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2A177C-588B-8A09-71B3-5BA79A0C01FC}"/>
              </a:ext>
            </a:extLst>
          </p:cNvPr>
          <p:cNvSpPr txBox="1"/>
          <p:nvPr/>
        </p:nvSpPr>
        <p:spPr>
          <a:xfrm>
            <a:off x="838200" y="1418431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Referenčný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F6F46-00B3-8B12-BCF1-F2900A0C98A2}"/>
              </a:ext>
            </a:extLst>
          </p:cNvPr>
          <p:cNvSpPr txBox="1"/>
          <p:nvPr/>
        </p:nvSpPr>
        <p:spPr>
          <a:xfrm>
            <a:off x="838199" y="2351676"/>
            <a:ext cx="3225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E2FA96-8C5D-6C5A-0BE7-AC97CB887FAB}"/>
              </a:ext>
            </a:extLst>
          </p:cNvPr>
          <p:cNvSpPr txBox="1"/>
          <p:nvPr/>
        </p:nvSpPr>
        <p:spPr>
          <a:xfrm>
            <a:off x="838200" y="456103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sledovania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3E7A3-FC3C-49DD-1780-0FF243D7E923}"/>
              </a:ext>
            </a:extLst>
          </p:cNvPr>
          <p:cNvSpPr txBox="1"/>
          <p:nvPr/>
        </p:nvSpPr>
        <p:spPr>
          <a:xfrm>
            <a:off x="838200" y="545808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2E2C-67E9-8F9F-D9B7-2F5B59E2EDE3}"/>
              </a:ext>
            </a:extLst>
          </p:cNvPr>
          <p:cNvSpPr txBox="1"/>
          <p:nvPr/>
        </p:nvSpPr>
        <p:spPr>
          <a:xfrm>
            <a:off x="7267372" y="133067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BA84B-0B1D-D9CF-D0C3-B5CDC5FE8672}"/>
              </a:ext>
            </a:extLst>
          </p:cNvPr>
          <p:cNvSpPr txBox="1"/>
          <p:nvPr/>
        </p:nvSpPr>
        <p:spPr>
          <a:xfrm>
            <a:off x="7267372" y="2323178"/>
            <a:ext cx="6780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Adaptačný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1F70F-44E0-1467-CEE2-C85FE65CEC7F}"/>
              </a:ext>
            </a:extLst>
          </p:cNvPr>
          <p:cNvSpPr txBox="1"/>
          <p:nvPr/>
        </p:nvSpPr>
        <p:spPr>
          <a:xfrm>
            <a:off x="7267372" y="4386540"/>
            <a:ext cx="702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aktualizácia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FC40D-1CB9-F5C8-6C7F-C4533D2BF9E8}"/>
              </a:ext>
            </a:extLst>
          </p:cNvPr>
          <p:cNvSpPr txBox="1"/>
          <p:nvPr/>
        </p:nvSpPr>
        <p:spPr>
          <a:xfrm>
            <a:off x="838200" y="3553774"/>
            <a:ext cx="7082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Numerická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/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blipFill>
                <a:blip r:embed="rId2"/>
                <a:stretch>
                  <a:fillRect l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/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𝑝𝑏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blipFill>
                <a:blip r:embed="rId3"/>
                <a:stretch>
                  <a:fillRect l="-4023" r="-2874" b="-1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/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/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blipFill>
                <a:blip r:embed="rId5"/>
                <a:stretch>
                  <a:fillRect l="-2688" t="-2174" r="-1882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/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/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blipFill>
                <a:blip r:embed="rId7"/>
                <a:stretch>
                  <a:fillRect l="-3790"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/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/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blipFill>
                <a:blip r:embed="rId9"/>
                <a:stretch>
                  <a:fillRect l="-1632" t="-14894" r="-2797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44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B17D-5E91-C82A-545C-8E70A95F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MATLAB/Simulink a PLC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DB8294-7F49-02B4-02F2-F40FDD49A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38912"/>
            <a:ext cx="2743200" cy="365125"/>
          </a:xfrm>
        </p:spPr>
        <p:txBody>
          <a:bodyPr/>
          <a:lstStyle/>
          <a:p>
            <a:r>
              <a:rPr lang="en-US" sz="1800" dirty="0"/>
              <a:t>17/20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CA78B-E3C9-BB58-9916-30D49490DC36}"/>
              </a:ext>
            </a:extLst>
          </p:cNvPr>
          <p:cNvSpPr txBox="1"/>
          <p:nvPr/>
        </p:nvSpPr>
        <p:spPr>
          <a:xfrm>
            <a:off x="378715" y="5892581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559529-4E73-DDAB-2D68-428651BF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2927" y="1418430"/>
            <a:ext cx="6293846" cy="4474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A001B3-1F36-296F-414D-6A63ADAF3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7346" y="1418430"/>
            <a:ext cx="6293845" cy="447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D7F6F-2B2B-04B4-F6A2-7BECCFC7696A}"/>
              </a:ext>
            </a:extLst>
          </p:cNvPr>
          <p:cNvSpPr txBox="1"/>
          <p:nvPr/>
        </p:nvSpPr>
        <p:spPr>
          <a:xfrm>
            <a:off x="5894270" y="5892580"/>
            <a:ext cx="65105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Siemens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D9431BD-D660-94B7-137B-53CCD8E0875B}"/>
                  </a:ext>
                </a:extLst>
              </p:cNvPr>
              <p:cNvSpPr txBox="1"/>
              <p:nvPr/>
            </p:nvSpPr>
            <p:spPr>
              <a:xfrm>
                <a:off x="9655261" y="854001"/>
                <a:ext cx="258179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0.0621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0742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D9431BD-D660-94B7-137B-53CCD8E08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261" y="854001"/>
                <a:ext cx="2581797" cy="830997"/>
              </a:xfrm>
              <a:prstGeom prst="rect">
                <a:avLst/>
              </a:prstGeom>
              <a:blipFill>
                <a:blip r:embed="rId4"/>
                <a:stretch>
                  <a:fillRect l="-3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146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BF73-DEC8-122A-92AD-C8F94C97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Výsledky Arduino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B70931-B896-80E5-AEF7-F4C40223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r>
              <a:rPr lang="en-US" sz="1800" dirty="0"/>
              <a:t>18/20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2CEE6-B550-68E9-6114-09AFE2702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1550" y="1418430"/>
            <a:ext cx="6387550" cy="4540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84C341-8F37-D0BE-91C8-2C6A8F5DE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18430"/>
            <a:ext cx="6387550" cy="4540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E4AADC-90CB-97A8-B077-311DC1061576}"/>
              </a:ext>
            </a:extLst>
          </p:cNvPr>
          <p:cNvSpPr txBox="1"/>
          <p:nvPr/>
        </p:nvSpPr>
        <p:spPr>
          <a:xfrm>
            <a:off x="6329934" y="5959193"/>
            <a:ext cx="6387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heuristicky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C++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E94CE-E7EC-D091-0AB9-08DF3AE04424}"/>
              </a:ext>
            </a:extLst>
          </p:cNvPr>
          <p:cNvSpPr txBox="1"/>
          <p:nvPr/>
        </p:nvSpPr>
        <p:spPr>
          <a:xfrm>
            <a:off x="0" y="595919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C++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EA6F46-AD39-8D47-A4D5-6C0A9BD6B3A6}"/>
                  </a:ext>
                </a:extLst>
              </p:cNvPr>
              <p:cNvSpPr txBox="1"/>
              <p:nvPr/>
            </p:nvSpPr>
            <p:spPr>
              <a:xfrm>
                <a:off x="9623806" y="720975"/>
                <a:ext cx="650557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=0.1763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=0.1274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EA6F46-AD39-8D47-A4D5-6C0A9BD6B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806" y="720975"/>
                <a:ext cx="6505574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60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B77C-9ABA-FCA8-54F3-A8B2B0A5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Zaver…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4A5B5-38C3-EB90-F31C-EF3A4DB3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19/20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8383A3-4C25-8685-CC8D-716AA0869BA2}"/>
              </a:ext>
            </a:extLst>
          </p:cNvPr>
          <p:cNvSpPr txBox="1"/>
          <p:nvPr/>
        </p:nvSpPr>
        <p:spPr>
          <a:xfrm>
            <a:off x="762001" y="1809750"/>
            <a:ext cx="10591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Zdokumentovaný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Pripravená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MATLAB/Simulink, Arduino C++ a PLC Siemens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PI, PI 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MRAC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 MRAC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ukázalo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rôzne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môžu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rozdielne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rovnakej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22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536" y="2964996"/>
            <a:ext cx="10515600" cy="748579"/>
          </a:xfrm>
        </p:spPr>
        <p:txBody>
          <a:bodyPr anchor="ctr">
            <a:noAutofit/>
          </a:bodyPr>
          <a:lstStyle/>
          <a:p>
            <a:r>
              <a:rPr lang="en-US" sz="6000" dirty="0" err="1"/>
              <a:t>Ďakujeme</a:t>
            </a:r>
            <a:r>
              <a:rPr lang="en-US" sz="6000" dirty="0"/>
              <a:t> za </a:t>
            </a:r>
            <a:r>
              <a:rPr lang="en-US" sz="6000" dirty="0" err="1"/>
              <a:t>pozornosť</a:t>
            </a:r>
            <a:endParaRPr lang="en-US" sz="6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/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839D-FA63-545F-3651-566C0DB88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6428"/>
            <a:ext cx="10515600" cy="748579"/>
          </a:xfrm>
        </p:spPr>
        <p:txBody>
          <a:bodyPr>
            <a:noAutofit/>
          </a:bodyPr>
          <a:lstStyle/>
          <a:p>
            <a:r>
              <a:rPr lang="en-US" sz="2400" dirty="0"/>
              <a:t>1. Pri </a:t>
            </a:r>
            <a:r>
              <a:rPr lang="en-US" sz="2400" dirty="0" err="1"/>
              <a:t>logovaní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 v PLC do </a:t>
            </a:r>
            <a:r>
              <a:rPr lang="en-US" sz="2400" dirty="0" err="1"/>
              <a:t>polí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index </a:t>
            </a:r>
            <a:r>
              <a:rPr lang="en-US" sz="2400" dirty="0" err="1"/>
              <a:t>postupne</a:t>
            </a:r>
            <a:r>
              <a:rPr lang="en-US" sz="2400" dirty="0"/>
              <a:t> </a:t>
            </a:r>
            <a:r>
              <a:rPr lang="en-US" sz="2400" dirty="0" err="1"/>
              <a:t>inkrementuje</a:t>
            </a:r>
            <a:r>
              <a:rPr lang="en-US" sz="2400" dirty="0"/>
              <a:t>, </a:t>
            </a:r>
            <a:r>
              <a:rPr lang="en-US" sz="2400" dirty="0" err="1"/>
              <a:t>pričom</a:t>
            </a:r>
            <a:r>
              <a:rPr lang="en-US" sz="2400" dirty="0"/>
              <a:t> </a:t>
            </a:r>
            <a:r>
              <a:rPr lang="en-US" sz="2400" dirty="0" err="1"/>
              <a:t>nie</a:t>
            </a:r>
            <a:r>
              <a:rPr lang="en-US" sz="2400" dirty="0"/>
              <a:t> je </a:t>
            </a:r>
            <a:r>
              <a:rPr lang="en-US" sz="2400" dirty="0" err="1"/>
              <a:t>explicitne</a:t>
            </a:r>
            <a:r>
              <a:rPr lang="en-US" sz="2400" dirty="0"/>
              <a:t> </a:t>
            </a:r>
            <a:r>
              <a:rPr lang="en-US" sz="2400" dirty="0" err="1"/>
              <a:t>riešené</a:t>
            </a:r>
            <a:r>
              <a:rPr lang="en-US" sz="2400" dirty="0"/>
              <a:t> </a:t>
            </a:r>
            <a:r>
              <a:rPr lang="en-US" sz="2400" dirty="0" err="1"/>
              <a:t>nulovanie</a:t>
            </a:r>
            <a:r>
              <a:rPr lang="en-US" sz="2400" dirty="0"/>
              <a:t> </a:t>
            </a:r>
            <a:r>
              <a:rPr lang="en-US" sz="2400" dirty="0" err="1"/>
              <a:t>uložených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. Ako by </a:t>
            </a:r>
            <a:r>
              <a:rPr lang="en-US" sz="2400" dirty="0" err="1"/>
              <a:t>ste</a:t>
            </a:r>
            <a:r>
              <a:rPr lang="en-US" sz="2400" dirty="0"/>
              <a:t> v </a:t>
            </a:r>
            <a:r>
              <a:rPr lang="en-US" sz="2400" dirty="0" err="1"/>
              <a:t>praxi</a:t>
            </a:r>
            <a:r>
              <a:rPr lang="en-US" sz="2400" dirty="0"/>
              <a:t> </a:t>
            </a:r>
            <a:r>
              <a:rPr lang="en-US" sz="2400" dirty="0" err="1"/>
              <a:t>riešili</a:t>
            </a:r>
            <a:r>
              <a:rPr lang="en-US" sz="2400" dirty="0"/>
              <a:t> </a:t>
            </a:r>
            <a:r>
              <a:rPr lang="en-US" sz="2400" dirty="0" err="1"/>
              <a:t>opakované</a:t>
            </a:r>
            <a:r>
              <a:rPr lang="en-US" sz="2400" dirty="0"/>
              <a:t> </a:t>
            </a:r>
            <a:r>
              <a:rPr lang="en-US" sz="2400" dirty="0" err="1"/>
              <a:t>merania</a:t>
            </a:r>
            <a:r>
              <a:rPr lang="en-US" sz="2400" dirty="0"/>
              <a:t> bez </a:t>
            </a:r>
            <a:r>
              <a:rPr lang="en-US" sz="2400" dirty="0" err="1"/>
              <a:t>potreby</a:t>
            </a:r>
            <a:r>
              <a:rPr lang="en-US" sz="2400" dirty="0"/>
              <a:t> </a:t>
            </a:r>
            <a:r>
              <a:rPr lang="en-US" sz="2400" dirty="0" err="1"/>
              <a:t>zmeny</a:t>
            </a:r>
            <a:r>
              <a:rPr lang="en-US" sz="2400" dirty="0"/>
              <a:t> </a:t>
            </a:r>
            <a:r>
              <a:rPr lang="en-US" sz="2400" dirty="0" err="1"/>
              <a:t>režimu</a:t>
            </a:r>
            <a:r>
              <a:rPr lang="en-US" sz="2400" dirty="0"/>
              <a:t> CPU?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C06F3F-E35D-4BD9-1F9E-C0507155E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21/20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19E883-0289-6EB1-0185-358D7B4FF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76" y="2374367"/>
            <a:ext cx="4471447" cy="26396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596B-C736-1573-9E6B-91BD68D9A858}"/>
              </a:ext>
            </a:extLst>
          </p:cNvPr>
          <p:cNvSpPr txBox="1"/>
          <p:nvPr/>
        </p:nvSpPr>
        <p:spPr>
          <a:xfrm>
            <a:off x="179832" y="5060150"/>
            <a:ext cx="4584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A0A2C-8D5D-D642-47F9-C8F2F0BBF0E7}"/>
              </a:ext>
            </a:extLst>
          </p:cNvPr>
          <p:cNvSpPr txBox="1"/>
          <p:nvPr/>
        </p:nvSpPr>
        <p:spPr>
          <a:xfrm>
            <a:off x="5724144" y="2258568"/>
            <a:ext cx="56296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Reset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SampleCount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Full = FALSE, LOGS[all] = 0;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IDLE → RESET → MEASURE → DONE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Kruhový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buffer + 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buffery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658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4326E-5C74-AA57-4C16-C10198AB4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1292"/>
            <a:ext cx="10515600" cy="748579"/>
          </a:xfrm>
        </p:spPr>
        <p:txBody>
          <a:bodyPr>
            <a:noAutofit/>
          </a:bodyPr>
          <a:lstStyle/>
          <a:p>
            <a:r>
              <a:rPr lang="en-US" sz="2000" dirty="0"/>
              <a:t>2. Na </a:t>
            </a:r>
            <a:r>
              <a:rPr lang="en-US" sz="2000" dirty="0" err="1"/>
              <a:t>predmete</a:t>
            </a:r>
            <a:r>
              <a:rPr lang="en-US" sz="2000" dirty="0"/>
              <a:t> </a:t>
            </a:r>
            <a:r>
              <a:rPr lang="en-US" sz="2000" dirty="0" err="1"/>
              <a:t>Riadiace</a:t>
            </a:r>
            <a:r>
              <a:rPr lang="en-US" sz="2000" dirty="0"/>
              <a:t> </a:t>
            </a:r>
            <a:r>
              <a:rPr lang="en-US" sz="2000" dirty="0" err="1"/>
              <a:t>systémy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</a:t>
            </a:r>
            <a:r>
              <a:rPr lang="en-US" sz="2000" dirty="0" err="1"/>
              <a:t>sa</a:t>
            </a:r>
            <a:r>
              <a:rPr lang="en-US" sz="2000" dirty="0"/>
              <a:t> </a:t>
            </a:r>
            <a:r>
              <a:rPr lang="en-US" sz="2000" dirty="0" err="1"/>
              <a:t>stretli</a:t>
            </a:r>
            <a:r>
              <a:rPr lang="en-US" sz="2000" dirty="0"/>
              <a:t> s </a:t>
            </a:r>
            <a:r>
              <a:rPr lang="en-US" sz="2000" dirty="0" err="1"/>
              <a:t>inštrukciou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, </a:t>
            </a:r>
            <a:r>
              <a:rPr lang="en-US" sz="2000" dirty="0" err="1"/>
              <a:t>ktorá</a:t>
            </a:r>
            <a:r>
              <a:rPr lang="en-US" sz="2000" dirty="0"/>
              <a:t> je </a:t>
            </a:r>
            <a:r>
              <a:rPr lang="en-US" sz="2000" dirty="0" err="1"/>
              <a:t>dostupná</a:t>
            </a:r>
            <a:r>
              <a:rPr lang="en-US" sz="2000" dirty="0"/>
              <a:t> v </a:t>
            </a:r>
            <a:r>
              <a:rPr lang="en-US" sz="2000" dirty="0" err="1"/>
              <a:t>knižnici</a:t>
            </a:r>
            <a:r>
              <a:rPr lang="en-US" sz="2000" dirty="0"/>
              <a:t> TIA Portal. </a:t>
            </a:r>
            <a:r>
              <a:rPr lang="en-US" sz="2000" dirty="0" err="1"/>
              <a:t>Neuvažovali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o </a:t>
            </a:r>
            <a:r>
              <a:rPr lang="en-US" sz="2000" dirty="0" err="1"/>
              <a:t>porovnaní</a:t>
            </a:r>
            <a:r>
              <a:rPr lang="en-US" sz="2000" dirty="0"/>
              <a:t> </a:t>
            </a:r>
            <a:r>
              <a:rPr lang="en-US" sz="2000" dirty="0" err="1"/>
              <a:t>vlastnej</a:t>
            </a:r>
            <a:r>
              <a:rPr lang="en-US" sz="2000" dirty="0"/>
              <a:t> </a:t>
            </a:r>
            <a:r>
              <a:rPr lang="en-US" sz="2000" dirty="0" err="1"/>
              <a:t>implementácie</a:t>
            </a:r>
            <a:r>
              <a:rPr lang="en-US" sz="2000" dirty="0"/>
              <a:t> </a:t>
            </a:r>
            <a:r>
              <a:rPr lang="en-US" sz="2000" dirty="0" err="1"/>
              <a:t>aspoň</a:t>
            </a:r>
            <a:r>
              <a:rPr lang="en-US" sz="2000" dirty="0"/>
              <a:t> s </a:t>
            </a:r>
            <a:r>
              <a:rPr lang="en-US" sz="2000" dirty="0" err="1"/>
              <a:t>jedným</a:t>
            </a:r>
            <a:r>
              <a:rPr lang="en-US" sz="2000" dirty="0"/>
              <a:t> </a:t>
            </a:r>
            <a:r>
              <a:rPr lang="en-US" sz="2000" dirty="0" err="1"/>
              <a:t>existujúcim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(</a:t>
            </a:r>
            <a:r>
              <a:rPr lang="en-US" sz="2000" dirty="0" err="1"/>
              <a:t>napr</a:t>
            </a:r>
            <a:r>
              <a:rPr lang="en-US" sz="2000" dirty="0"/>
              <a:t>. </a:t>
            </a:r>
            <a:r>
              <a:rPr lang="en-US" sz="2000" dirty="0" err="1"/>
              <a:t>PID_Compact</a:t>
            </a:r>
            <a:r>
              <a:rPr lang="en-US" sz="2000" dirty="0"/>
              <a:t>)? </a:t>
            </a:r>
            <a:r>
              <a:rPr lang="en-US" sz="2000" dirty="0" err="1"/>
              <a:t>Má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 v </a:t>
            </a:r>
            <a:r>
              <a:rPr lang="en-US" sz="2000" dirty="0" err="1"/>
              <a:t>porovnaní</a:t>
            </a:r>
            <a:r>
              <a:rPr lang="en-US" sz="2000" dirty="0"/>
              <a:t> s </a:t>
            </a:r>
            <a:r>
              <a:rPr lang="en-US" sz="2000" dirty="0" err="1"/>
              <a:t>Vaším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</a:t>
            </a:r>
            <a:r>
              <a:rPr lang="en-US" sz="2000" dirty="0" err="1"/>
              <a:t>nejakú</a:t>
            </a:r>
            <a:r>
              <a:rPr lang="en-US" sz="2000" dirty="0"/>
              <a:t> </a:t>
            </a:r>
            <a:r>
              <a:rPr lang="en-US" sz="2000" dirty="0" err="1"/>
              <a:t>nevýhodu</a:t>
            </a:r>
            <a:r>
              <a:rPr lang="en-US" sz="2000" dirty="0"/>
              <a:t>? </a:t>
            </a:r>
            <a:r>
              <a:rPr lang="en-US" sz="2000" dirty="0" err="1"/>
              <a:t>Stručne</a:t>
            </a:r>
            <a:r>
              <a:rPr lang="en-US" sz="2000" dirty="0"/>
              <a:t> </a:t>
            </a:r>
            <a:r>
              <a:rPr lang="en-US" sz="2000" dirty="0" err="1"/>
              <a:t>vysvetlite</a:t>
            </a:r>
            <a:r>
              <a:rPr lang="en-US" sz="2000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A66D2F-A653-108A-7B36-57085C2B2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22/20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/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===⇒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blipFill>
                <a:blip r:embed="rId2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4E15ED0-A62A-4AB9-79A3-096130AA89A4}"/>
              </a:ext>
            </a:extLst>
          </p:cNvPr>
          <p:cNvSpPr txBox="1"/>
          <p:nvPr/>
        </p:nvSpPr>
        <p:spPr>
          <a:xfrm>
            <a:off x="838200" y="1715500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/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Teda: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ale: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blipFill>
                <a:blip r:embed="rId3"/>
                <a:stretch>
                  <a:fillRect l="-1108" t="-7813" r="-739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CC02961-7F2E-5010-1A04-2F0E86832111}"/>
              </a:ext>
            </a:extLst>
          </p:cNvPr>
          <p:cNvSpPr txBox="1"/>
          <p:nvPr/>
        </p:nvSpPr>
        <p:spPr>
          <a:xfrm>
            <a:off x="838200" y="3276180"/>
            <a:ext cx="44287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jednoduchšia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štruktúra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výpočtov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ľahká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úprava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možný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čistý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funkcií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komplexného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autotuningu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8827BB-69A9-C1A7-D483-B1587350D420}"/>
              </a:ext>
            </a:extLst>
          </p:cNvPr>
          <p:cNvSpPr txBox="1"/>
          <p:nvPr/>
        </p:nvSpPr>
        <p:spPr>
          <a:xfrm>
            <a:off x="5789555" y="3272608"/>
            <a:ext cx="455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priemyselný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štandard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autotuning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vhodný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bežnú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prax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zložitejší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výpočet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viazané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proprietárnosť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6427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AC7-6A1A-1FB6-08FD-7C2E1DAA4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altLang="en-US" sz="2800" dirty="0"/>
              <a:t>Detrend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F4D10-DF8E-E6BA-D834-523C9449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46315-BC4D-55BD-F0D8-788CFB73A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4B340C-87E6-3E4C-F870-655D65ADD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9D7B9EB-DD7B-EF77-8B71-F329392E78DF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5CF46-626C-F497-3E03-ABCCFCFABED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8F32F-C682-F378-41E1-BF1BDDF58F52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760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06BC-A289-B761-999E-AFA1E0C7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sz="2800" dirty="0" err="1"/>
              <a:t>Prechodová</a:t>
            </a:r>
            <a:r>
              <a:rPr lang="en-US" sz="2800" dirty="0"/>
              <a:t> </a:t>
            </a:r>
            <a:r>
              <a:rPr lang="en-US" sz="2800" dirty="0" err="1"/>
              <a:t>charakteristika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8F01-AC3C-B191-ED81-B6F860BF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A4CA9-3F29-893F-BAE0-D191A8E7D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88000D-9D23-ABD5-F233-DEB9B50EC853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</p:spTree>
    <p:extLst>
      <p:ext uri="{BB962C8B-B14F-4D97-AF65-F5344CB8AC3E}">
        <p14:creationId xmlns:p14="http://schemas.microsoft.com/office/powerpoint/2010/main" val="1419360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C5D4-A40C-B751-C0B2-FE468D4D1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Pôvodná</a:t>
            </a:r>
            <a:r>
              <a:rPr lang="en-US" sz="2800" dirty="0"/>
              <a:t> </a:t>
            </a:r>
            <a:r>
              <a:rPr lang="en-US" sz="2800" dirty="0" err="1"/>
              <a:t>komunikácia</a:t>
            </a:r>
            <a:r>
              <a:rPr lang="en-US" sz="2800" dirty="0"/>
              <a:t> v </a:t>
            </a:r>
            <a:r>
              <a:rPr lang="en-US" sz="2800" dirty="0" err="1"/>
              <a:t>prostredí</a:t>
            </a:r>
            <a:r>
              <a:rPr lang="en-US" sz="2800" dirty="0"/>
              <a:t> MATLAB/Simulink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9ABA-5F67-2DBF-3CA4-0901D10B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26A60-5272-1EA2-15FD-2B9285D5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9" y="1885984"/>
            <a:ext cx="5523883" cy="2912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563827-7FC5-719B-AC36-1D3F0FC8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32" y="1885984"/>
            <a:ext cx="5918713" cy="27537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2936BB-F907-E436-E0CF-22E5853618AD}"/>
              </a:ext>
            </a:extLst>
          </p:cNvPr>
          <p:cNvSpPr txBox="1"/>
          <p:nvPr/>
        </p:nvSpPr>
        <p:spPr>
          <a:xfrm>
            <a:off x="302136" y="4639733"/>
            <a:ext cx="5099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Základná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spustenie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906FC-EAD0-C534-4F79-F7D5BEE472C5}"/>
              </a:ext>
            </a:extLst>
          </p:cNvPr>
          <p:cNvSpPr txBox="1"/>
          <p:nvPr/>
        </p:nvSpPr>
        <p:spPr>
          <a:xfrm>
            <a:off x="5826019" y="4639732"/>
            <a:ext cx="5918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1688686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9146-F8BB-234B-124C-1950F166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Vlastná komunikácia v jazyku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3E2D2-4DDE-9361-1E87-63F6066B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93053"/>
            <a:ext cx="2743200" cy="365125"/>
          </a:xfrm>
        </p:spPr>
        <p:txBody>
          <a:bodyPr/>
          <a:lstStyle/>
          <a:p>
            <a:fld id="{6CAE0FC8-C62F-4561-A15C-F1B236593633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769F1F-A68D-D5C0-1D8C-DBB103DD9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44" y="1373973"/>
            <a:ext cx="6377522" cy="26780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D6E53A-7D45-1A21-8F3C-37F1B928B69A}"/>
              </a:ext>
            </a:extLst>
          </p:cNvPr>
          <p:cNvSpPr txBox="1"/>
          <p:nvPr/>
        </p:nvSpPr>
        <p:spPr>
          <a:xfrm>
            <a:off x="109701" y="4052054"/>
            <a:ext cx="67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prepojenia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Arduino UNO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F1144F-C4DE-64DE-562B-6D77F9224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668432"/>
              </p:ext>
            </p:extLst>
          </p:nvPr>
        </p:nvGraphicFramePr>
        <p:xfrm>
          <a:off x="8516448" y="1600493"/>
          <a:ext cx="179097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3444544181"/>
                    </a:ext>
                  </a:extLst>
                </a:gridCol>
                <a:gridCol w="1230272">
                  <a:extLst>
                    <a:ext uri="{9D8B030D-6E8A-4147-A177-3AD203B41FA5}">
                      <a16:colId xmlns:a16="http://schemas.microsoft.com/office/drawing/2014/main" val="890059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Funkcia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663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84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04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2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663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E7D6E12-0221-3EDA-5C9C-AA81A1A99F16}"/>
              </a:ext>
            </a:extLst>
          </p:cNvPr>
          <p:cNvSpPr txBox="1"/>
          <p:nvPr/>
        </p:nvSpPr>
        <p:spPr>
          <a:xfrm>
            <a:off x="7169612" y="3825533"/>
            <a:ext cx="5022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D82525-E9ED-94B7-D134-CAF9368C8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87176"/>
              </p:ext>
            </p:extLst>
          </p:nvPr>
        </p:nvGraphicFramePr>
        <p:xfrm>
          <a:off x="109701" y="455692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957192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617848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6103824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37131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 Arduino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01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869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709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54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16010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B192B73-728C-659E-9CA8-35D645F3FEB8}"/>
              </a:ext>
            </a:extLst>
          </p:cNvPr>
          <p:cNvSpPr txBox="1"/>
          <p:nvPr/>
        </p:nvSpPr>
        <p:spPr>
          <a:xfrm>
            <a:off x="765928" y="6360803"/>
            <a:ext cx="711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Arduino UNO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BAC41E-B216-4C50-8FA5-D59DA74B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051" y="4794084"/>
            <a:ext cx="2419749" cy="7295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F7DDAA-EB96-ED99-B9FB-52FAA3F70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936" y="5626072"/>
            <a:ext cx="1538527" cy="66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2A741-7CE0-6D51-F06F-758F28D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 err="1"/>
              <a:t>Komunikácia</a:t>
            </a:r>
            <a:r>
              <a:rPr lang="en-US" sz="2800" dirty="0"/>
              <a:t> s </a:t>
            </a:r>
            <a:r>
              <a:rPr lang="en-US" sz="2800" dirty="0" err="1"/>
              <a:t>programovateľným</a:t>
            </a:r>
            <a:r>
              <a:rPr lang="en-US" sz="2800" dirty="0"/>
              <a:t> </a:t>
            </a:r>
            <a:r>
              <a:rPr lang="en-US" sz="2800" dirty="0" err="1"/>
              <a:t>logickým</a:t>
            </a:r>
            <a:r>
              <a:rPr lang="en-US" sz="2800" dirty="0"/>
              <a:t> </a:t>
            </a:r>
            <a:r>
              <a:rPr lang="en-US" sz="2800" dirty="0" err="1"/>
              <a:t>automatom</a:t>
            </a:r>
            <a:r>
              <a:rPr lang="ru-RU" sz="2800" dirty="0"/>
              <a:t> </a:t>
            </a:r>
            <a:r>
              <a:rPr lang="en-US" sz="28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6B242C-E66A-C379-83DD-582E0805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7981D-1F93-8A95-C9F0-98F9C310C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99735"/>
              </p:ext>
            </p:extLst>
          </p:nvPr>
        </p:nvGraphicFramePr>
        <p:xfrm>
          <a:off x="838200" y="1418431"/>
          <a:ext cx="286321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5">
                  <a:extLst>
                    <a:ext uri="{9D8B030D-6E8A-4147-A177-3AD203B41FA5}">
                      <a16:colId xmlns:a16="http://schemas.microsoft.com/office/drawing/2014/main" val="3195908937"/>
                    </a:ext>
                  </a:extLst>
                </a:gridCol>
                <a:gridCol w="582803">
                  <a:extLst>
                    <a:ext uri="{9D8B030D-6E8A-4147-A177-3AD203B41FA5}">
                      <a16:colId xmlns:a16="http://schemas.microsoft.com/office/drawing/2014/main" val="3904301344"/>
                    </a:ext>
                  </a:extLst>
                </a:gridCol>
                <a:gridCol w="1091056">
                  <a:extLst>
                    <a:ext uri="{9D8B030D-6E8A-4147-A177-3AD203B41FA5}">
                      <a16:colId xmlns:a16="http://schemas.microsoft.com/office/drawing/2014/main" val="5145928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Adresa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65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1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8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5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280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DF87A1E-60A1-D609-5544-12C122FCD8EB}"/>
              </a:ext>
            </a:extLst>
          </p:cNvPr>
          <p:cNvSpPr txBox="1"/>
          <p:nvPr/>
        </p:nvSpPr>
        <p:spPr>
          <a:xfrm>
            <a:off x="671660" y="3343861"/>
            <a:ext cx="3504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Adresovanie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7E4892-F6A3-AD98-941A-B87ACD868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34" y="4267191"/>
            <a:ext cx="1550604" cy="701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D71CA-D64F-29DA-9B32-AC02474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64" y="4922797"/>
            <a:ext cx="2172956" cy="490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A7680-8FA3-9C0C-B4CD-E95ED7F7F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626" y="1418431"/>
            <a:ext cx="3421054" cy="45541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6D2CDB-282D-00BC-08AF-07FD45136B2D}"/>
              </a:ext>
            </a:extLst>
          </p:cNvPr>
          <p:cNvSpPr txBox="1"/>
          <p:nvPr/>
        </p:nvSpPr>
        <p:spPr>
          <a:xfrm>
            <a:off x="6799083" y="6033184"/>
            <a:ext cx="4093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671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9B29-ADE7-2514-59D1-B255A4012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500" dirty="0" err="1"/>
              <a:t>Komunikácia</a:t>
            </a:r>
            <a:r>
              <a:rPr lang="en-US" sz="2500" dirty="0"/>
              <a:t> s </a:t>
            </a:r>
            <a:r>
              <a:rPr lang="en-US" sz="2500" dirty="0" err="1"/>
              <a:t>programovateľným</a:t>
            </a:r>
            <a:r>
              <a:rPr lang="en-US" sz="2500" dirty="0"/>
              <a:t> </a:t>
            </a:r>
            <a:r>
              <a:rPr lang="en-US" sz="2500" dirty="0" err="1"/>
              <a:t>logickým</a:t>
            </a:r>
            <a:r>
              <a:rPr lang="en-US" sz="2500" dirty="0"/>
              <a:t> </a:t>
            </a:r>
            <a:r>
              <a:rPr lang="en-US" sz="2500" dirty="0" err="1"/>
              <a:t>automatom</a:t>
            </a:r>
            <a:r>
              <a:rPr lang="ru-RU" sz="2500" dirty="0"/>
              <a:t> </a:t>
            </a:r>
            <a:r>
              <a:rPr lang="en-US" sz="25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98926-430C-A811-86AD-409985D1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F22C2B-662F-E7D4-9468-910F17F63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774" y="1738124"/>
            <a:ext cx="4471447" cy="26396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92D633-62CC-B2E8-5E96-D608E54A6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9" y="1750845"/>
            <a:ext cx="7460891" cy="2614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B3F7A4-E612-9F67-44CC-6D0CE4BED9DE}"/>
              </a:ext>
            </a:extLst>
          </p:cNvPr>
          <p:cNvSpPr txBox="1"/>
          <p:nvPr/>
        </p:nvSpPr>
        <p:spPr>
          <a:xfrm>
            <a:off x="784570" y="4423907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B1D9D-4EDA-D3E6-E154-3BF5056527BD}"/>
              </a:ext>
            </a:extLst>
          </p:cNvPr>
          <p:cNvSpPr txBox="1"/>
          <p:nvPr/>
        </p:nvSpPr>
        <p:spPr>
          <a:xfrm>
            <a:off x="7562230" y="4423907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</p:spTree>
    <p:extLst>
      <p:ext uri="{BB962C8B-B14F-4D97-AF65-F5344CB8AC3E}">
        <p14:creationId xmlns:p14="http://schemas.microsoft.com/office/powerpoint/2010/main" val="3466933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3834</TotalTime>
  <Words>1633</Words>
  <Application>Microsoft Office PowerPoint</Application>
  <PresentationFormat>Widescreen</PresentationFormat>
  <Paragraphs>285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Times New Roman</vt:lpstr>
      <vt:lpstr>Office Theme</vt:lpstr>
      <vt:lpstr>Návrh implementácie vybraných algoritmov riadenia</vt:lpstr>
      <vt:lpstr>Ciele práce</vt:lpstr>
      <vt:lpstr>Laboratórne zariadenie TS - popis systému</vt:lpstr>
      <vt:lpstr>Statické vlastnosti systému</vt:lpstr>
      <vt:lpstr>PowerPoint Presentation</vt:lpstr>
      <vt:lpstr>Komunikačné rozhranie systému TS05 pre jednotlivé platformy</vt:lpstr>
      <vt:lpstr>PI regulátor pre riadenie v okolí jedného pracovného bodu</vt:lpstr>
      <vt:lpstr>Pseudokód a Implementácia MATLAB/Simulink</vt:lpstr>
      <vt:lpstr>Implementácia: mikrokontrolér a jazyk C++</vt:lpstr>
      <vt:lpstr>Implementácia: programovateľný logický automat (PLC)</vt:lpstr>
      <vt:lpstr>Porovnanie výsledkov z jednotlivých implementácií</vt:lpstr>
      <vt:lpstr>Riadiaci systém s prepínaním pre celý rozsah výstupnej veličiny riadeného systému</vt:lpstr>
      <vt:lpstr>Zákon riadenia</vt:lpstr>
      <vt:lpstr>PowerPoint Presentation</vt:lpstr>
      <vt:lpstr>Porovnanie výsledkov z jednotlivých implementácií</vt:lpstr>
      <vt:lpstr>Adaptívne riadenie s referenčným modelom</vt:lpstr>
      <vt:lpstr>Výsledky MATLAB/Simulink a PLC</vt:lpstr>
      <vt:lpstr>Výsledky Arduino C++</vt:lpstr>
      <vt:lpstr>Zaver…</vt:lpstr>
      <vt:lpstr>Ďakujeme za pozornosť</vt:lpstr>
      <vt:lpstr>1. Pri logovaní dát v PLC do polí sa index postupne inkrementuje, pričom nie je explicitne riešené nulovanie uložených dát. Ako by ste v praxi riešili opakované merania bez potreby zmeny režimu CPU?</vt:lpstr>
      <vt:lpstr>2. Na predmete Riadiace systémy ste sa stretli s inštrukciou PID_Compact, ktorá je dostupná v knižnici TIA Portal. Neuvažovali ste o porovnaní vlastnej implementácie aspoň s jedným existujúcim riešením (napr. PID_Compact)? Má PID_Compact v porovnaní s Vaším riešením nejakú nevýhodu? Stručne vysvetlite.</vt:lpstr>
      <vt:lpstr>Merania na identifikáciu systému v pracovnom bode:  Detrend</vt:lpstr>
      <vt:lpstr>Merania na identifikáciu systému v pracovnom bode:  Prechodová charakteristika</vt:lpstr>
      <vt:lpstr>Pôvodná komunikácia v prostredí MATLAB/Simulink </vt:lpstr>
      <vt:lpstr>Vlastná komunikácia v jazyku C++</vt:lpstr>
      <vt:lpstr>Komunikácia s programovateľným logickým automatom SIMATIC S7-1200 G2</vt:lpstr>
      <vt:lpstr>Komunikácia s programovateľným logickým automatom SIMATIC S7-1200 G2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24</cp:revision>
  <dcterms:created xsi:type="dcterms:W3CDTF">2026-04-11T17:08:44Z</dcterms:created>
  <dcterms:modified xsi:type="dcterms:W3CDTF">2026-06-08T12:33:26Z</dcterms:modified>
</cp:coreProperties>
</file>